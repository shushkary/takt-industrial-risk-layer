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8" r:id="rId5"/>
    <p:sldId id="259" r:id="rId6"/>
    <p:sldId id="26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Структура слайда следует разделу «Решение» шаблона: проблема, ценность, отличия, выгода и рынок. Требования заказчика: единое окно с данными не менее чем из четырёх классов источников и целевой ориентир сокращения ручных действий не менее 30% — ТЗ Positive Technologies «Техлаб 2026», §§5, 12, 14. Цель ≥30% требует парного замера на одинаковых делах. Нижний блок закрывает первый обязательный пункт §10 — текущий процесс и его проблемы; формулировки взяты из раздела «Актуальность задач» ТЗ. Рыночные числа TAM/SAM/SOM перенесены в приложение, слайд «Экономика и ресурсный запрос»: на техническом конкурсе они спорят за внимание с продуктом.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Опыт А. Таймаскина в отделе телемеханики ПАО «Россети Московский регион» добавлен по указанию владельца проекта. Патентная заявка № 2026112859 — подана, патент не выдан: говорим «заявка», не «патент получен». Заключение экспертов Фонда «Сколково» — положительное решение по проекту. Публикация: Таймаскин А. Н. «Цифровая диспетчеризация переподключений в распределительных электрических сетях: методология на основе Clean Architecture»,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слайд встроен 30-секундный демонстрационный ролик с голосом. Он автоматически запускается в режиме показа и может быть запущен щелчком. Кадр и ролик показывают синтетический кейс 438fd960: 59 событий, 14 сущностей и 19 связей. Отдельный нагрузочный тест INC-002 содержит 1030 событий, 27 из них входят в цепочку; эти числа не смешиваются с текущим экраном.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Схема концептуальная и редактируемая, соответствует разделу «Архитектура решения» шаблона. Она показывает поток данных и границу ответственности, а не утверждённую схему промышленного развёртывания. Реальные маппинги, единое хранилище заказчика, роли и внешние вызовы требуют проверки в пилотном контуре.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объединяет рекомендации шаблона «Дорожная карта и запрос»: 6–12-месячный продуктовый трек, запрос заказчику, инвестиционный запрос, команда и конкретный следующий шаг. Срок пилота согласован с коммерческой моделью: 6–8 недель после готовности данных и доступа. Внедрение начинается только после подтверждения эффекта и планируется отдельно. Инвестиционный запрос 15 млн ₽ — модель команды из инвестиционной презентации v6, не согласованное обязательство заказчика.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инвестиционная презентация ТАКТ v6. TAM/SAM/SOM, цены и распределение первого транша — оценки команды, не независимая рыночная оценка и не оферта. Доли первого транша: 42% команда + 16% сертификация + 22% маркетинг и продажи + 12% патенты, реестр, пилоты + 8% инфраструктура = 100%. Сертификация и реестр указаны как планируемые работы, а не полученные статусы.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1F85C-E08C-4D0F-8994-BCC0C4546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B114E7-13E3-47FE-AB5A-5991AE8E4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buNone/>
            </a:pPr>
            <a:r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000E37-5BC0-47B5-B0C0-907718CB90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DF3C04-7DD4-4166-BB90-22EBAA61A4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3593B6-6151-4E57-9CD9-2DDC13ECFF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  <p:pic>
        <p:nvPicPr>
          <p:cNvPr id="13" name="Рисунок 7"/>
          <p:cNvPicPr>
            <a:picLocks noChangeAspect="1"/>
          </p:cNvPicPr>
          <p:nvPr/>
        </p:nvPicPr>
        <p:blipFill>
          <a:blip r:embed="rId2"/>
          <a:srcRect r="5250" b="3561"/>
          <a:stretch/>
        </p:blipFill>
        <p:spPr>
          <a:xfrm>
            <a:off x="-267502" y="-275303"/>
            <a:ext cx="12459502" cy="71333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10B42-F287-4CEC-A15D-B9E54AD1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B45E9A-CB79-43B9-ABE5-94B695976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02BC14-4055-4E9A-A674-ECAC8172DA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03E214-8C37-4D31-A568-DE6AB52C0D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4D8F8A-FAB4-44EA-8A91-729D29407F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19263-3FF5-4104-A7DC-5CB900AC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53D6E0-348D-492D-8F52-53AF0A699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8D8106-DDC8-4617-B2DF-E787F60136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C729A3-12FD-4086-906C-563F5BB608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130804-1930-49DC-8EF0-96F0E304F6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C8C05-4538-4ED2-A51D-124E1C60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A59C29-7FF1-4A8C-94D0-EC52E6EE9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AE4CE4-6728-4F16-BE1D-4333E757A7D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6C489A-3A68-43DA-8EA4-BCBB53338F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6E047E-9AAC-4080-80DF-446E19D461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3978A5-A635-408A-B3D0-3208CDFA2C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A681F4-B070-4E95-8477-3D972A13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FF4BD5-CAC4-4676-8B28-7110D1EE1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32AEBF-7307-4F2C-BA4A-88509363315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4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D4AB70-59DE-4352-B0B0-6868290ABAE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588E72-95C3-41E2-A694-C4F6CCEBF71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4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6AD2EF-6CA9-4594-ACC2-30461EF745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3132E6-11B9-4E0F-97E1-C0773C5242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98CBE7-D3BA-4CDD-BCFF-7DE06D4B70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CFE18-A62C-4C2E-9A48-DBEA44EF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CF7345-F522-4D88-BE92-2F613778CF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C28468-57A0-44D8-A860-E532F37978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53DE3A-62DE-4822-8317-E46FD9FA1D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B48D7C-6493-40CC-93FC-A9CE388375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C43265-D6E9-485D-B6FA-E9EDDC60B2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6B5674-159D-4FFB-AC03-9B6DA24240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  <p:pic>
        <p:nvPicPr>
          <p:cNvPr id="9" name="Рисунок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92E27-DF95-4A6A-8A1C-5DFED1C8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A3B8C-1B0E-4C2E-B732-613D2EF87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09DEB6-ED7A-467C-B140-52CC3744463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E04E06-7623-477D-9923-4835895AAA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84ABE9-1351-479E-94E0-398EA7D6DB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D63448-8D0A-4FBD-8913-55FE4EFB5C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85111-BD15-473B-99F5-1A187323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557AB0-DDD2-4CA3-842E-C1C9EF2CD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</a:pPr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99B31D-AC8A-4A06-B5A8-9919C8ECAF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61ACC0-624E-4A85-9D21-641FF34299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30A1B9-0622-4D98-9240-F449011B44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2566D1-1046-40BD-836D-4904777F95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DC214-96BF-4088-B99D-CEAE9B54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78F2E2-C74A-44B8-9BD7-C989CD4D1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54CC18-3C50-4E8A-9E7E-7FC4A55D1E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5D44D4-D38D-4273-8C8E-4359EC40DA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635C29-B84D-44F8-9EAA-B347EAFA9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B456D6-F88C-48AE-AC62-96BE360F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768E2A-BE0B-4C85-8383-3224D286B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413EF0-7CA5-487F-A654-5EA35A298E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9269D6-7FA4-4F75-8B00-8927F52785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A589A5-C7A6-4C39-AF96-EDAD1BC093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E7ACF-F312-4E32-8DB2-95A8987A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CFB645-6F27-4BEB-B0DD-FF73DF74A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0888E0-1D88-4973-8CF3-A9F4CDD82BD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</a:pPr>
            <a:fld id="{251EE91A-65D6-4CED-8A7E-F8B1CB48A802}" type="datetimeFigureOut">
              <a:t>14.09.2026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4AB181-4DD0-4651-9D25-EE9FC9707A7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D678F9-EEBA-47ED-BA92-6BD82707F84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6B8B01D-0F42-46A0-AB30-4C98E6AF8993}"/>
              </a:ext>
            </a:extLst>
          </p:cNvPr>
          <p:cNvSpPr>
            <a:spLocks noGrp="1"/>
          </p:cNvSpPr>
          <p:nvPr/>
        </p:nvSpPr>
        <p:spPr>
          <a:xfrm>
            <a:off x="454276" y="880662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46" name="Рисунок 16"/>
          <p:cNvPicPr>
            <a:picLocks noChangeAspect="1"/>
          </p:cNvPicPr>
          <p:nvPr/>
        </p:nvPicPr>
        <p:blipFill>
          <a:blip r:embed="rId3"/>
          <a:srcRect r="65603" b="730"/>
          <a:stretch/>
        </p:blipFill>
        <p:spPr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20" name="text_ТАКТ: расследование с организационным конт">
            <a:extLst>
              <a:ext uri="{FF2B5EF4-FFF2-40B4-BE49-F238E27FC236}">
                <a16:creationId xmlns:a16="http://schemas.microsoft.com/office/drawing/2014/main" id="{79C1F25A-89DE-4F0C-9AF8-3B538FDD706A}"/>
              </a:ext>
            </a:extLst>
          </p:cNvPr>
          <p:cNvSpPr>
            <a:spLocks noGrp="1"/>
          </p:cNvSpPr>
          <p:nvPr/>
        </p:nvSpPr>
        <p:spPr>
          <a:xfrm>
            <a:off x="428625" y="257175"/>
            <a:ext cx="110013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ТАКТ: расследование с организационным контекстом</a:t>
            </a:r>
          </a:p>
        </p:txBody>
      </p:sp>
      <p:sp>
        <p:nvSpPr>
          <p:cNvPr id="21" name="text_01">
            <a:extLst>
              <a:ext uri="{FF2B5EF4-FFF2-40B4-BE49-F238E27FC236}">
                <a16:creationId xmlns:a16="http://schemas.microsoft.com/office/drawing/2014/main" id="{1116F468-16D6-416F-B315-F3D450846EFD}"/>
              </a:ext>
            </a:extLst>
          </p:cNvPr>
          <p:cNvSpPr>
            <a:spLocks noGrp="1"/>
          </p:cNvSpPr>
          <p:nvPr/>
        </p:nvSpPr>
        <p:spPr>
          <a:xfrm>
            <a:off x="11210925" y="639127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buNone/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01</a:t>
            </a:r>
          </a:p>
        </p:txBody>
      </p:sp>
      <p:sp>
        <p:nvSpPr>
          <p:cNvPr id="22" name="text_ТАКТ  /  ТЕХЛАБ МОСКВА  /  POSITIVE TECHNO">
            <a:extLst>
              <a:ext uri="{FF2B5EF4-FFF2-40B4-BE49-F238E27FC236}">
                <a16:creationId xmlns:a16="http://schemas.microsoft.com/office/drawing/2014/main" id="{A4C8B36F-4AA8-4FDF-8765-3147CD266768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ТЕХЛАБ МОСКВА  /  POSITIVE TECHNOLOGIES</a:t>
            </a:r>
          </a:p>
        </p:txBody>
      </p:sp>
      <p:sp>
        <p:nvSpPr>
          <p:cNvPr id="23" name="text_Аналитик вручную связывает сигналы, истори">
            <a:extLst>
              <a:ext uri="{FF2B5EF4-FFF2-40B4-BE49-F238E27FC236}">
                <a16:creationId xmlns:a16="http://schemas.microsoft.com/office/drawing/2014/main" id="{EBC4E106-B3BA-45EA-BB0E-D62DC873143F}"/>
              </a:ext>
            </a:extLst>
          </p:cNvPr>
          <p:cNvSpPr>
            <a:spLocks noGrp="1"/>
          </p:cNvSpPr>
          <p:nvPr/>
        </p:nvSpPr>
        <p:spPr>
          <a:xfrm>
            <a:off x="466725" y="933450"/>
            <a:ext cx="110966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Аналитик вручную связывает сигналы, историю сущностей и разрешённые работы. ТАКТ собирает этот контекст в одном деле и показывает, почему сделан вывод.</a:t>
            </a:r>
          </a:p>
        </p:txBody>
      </p:sp>
      <p:sp>
        <p:nvSpPr>
          <p:cNvPr id="24" name="text_Решение">
            <a:extLst>
              <a:ext uri="{FF2B5EF4-FFF2-40B4-BE49-F238E27FC236}">
                <a16:creationId xmlns:a16="http://schemas.microsoft.com/office/drawing/2014/main" id="{A585A2B9-F5C8-4E95-A606-3C328B2B39D2}"/>
              </a:ext>
            </a:extLst>
          </p:cNvPr>
          <p:cNvSpPr>
            <a:spLocks noGrp="1"/>
          </p:cNvSpPr>
          <p:nvPr/>
        </p:nvSpPr>
        <p:spPr>
          <a:xfrm>
            <a:off x="466725" y="18383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Решение</a:t>
            </a:r>
          </a:p>
        </p:txBody>
      </p:sp>
      <p:sp>
        <p:nvSpPr>
          <p:cNvPr id="25" name="text_События четырёх классов источников → сущно">
            <a:extLst>
              <a:ext uri="{FF2B5EF4-FFF2-40B4-BE49-F238E27FC236}">
                <a16:creationId xmlns:a16="http://schemas.microsoft.com/office/drawing/2014/main" id="{12D9CD8D-EDF8-43EA-AD3F-5CA8B291B20E}"/>
              </a:ext>
            </a:extLst>
          </p:cNvPr>
          <p:cNvSpPr>
            <a:spLocks noGrp="1"/>
          </p:cNvSpPr>
          <p:nvPr/>
        </p:nvSpPr>
        <p:spPr>
          <a:xfrm>
            <a:off x="466725" y="2238375"/>
            <a:ext cx="6667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2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События четырёх классов источников → сущности и история → проверяемый вердикт → пакет реагирования.</a:t>
            </a:r>
          </a:p>
        </p:txBody>
      </p:sp>
      <p:sp>
        <p:nvSpPr>
          <p:cNvPr id="26" name="text_Дополняет SIEM организационным контекстом ">
            <a:extLst>
              <a:ext uri="{FF2B5EF4-FFF2-40B4-BE49-F238E27FC236}">
                <a16:creationId xmlns:a16="http://schemas.microsoft.com/office/drawing/2014/main" id="{AD38C6C2-AF41-4E2E-940A-C0CAA2B72AD7}"/>
              </a:ext>
            </a:extLst>
          </p:cNvPr>
          <p:cNvSpPr>
            <a:spLocks noGrp="1"/>
          </p:cNvSpPr>
          <p:nvPr/>
        </p:nvSpPr>
        <p:spPr>
          <a:xfrm>
            <a:off x="466725" y="3371850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Дополняет SIEM организационным контекстом и сохраняет роль аналитика в окончательном решении.</a:t>
            </a:r>
          </a:p>
        </p:txBody>
      </p:sp>
      <p:sp>
        <p:nvSpPr>
          <p:cNvPr id="27" name="Цель пилота">
            <a:extLst>
              <a:ext uri="{FF2B5EF4-FFF2-40B4-BE49-F238E27FC236}">
                <a16:creationId xmlns:a16="http://schemas.microsoft.com/office/drawing/2014/main" id="{BC7B7EF5-FD1C-4068-8080-7B34734A5B00}"/>
              </a:ext>
            </a:extLst>
          </p:cNvPr>
          <p:cNvSpPr>
            <a:spLocks noGrp="1"/>
          </p:cNvSpPr>
          <p:nvPr/>
        </p:nvSpPr>
        <p:spPr>
          <a:xfrm>
            <a:off x="7848600" y="1800225"/>
            <a:ext cx="3381375" cy="1885950"/>
          </a:xfrm>
          <a:prstGeom prst="rect">
            <a:avLst/>
          </a:prstGeom>
          <a:solidFill>
            <a:srgbClr val="15394D"/>
          </a:solidFill>
          <a:ln w="14288">
            <a:solidFill>
              <a:srgbClr val="EE945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text_≥30%">
            <a:extLst>
              <a:ext uri="{FF2B5EF4-FFF2-40B4-BE49-F238E27FC236}">
                <a16:creationId xmlns:a16="http://schemas.microsoft.com/office/drawing/2014/main" id="{2EA529F7-0F4B-424C-831C-D92A046FBBB8}"/>
              </a:ext>
            </a:extLst>
          </p:cNvPr>
          <p:cNvSpPr>
            <a:spLocks noGrp="1"/>
          </p:cNvSpPr>
          <p:nvPr/>
        </p:nvSpPr>
        <p:spPr>
          <a:xfrm>
            <a:off x="8143875" y="2009775"/>
            <a:ext cx="2762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49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49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≥30%</a:t>
            </a:r>
          </a:p>
        </p:txBody>
      </p:sp>
      <p:sp>
        <p:nvSpPr>
          <p:cNvPr id="29" name="text_цель сокращения ручных трудозатрат">
            <a:extLst>
              <a:ext uri="{FF2B5EF4-FFF2-40B4-BE49-F238E27FC236}">
                <a16:creationId xmlns:a16="http://schemas.microsoft.com/office/drawing/2014/main" id="{38606C2B-7569-4D4D-B34C-E9473947C537}"/>
              </a:ext>
            </a:extLst>
          </p:cNvPr>
          <p:cNvSpPr>
            <a:spLocks noGrp="1"/>
          </p:cNvSpPr>
          <p:nvPr/>
        </p:nvSpPr>
        <p:spPr>
          <a:xfrm>
            <a:off x="8096250" y="2724912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цель сокращения ручных трудозатрат</a:t>
            </a:r>
          </a:p>
        </p:txBody>
      </p:sp>
      <p:sp>
        <p:nvSpPr>
          <p:cNvPr id="30" name="text_Проверяется на пилоте; это ещё не достигну">
            <a:extLst>
              <a:ext uri="{FF2B5EF4-FFF2-40B4-BE49-F238E27FC236}">
                <a16:creationId xmlns:a16="http://schemas.microsoft.com/office/drawing/2014/main" id="{C3BF34BE-4F8A-452E-A1A1-0D0A566A6704}"/>
              </a:ext>
            </a:extLst>
          </p:cNvPr>
          <p:cNvSpPr>
            <a:spLocks noGrp="1"/>
          </p:cNvSpPr>
          <p:nvPr/>
        </p:nvSpPr>
        <p:spPr>
          <a:xfrm>
            <a:off x="8096250" y="3200400"/>
            <a:ext cx="2857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0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Проверяется на пилоте; это ещё не достигнутый результат.</a:t>
            </a:r>
          </a:p>
        </p:txBody>
      </p:sp>
      <p:sp>
        <p:nvSpPr>
          <p:cNvPr id="31" name="text_01">
            <a:extLst>
              <a:ext uri="{FF2B5EF4-FFF2-40B4-BE49-F238E27FC236}">
                <a16:creationId xmlns:a16="http://schemas.microsoft.com/office/drawing/2014/main" id="{13342A01-1885-4281-B390-4B902E9F6DF2}"/>
              </a:ext>
            </a:extLst>
          </p:cNvPr>
          <p:cNvSpPr>
            <a:spLocks noGrp="1"/>
          </p:cNvSpPr>
          <p:nvPr/>
        </p:nvSpPr>
        <p:spPr>
          <a:xfrm>
            <a:off x="466725" y="4010025"/>
            <a:ext cx="5524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01</a:t>
            </a:r>
          </a:p>
        </p:txBody>
      </p:sp>
      <p:sp>
        <p:nvSpPr>
          <p:cNvPr id="32" name="text_Одно дело">
            <a:extLst>
              <a:ext uri="{FF2B5EF4-FFF2-40B4-BE49-F238E27FC236}">
                <a16:creationId xmlns:a16="http://schemas.microsoft.com/office/drawing/2014/main" id="{A9CAC4F8-1021-48A3-82AD-4982895D8B2D}"/>
              </a:ext>
            </a:extLst>
          </p:cNvPr>
          <p:cNvSpPr>
            <a:spLocks noGrp="1"/>
          </p:cNvSpPr>
          <p:nvPr/>
        </p:nvSpPr>
        <p:spPr>
          <a:xfrm>
            <a:off x="1076325" y="40100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Одно дело</a:t>
            </a:r>
          </a:p>
        </p:txBody>
      </p:sp>
      <p:sp>
        <p:nvSpPr>
          <p:cNvPr id="33" name="text_Меньше переключений между окнами и ручного">
            <a:extLst>
              <a:ext uri="{FF2B5EF4-FFF2-40B4-BE49-F238E27FC236}">
                <a16:creationId xmlns:a16="http://schemas.microsoft.com/office/drawing/2014/main" id="{D98D2119-9322-491F-90E9-F578FDB1A38D}"/>
              </a:ext>
            </a:extLst>
          </p:cNvPr>
          <p:cNvSpPr>
            <a:spLocks noGrp="1"/>
          </p:cNvSpPr>
          <p:nvPr/>
        </p:nvSpPr>
        <p:spPr>
          <a:xfrm>
            <a:off x="466725" y="4457700"/>
            <a:ext cx="3333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Меньше переключений между окнами и ручного сопоставления.</a:t>
            </a:r>
          </a:p>
        </p:txBody>
      </p:sp>
      <p:sp>
        <p:nvSpPr>
          <p:cNvPr id="34" name="text_02">
            <a:extLst>
              <a:ext uri="{FF2B5EF4-FFF2-40B4-BE49-F238E27FC236}">
                <a16:creationId xmlns:a16="http://schemas.microsoft.com/office/drawing/2014/main" id="{DD0F566F-03EF-40ED-B173-61C67E0533AA}"/>
              </a:ext>
            </a:extLst>
          </p:cNvPr>
          <p:cNvSpPr>
            <a:spLocks noGrp="1"/>
          </p:cNvSpPr>
          <p:nvPr/>
        </p:nvSpPr>
        <p:spPr>
          <a:xfrm>
            <a:off x="4200525" y="4010025"/>
            <a:ext cx="5524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02</a:t>
            </a:r>
          </a:p>
        </p:txBody>
      </p:sp>
      <p:sp>
        <p:nvSpPr>
          <p:cNvPr id="35" name="text_Объяснимый вывод">
            <a:extLst>
              <a:ext uri="{FF2B5EF4-FFF2-40B4-BE49-F238E27FC236}">
                <a16:creationId xmlns:a16="http://schemas.microsoft.com/office/drawing/2014/main" id="{7BED8CE7-20B9-4EA1-856E-A1704D06219D}"/>
              </a:ext>
            </a:extLst>
          </p:cNvPr>
          <p:cNvSpPr>
            <a:spLocks noGrp="1"/>
          </p:cNvSpPr>
          <p:nvPr/>
        </p:nvSpPr>
        <p:spPr>
          <a:xfrm>
            <a:off x="4810125" y="40100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Объяснимый вывод</a:t>
            </a:r>
          </a:p>
        </p:txBody>
      </p:sp>
      <p:sp>
        <p:nvSpPr>
          <p:cNvPr id="36" name="text_Причины оценки, пробелы данных и неопредел">
            <a:extLst>
              <a:ext uri="{FF2B5EF4-FFF2-40B4-BE49-F238E27FC236}">
                <a16:creationId xmlns:a16="http://schemas.microsoft.com/office/drawing/2014/main" id="{37B97CDF-5569-4E60-BFC4-07BCB30288A1}"/>
              </a:ext>
            </a:extLst>
          </p:cNvPr>
          <p:cNvSpPr>
            <a:spLocks noGrp="1"/>
          </p:cNvSpPr>
          <p:nvPr/>
        </p:nvSpPr>
        <p:spPr>
          <a:xfrm>
            <a:off x="4200525" y="4457700"/>
            <a:ext cx="3333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Причины оценки, пробелы данных и неопределённость видны в АРМ.</a:t>
            </a:r>
          </a:p>
        </p:txBody>
      </p:sp>
      <p:sp>
        <p:nvSpPr>
          <p:cNvPr id="37" name="text_03">
            <a:extLst>
              <a:ext uri="{FF2B5EF4-FFF2-40B4-BE49-F238E27FC236}">
                <a16:creationId xmlns:a16="http://schemas.microsoft.com/office/drawing/2014/main" id="{CA3911CF-1DDF-4D24-A09C-068E4D79732F}"/>
              </a:ext>
            </a:extLst>
          </p:cNvPr>
          <p:cNvSpPr>
            <a:spLocks noGrp="1"/>
          </p:cNvSpPr>
          <p:nvPr/>
        </p:nvSpPr>
        <p:spPr>
          <a:xfrm>
            <a:off x="7934325" y="4010025"/>
            <a:ext cx="5524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03</a:t>
            </a:r>
          </a:p>
        </p:txBody>
      </p:sp>
      <p:sp>
        <p:nvSpPr>
          <p:cNvPr id="38" name="text_Контроль аналитика">
            <a:extLst>
              <a:ext uri="{FF2B5EF4-FFF2-40B4-BE49-F238E27FC236}">
                <a16:creationId xmlns:a16="http://schemas.microsoft.com/office/drawing/2014/main" id="{8BEB6E3C-1165-4054-A8E3-224DECCFF6AD}"/>
              </a:ext>
            </a:extLst>
          </p:cNvPr>
          <p:cNvSpPr>
            <a:spLocks noGrp="1"/>
          </p:cNvSpPr>
          <p:nvPr/>
        </p:nvSpPr>
        <p:spPr>
          <a:xfrm>
            <a:off x="8543925" y="40100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Контроль аналитика</a:t>
            </a:r>
          </a:p>
        </p:txBody>
      </p:sp>
      <p:sp>
        <p:nvSpPr>
          <p:cNvPr id="39" name="text_ТАКТ готовит пакет. Подтверждение и внешни">
            <a:extLst>
              <a:ext uri="{FF2B5EF4-FFF2-40B4-BE49-F238E27FC236}">
                <a16:creationId xmlns:a16="http://schemas.microsoft.com/office/drawing/2014/main" id="{A448E3A9-E1D1-4DB5-9FB3-48D88AD2785C}"/>
              </a:ext>
            </a:extLst>
          </p:cNvPr>
          <p:cNvSpPr>
            <a:spLocks noGrp="1"/>
          </p:cNvSpPr>
          <p:nvPr/>
        </p:nvSpPr>
        <p:spPr>
          <a:xfrm>
            <a:off x="7934325" y="4457700"/>
            <a:ext cx="3333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готовит пакет. Подтверждение и внешние действия остаются у человека.</a:t>
            </a:r>
          </a:p>
        </p:txBody>
      </p:sp>
      <p:sp>
        <p:nvSpPr>
          <p:cNvPr id="40" name="text_TAM 4,8 млрд ₽">
            <a:extLst>
              <a:ext uri="{FF2B5EF4-FFF2-40B4-BE49-F238E27FC236}">
                <a16:creationId xmlns:a16="http://schemas.microsoft.com/office/drawing/2014/main" id="{93D5C807-D060-4357-B000-9A6BF1C6F9BF}"/>
              </a:ext>
            </a:extLst>
          </p:cNvPr>
          <p:cNvSpPr>
            <a:spLocks noGrp="1"/>
          </p:cNvSpPr>
          <p:nvPr/>
        </p:nvSpPr>
        <p:spPr>
          <a:xfrm>
            <a:off x="594360" y="5413248"/>
            <a:ext cx="5120640" cy="3238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l">
              <a:buNone/>
              <a:defRPr sz="18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КАК СЕЙЧАС</a:t>
            </a:r>
          </a:p>
        </p:txBody>
      </p:sp>
      <p:sp>
        <p:nvSpPr>
          <p:cNvPr id="41" name="text_SAM 1,46 млрд ₽">
            <a:extLst>
              <a:ext uri="{FF2B5EF4-FFF2-40B4-BE49-F238E27FC236}">
                <a16:creationId xmlns:a16="http://schemas.microsoft.com/office/drawing/2014/main" id="{35F3F447-9390-43CC-AA14-E3E3258BF696}"/>
              </a:ext>
            </a:extLst>
          </p:cNvPr>
          <p:cNvSpPr>
            <a:spLocks noGrp="1"/>
          </p:cNvSpPr>
          <p:nvPr/>
        </p:nvSpPr>
        <p:spPr>
          <a:xfrm>
            <a:off x="594360" y="5650992"/>
            <a:ext cx="5120640" cy="3238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l">
              <a:buNone/>
              <a:defRPr sz="18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Четыре системы, свои запросы, ручной перенос идентификаторов. Контекст расследования живёт в голове аналитика и в блокноте и исчезает в конце смены.</a:t>
            </a:r>
          </a:p>
        </p:txBody>
      </p:sp>
      <p:sp>
        <p:nvSpPr>
          <p:cNvPr id="42" name="text_SOM 138 млн ₽">
            <a:extLst>
              <a:ext uri="{FF2B5EF4-FFF2-40B4-BE49-F238E27FC236}">
                <a16:creationId xmlns:a16="http://schemas.microsoft.com/office/drawing/2014/main" id="{E2B1E884-BC1B-4678-8A50-0A925B099E52}"/>
              </a:ext>
            </a:extLst>
          </p:cNvPr>
          <p:cNvSpPr>
            <a:spLocks noGrp="1"/>
          </p:cNvSpPr>
          <p:nvPr/>
        </p:nvSpPr>
        <p:spPr>
          <a:xfrm>
            <a:off x="6172200" y="5413248"/>
            <a:ext cx="5120640" cy="3238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l">
              <a:buNone/>
              <a:defRPr sz="18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В ЕДИНОМ ОКНЕ</a:t>
            </a:r>
          </a:p>
        </p:txBody>
      </p:sp>
      <p:sp>
        <p:nvSpPr>
          <p:cNvPr id="43" name="text_Прогнозная модель команды к 2031 году; не ">
            <a:extLst>
              <a:ext uri="{FF2B5EF4-FFF2-40B4-BE49-F238E27FC236}">
                <a16:creationId xmlns:a16="http://schemas.microsoft.com/office/drawing/2014/main" id="{FC02BC77-5909-44C1-9C47-9B7F30F79ECA}"/>
              </a:ext>
            </a:extLst>
          </p:cNvPr>
          <p:cNvSpPr>
            <a:spLocks noGrp="1"/>
          </p:cNvSpPr>
          <p:nvPr/>
        </p:nvSpPr>
        <p:spPr>
          <a:xfrm>
            <a:off x="6172200" y="5650992"/>
            <a:ext cx="5120640" cy="23812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l">
              <a:buNone/>
              <a:defRPr sz="1125" b="0">
                <a:solidFill>
                  <a:srgbClr val="9FB3B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Одно дело: события четырёх классов связаны продуктом, история сущностей и находки — в карточке. Переключений между системами нет, контекст остаётся в деле.</a:t>
            </a:r>
          </a:p>
        </p:txBody>
      </p:sp>
    </p:spTree>
    <p:extLst>
      <p:ext uri="{BB962C8B-B14F-4D97-AF65-F5344CB8AC3E}">
        <p14:creationId xmlns:p14="http://schemas.microsoft.com/office/powerpoint/2010/main" val="140932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72E303-207A-49D4-8502-19547921F94E}"/>
              </a:ext>
            </a:extLst>
          </p:cNvPr>
          <p:cNvSpPr>
            <a:spLocks noGrp="1"/>
          </p:cNvSpPr>
          <p:nvPr/>
        </p:nvSpPr>
        <p:spPr>
          <a:xfrm>
            <a:off x="428853" y="256946"/>
            <a:ext cx="11001146" cy="5431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sz="2775" b="1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Команда и научная база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6458A-6DF1-42EF-B72C-387DEA283037}"/>
              </a:ext>
            </a:extLst>
          </p:cNvPr>
          <p:cNvSpPr>
            <a:spLocks noGrp="1"/>
          </p:cNvSpPr>
          <p:nvPr/>
        </p:nvSpPr>
        <p:spPr>
          <a:xfrm>
            <a:off x="457200" y="877824"/>
            <a:ext cx="11201400" cy="20320"/>
          </a:xfrm>
          <a:prstGeom prst="rect">
            <a:avLst/>
          </a:prstGeom>
          <a:solidFill>
            <a:srgbClr val="EE9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393192"/>
            <a:ext cx="676656" cy="394580"/>
          </a:xfrm>
          <a:prstGeom prst="rect">
            <a:avLst/>
          </a:prstGeom>
        </p:spPr>
      </p:pic>
      <p:sp>
        <p:nvSpPr>
          <p:cNvPr id="5" name="text_ТАКТ  /  ТЕХЛАБ МОСКВА  /  POSITIVE TECH">
            <a:extLst>
              <a:ext uri="{FF2B5EF4-FFF2-40B4-BE49-F238E27FC236}">
                <a16:creationId xmlns:a16="http://schemas.microsoft.com/office/drawing/2014/main" id="{0A02179C-8526-411C-BFBA-4DD0539D1E53}"/>
              </a:ext>
            </a:extLst>
          </p:cNvPr>
          <p:cNvSpPr>
            <a:spLocks noGrp="1"/>
          </p:cNvSpPr>
          <p:nvPr/>
        </p:nvSpPr>
        <p:spPr>
          <a:xfrm>
            <a:off x="457200" y="6391656"/>
            <a:ext cx="7239304" cy="20939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975" b="0" i="0" spc="60">
                <a:solidFill>
                  <a:srgbClr val="CEDBE1"/>
                </a:solidFill>
                <a:latin typeface="TT Firs Neue DemiBold"/>
                <a:ea typeface="Arial"/>
                <a:cs typeface="Arial"/>
              </a:rPr>
              <a:t>ТАКТ  /  ТЕХЛАБ МОСКВА  /  POSITIVE TECHNOLOGIES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A5C22-457F-4D66-9224-BD55F51567C0}"/>
              </a:ext>
            </a:extLst>
          </p:cNvPr>
          <p:cNvSpPr>
            <a:spLocks noGrp="1"/>
          </p:cNvSpPr>
          <p:nvPr/>
        </p:nvSpPr>
        <p:spPr>
          <a:xfrm>
            <a:off x="466344" y="952804"/>
            <a:ext cx="11048695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725" b="0" i="0">
                <a:solidFill>
                  <a:srgbClr val="CEDBE1"/>
                </a:solidFill>
                <a:latin typeface="TT Firs Neue DemiBold"/>
                <a:ea typeface="Arial"/>
                <a:cs typeface="Arial"/>
              </a:rPr>
              <a:t>Трое: инженер-практик энергетики, профессор по защите информационных систем и ведущий аналитик. Общая область — защищённые цифровые системы управления критической инфраструктурой.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7021E7-5570-4C55-8F07-64B12BF15F13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3657600" cy="3017520"/>
          </a:xfrm>
          <a:prstGeom prst="roundRect">
            <a:avLst>
              <a:gd name="adj" fmla="val 3500"/>
            </a:avLst>
          </a:prstGeom>
          <a:solidFill>
            <a:srgbClr val="121E24"/>
          </a:solidFill>
          <a:ln w="9525">
            <a:solidFill>
              <a:srgbClr val="25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3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901952"/>
            <a:ext cx="822960" cy="822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2E940A-0799-4C47-9F4F-051357B07EA3}"/>
              </a:ext>
            </a:extLst>
          </p:cNvPr>
          <p:cNvSpPr>
            <a:spLocks noGrp="1"/>
          </p:cNvSpPr>
          <p:nvPr/>
        </p:nvSpPr>
        <p:spPr>
          <a:xfrm>
            <a:off x="1682496" y="190195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Александр Таймаскин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D7FB2-00D0-4D8C-A225-FDE0099F0169}"/>
              </a:ext>
            </a:extLst>
          </p:cNvPr>
          <p:cNvSpPr>
            <a:spLocks noGrp="1"/>
          </p:cNvSpPr>
          <p:nvPr/>
        </p:nvSpPr>
        <p:spPr>
          <a:xfrm>
            <a:off x="1682496" y="2322576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050" b="0" i="0">
                <a:solidFill>
                  <a:srgbClr val="EE9456"/>
                </a:solidFill>
                <a:latin typeface="Arial"/>
                <a:ea typeface="Arial"/>
                <a:cs typeface="Arial"/>
              </a:rPr>
              <a:t>Основатель и руководитель проекта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21D95-C8EE-436B-8619-F47878E38EAF}"/>
              </a:ext>
            </a:extLst>
          </p:cNvPr>
          <p:cNvSpPr>
            <a:spLocks noGrp="1"/>
          </p:cNvSpPr>
          <p:nvPr/>
        </p:nvSpPr>
        <p:spPr>
          <a:xfrm>
            <a:off x="749808" y="3017520"/>
            <a:ext cx="3072384" cy="15727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Специалист отдела телемеханики ПАО «Россети Московский регион». Цифровая диспетчеризация и архитектура программных систем, НИУ «МЭИ». Публикация 2025 года: методология диспетчеризации на основе Clean Architecture. Ведёт разработку ядра и интерфейса.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12A7624-26E5-43C6-A641-CA0B8E09700E}"/>
              </a:ext>
            </a:extLst>
          </p:cNvPr>
          <p:cNvSpPr>
            <a:spLocks noGrp="1"/>
          </p:cNvSpPr>
          <p:nvPr/>
        </p:nvSpPr>
        <p:spPr>
          <a:xfrm>
            <a:off x="4261104" y="1572768"/>
            <a:ext cx="3657600" cy="3017520"/>
          </a:xfrm>
          <a:prstGeom prst="roundRect">
            <a:avLst>
              <a:gd name="adj" fmla="val 3500"/>
            </a:avLst>
          </a:prstGeom>
          <a:solidFill>
            <a:srgbClr val="121E24"/>
          </a:solidFill>
          <a:ln w="9525">
            <a:solidFill>
              <a:srgbClr val="25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pic>
        <p:nvPicPr>
          <p:cNvPr id="4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01952"/>
            <a:ext cx="822960" cy="822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DD67A8-9E21-421B-99B4-51CABFB7D8DE}"/>
              </a:ext>
            </a:extLst>
          </p:cNvPr>
          <p:cNvSpPr>
            <a:spLocks noGrp="1"/>
          </p:cNvSpPr>
          <p:nvPr/>
        </p:nvSpPr>
        <p:spPr>
          <a:xfrm>
            <a:off x="5486400" y="190195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Павел Хорев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EB4B3-A84B-4015-A02C-12D8AAE29BE6}"/>
              </a:ext>
            </a:extLst>
          </p:cNvPr>
          <p:cNvSpPr>
            <a:spLocks noGrp="1"/>
          </p:cNvSpPr>
          <p:nvPr/>
        </p:nvSpPr>
        <p:spPr>
          <a:xfrm>
            <a:off x="5486400" y="2322576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050" b="0" i="0">
                <a:solidFill>
                  <a:srgbClr val="EE9456"/>
                </a:solidFill>
                <a:latin typeface="Arial"/>
                <a:ea typeface="Arial"/>
                <a:cs typeface="Arial"/>
              </a:rPr>
              <a:t>Научный консультант · профессор НИУ «МЭИ»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BC4FB6-60D8-4A93-8C62-CA481023B571}"/>
              </a:ext>
            </a:extLst>
          </p:cNvPr>
          <p:cNvSpPr>
            <a:spLocks noGrp="1"/>
          </p:cNvSpPr>
          <p:nvPr/>
        </p:nvSpPr>
        <p:spPr>
          <a:xfrm>
            <a:off x="4553712" y="3017520"/>
            <a:ext cx="3072384" cy="15727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Защита информационных систем и оценка защищённости. Более 160 научных и учебно-методических публикаций, программно-аппаратная защита. Методология проверяемости аналитических подходов — научное консультирование по отдельному договору.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6E1BF4A-0DF2-4558-8CE4-03CED68837E6}"/>
              </a:ext>
            </a:extLst>
          </p:cNvPr>
          <p:cNvSpPr>
            <a:spLocks noGrp="1"/>
          </p:cNvSpPr>
          <p:nvPr/>
        </p:nvSpPr>
        <p:spPr>
          <a:xfrm>
            <a:off x="457200" y="4828032"/>
            <a:ext cx="11265408" cy="1207008"/>
          </a:xfrm>
          <a:prstGeom prst="roundRect">
            <a:avLst>
              <a:gd name="adj" fmla="val 3500"/>
            </a:avLst>
          </a:prstGeom>
          <a:solidFill>
            <a:srgbClr val="16252C"/>
          </a:solidFill>
          <a:ln w="9525">
            <a:solidFill>
              <a:srgbClr val="25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08130C-5522-4FE7-AEF4-885AB9ADA1E7}"/>
              </a:ext>
            </a:extLst>
          </p:cNvPr>
          <p:cNvSpPr>
            <a:spLocks noGrp="1"/>
          </p:cNvSpPr>
          <p:nvPr/>
        </p:nvSpPr>
        <p:spPr>
          <a:xfrm>
            <a:off x="749808" y="50474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000" b="0" i="0" spc="12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ПОДТВЕРЖДЕНИЯ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49DD04F-5A6D-4652-A1B1-D753061A2FD7}"/>
              </a:ext>
            </a:extLst>
          </p:cNvPr>
          <p:cNvSpPr>
            <a:spLocks noGrp="1"/>
          </p:cNvSpPr>
          <p:nvPr/>
        </p:nvSpPr>
        <p:spPr>
          <a:xfrm>
            <a:off x="749808" y="5431536"/>
            <a:ext cx="68580" cy="68580"/>
          </a:xfrm>
          <a:prstGeom prst="ellipse">
            <a:avLst/>
          </a:prstGeom>
          <a:solidFill>
            <a:srgbClr val="EE9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92199B-3A66-4F7D-A2D3-6541C673119B}"/>
              </a:ext>
            </a:extLst>
          </p:cNvPr>
          <p:cNvSpPr>
            <a:spLocks noGrp="1"/>
          </p:cNvSpPr>
          <p:nvPr/>
        </p:nvSpPr>
        <p:spPr>
          <a:xfrm>
            <a:off x="905256" y="5358384"/>
            <a:ext cx="306323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Патентная заявка № 2026112859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7D5CB-AFCC-40AB-A3FF-49AA3A4951FA}"/>
              </a:ext>
            </a:extLst>
          </p:cNvPr>
          <p:cNvSpPr>
            <a:spLocks noGrp="1"/>
          </p:cNvSpPr>
          <p:nvPr/>
        </p:nvSpPr>
        <p:spPr>
          <a:xfrm>
            <a:off x="905256" y="5614416"/>
            <a:ext cx="30632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Алгоритмическое ядро: формирование кейса, контур</a:t>
            </a:r>
          </a:p>
          <a:p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целостности пакета, метка пригодности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F36667-42DE-462E-B4A5-D7DB38741C4D}"/>
              </a:ext>
            </a:extLst>
          </p:cNvPr>
          <p:cNvSpPr>
            <a:spLocks noGrp="1"/>
          </p:cNvSpPr>
          <p:nvPr/>
        </p:nvSpPr>
        <p:spPr>
          <a:xfrm>
            <a:off x="4315968" y="5431536"/>
            <a:ext cx="68580" cy="68580"/>
          </a:xfrm>
          <a:prstGeom prst="ellipse">
            <a:avLst/>
          </a:prstGeom>
          <a:solidFill>
            <a:srgbClr val="EE9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2EA31-C968-49E2-A2A1-8F1D044E1960}"/>
              </a:ext>
            </a:extLst>
          </p:cNvPr>
          <p:cNvSpPr>
            <a:spLocks noGrp="1"/>
          </p:cNvSpPr>
          <p:nvPr/>
        </p:nvSpPr>
        <p:spPr>
          <a:xfrm>
            <a:off x="4471416" y="5358384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Фонд «Сколково»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48FFA3-138C-4F36-AD11-AD93B9545A1A}"/>
              </a:ext>
            </a:extLst>
          </p:cNvPr>
          <p:cNvSpPr>
            <a:spLocks noGrp="1"/>
          </p:cNvSpPr>
          <p:nvPr/>
        </p:nvSpPr>
        <p:spPr>
          <a:xfrm>
            <a:off x="4471416" y="5614416"/>
            <a:ext cx="32461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Положительное заключение экспертов фонда:</a:t>
            </a:r>
          </a:p>
          <a:p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решение одобрено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B08687E-11C0-46F9-A2FD-3CB6B85A03E8}"/>
              </a:ext>
            </a:extLst>
          </p:cNvPr>
          <p:cNvSpPr>
            <a:spLocks noGrp="1"/>
          </p:cNvSpPr>
          <p:nvPr/>
        </p:nvSpPr>
        <p:spPr>
          <a:xfrm>
            <a:off x="8065008" y="5431536"/>
            <a:ext cx="68580" cy="68580"/>
          </a:xfrm>
          <a:prstGeom prst="ellipse">
            <a:avLst/>
          </a:prstGeom>
          <a:solidFill>
            <a:srgbClr val="EE9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C999B6-1CF6-4FA4-A285-CD26D08958E6}"/>
              </a:ext>
            </a:extLst>
          </p:cNvPr>
          <p:cNvSpPr>
            <a:spLocks noGrp="1"/>
          </p:cNvSpPr>
          <p:nvPr/>
        </p:nvSpPr>
        <p:spPr>
          <a:xfrm>
            <a:off x="8220456" y="53583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НИУ «МЭИ» · Positive Technologies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D83379-0ED6-4CC1-96F2-3D4003309BC3}"/>
              </a:ext>
            </a:extLst>
          </p:cNvPr>
          <p:cNvSpPr>
            <a:spLocks noGrp="1"/>
          </p:cNvSpPr>
          <p:nvPr/>
        </p:nvSpPr>
        <p:spPr>
          <a:xfrm>
            <a:off x="8220456" y="5614416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Научное консультирование; работа на стенде</a:t>
            </a:r>
          </a:p>
          <a:p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по схемам PT SIEM и PT NAD</a:t>
            </a:r>
          </a:p>
        </p:txBody>
      </p:sp>
      <p:sp>
        <p:nvSpPr>
          <p:cNvPr id="32" name="text_02">
            <a:extLst>
              <a:ext uri="{FF2B5EF4-FFF2-40B4-BE49-F238E27FC236}">
                <a16:creationId xmlns:a16="http://schemas.microsoft.com/office/drawing/2014/main" id="{19D1ED47-4756-4899-8D8E-6F42AE92B581}"/>
              </a:ext>
            </a:extLst>
          </p:cNvPr>
          <p:cNvSpPr>
            <a:spLocks noGrp="1"/>
          </p:cNvSpPr>
          <p:nvPr/>
        </p:nvSpPr>
        <p:spPr>
          <a:xfrm>
            <a:off x="11210925" y="639127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02</a:t>
            </a:r>
          </a:p>
        </p:txBody>
      </p:sp>
      <p:sp>
        <p:nvSpPr>
          <p:cNvPr id="101" name="Card3 rect"/>
          <p:cNvSpPr>
            <a:spLocks noGrp="1"/>
          </p:cNvSpPr>
          <p:nvPr/>
        </p:nvSpPr>
        <p:spPr>
          <a:xfrm>
            <a:off x="8065008" y="1572768"/>
            <a:ext cx="3657600" cy="3017520"/>
          </a:xfrm>
          <a:prstGeom prst="roundRect">
            <a:avLst>
              <a:gd name="adj" fmla="val 3500"/>
            </a:avLst>
          </a:prstGeom>
          <a:solidFill>
            <a:srgbClr val="121E24"/>
          </a:solidFill>
          <a:ln w="9525">
            <a:solidFill>
              <a:srgbClr val="25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2" name="Card3 name"/>
          <p:cNvSpPr>
            <a:spLocks noGrp="1"/>
          </p:cNvSpPr>
          <p:nvPr/>
        </p:nvSpPr>
        <p:spPr>
          <a:xfrm>
            <a:off x="9290304" y="190195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Ксения Цапаева</a:t>
            </a:r>
          </a:p>
        </p:txBody>
      </p:sp>
      <p:sp>
        <p:nvSpPr>
          <p:cNvPr id="103" name="Card3 role"/>
          <p:cNvSpPr>
            <a:spLocks noGrp="1"/>
          </p:cNvSpPr>
          <p:nvPr/>
        </p:nvSpPr>
        <p:spPr>
          <a:xfrm>
            <a:off x="9290304" y="2322576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050" b="0" i="0">
                <a:solidFill>
                  <a:srgbClr val="EE9456"/>
                </a:solidFill>
                <a:latin typeface="Arial"/>
                <a:ea typeface="Arial"/>
                <a:cs typeface="Arial"/>
              </a:rPr>
              <a:t>Ведущий аналитик</a:t>
            </a:r>
          </a:p>
        </p:txBody>
      </p:sp>
      <p:sp>
        <p:nvSpPr>
          <p:cNvPr id="104" name="Card3 body"/>
          <p:cNvSpPr>
            <a:spLocks noGrp="1"/>
          </p:cNvSpPr>
          <p:nvPr/>
        </p:nvSpPr>
        <p:spPr>
          <a:xfrm>
            <a:off x="8357616" y="3017520"/>
            <a:ext cx="3072384" cy="15727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Аналитическая методика продукта: каталог инвариантов поведения, правила риска, разметка демонстрационных дел и контроль качества детектирования на регрессионном наборе. Ведёт сценарии приёмки по ТЗ и методику парного замера трудозатрат аналитика на пилоте.</a:t>
            </a:r>
          </a:p>
        </p:txBody>
      </p:sp>
      <p:pic>
        <p:nvPicPr>
          <p:cNvPr id="105" name="Picture Ksenia" descr="ksen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190195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9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6B8B01D-0F42-46A0-AB30-4C98E6AF8993}"/>
              </a:ext>
            </a:extLst>
          </p:cNvPr>
          <p:cNvSpPr>
            <a:spLocks noGrp="1"/>
          </p:cNvSpPr>
          <p:nvPr/>
        </p:nvSpPr>
        <p:spPr>
          <a:xfrm>
            <a:off x="454276" y="880662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42" name="Рисунок 16"/>
          <p:cNvPicPr>
            <a:picLocks noChangeAspect="1"/>
          </p:cNvPicPr>
          <p:nvPr/>
        </p:nvPicPr>
        <p:blipFill>
          <a:blip r:embed="rId5"/>
          <a:srcRect r="65603" b="730"/>
          <a:stretch/>
        </p:blipFill>
        <p:spPr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20" name="text_Демонстрация: одно дело за 30 секунд">
            <a:extLst>
              <a:ext uri="{FF2B5EF4-FFF2-40B4-BE49-F238E27FC236}">
                <a16:creationId xmlns:a16="http://schemas.microsoft.com/office/drawing/2014/main" id="{D38E696F-3797-48FF-9062-7D66F828FC4A}"/>
              </a:ext>
            </a:extLst>
          </p:cNvPr>
          <p:cNvSpPr>
            <a:spLocks noGrp="1"/>
          </p:cNvSpPr>
          <p:nvPr/>
        </p:nvSpPr>
        <p:spPr>
          <a:xfrm>
            <a:off x="428625" y="257175"/>
            <a:ext cx="110013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Демонстрация: одно дело за 30 секунд</a:t>
            </a:r>
          </a:p>
        </p:txBody>
      </p:sp>
      <p:sp>
        <p:nvSpPr>
          <p:cNvPr id="21" name="text_03">
            <a:extLst>
              <a:ext uri="{FF2B5EF4-FFF2-40B4-BE49-F238E27FC236}">
                <a16:creationId xmlns:a16="http://schemas.microsoft.com/office/drawing/2014/main" id="{4ED6EA0B-22FE-422D-A913-F7E75A6A67EA}"/>
              </a:ext>
            </a:extLst>
          </p:cNvPr>
          <p:cNvSpPr>
            <a:spLocks noGrp="1"/>
          </p:cNvSpPr>
          <p:nvPr/>
        </p:nvSpPr>
        <p:spPr>
          <a:xfrm>
            <a:off x="11210925" y="639127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buNone/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03</a:t>
            </a:r>
          </a:p>
        </p:txBody>
      </p:sp>
      <p:sp>
        <p:nvSpPr>
          <p:cNvPr id="22" name="text_ТАКТ  /  ТЕХЛАБ МОСКВА  /  POSITIVE TECHNO">
            <a:extLst>
              <a:ext uri="{FF2B5EF4-FFF2-40B4-BE49-F238E27FC236}">
                <a16:creationId xmlns:a16="http://schemas.microsoft.com/office/drawing/2014/main" id="{F6337DA3-80C7-4DD5-BC8F-9EDD44993180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ТЕХЛАБ МОСКВА  /  POSITIVE TECHNOLOGIES</a:t>
            </a:r>
          </a:p>
        </p:txBody>
      </p:sp>
      <p:sp>
        <p:nvSpPr>
          <p:cNvPr id="23" name="text_ТАКТ связывает события четырёх классов ист">
            <a:extLst>
              <a:ext uri="{FF2B5EF4-FFF2-40B4-BE49-F238E27FC236}">
                <a16:creationId xmlns:a16="http://schemas.microsoft.com/office/drawing/2014/main" id="{D0682D8D-57A2-4A2B-8256-DA94461C676A}"/>
              </a:ext>
            </a:extLst>
          </p:cNvPr>
          <p:cNvSpPr>
            <a:spLocks noGrp="1"/>
          </p:cNvSpPr>
          <p:nvPr/>
        </p:nvSpPr>
        <p:spPr>
          <a:xfrm>
            <a:off x="466725" y="962025"/>
            <a:ext cx="11096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связывает события четырёх классов источников, объясняет связи и формирует результат для проверки аналитиком.</a:t>
            </a:r>
          </a:p>
        </p:txBody>
      </p:sp>
      <p:pic>
        <p:nvPicPr>
          <p:cNvPr id="2" name="Демо ТАКТ — 30 секунд">
            <a:hlinkClick r:id="" action="ppaction://ole?verb=0"/>
            <a:extLst>
              <a:ext uri="{FF2B5EF4-FFF2-40B4-BE49-F238E27FC236}">
                <a16:creationId xmlns:a16="http://schemas.microsoft.com/office/drawing/2014/main" id="{CE3CAB7A-1DBA-5BEC-2F1E-5BC5BC148A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8843" y="1685925"/>
            <a:ext cx="7349067" cy="4133850"/>
          </a:xfrm>
          <a:prstGeom prst="rect">
            <a:avLst/>
          </a:prstGeom>
        </p:spPr>
      </p:pic>
      <p:sp>
        <p:nvSpPr>
          <p:cNvPr id="26" name="text_01">
            <a:extLst>
              <a:ext uri="{FF2B5EF4-FFF2-40B4-BE49-F238E27FC236}">
                <a16:creationId xmlns:a16="http://schemas.microsoft.com/office/drawing/2014/main" id="{B644EEAC-62D7-452A-AA2E-B566937A33B6}"/>
              </a:ext>
            </a:extLst>
          </p:cNvPr>
          <p:cNvSpPr>
            <a:spLocks noGrp="1"/>
          </p:cNvSpPr>
          <p:nvPr/>
        </p:nvSpPr>
        <p:spPr>
          <a:xfrm>
            <a:off x="8134350" y="17049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01</a:t>
            </a:r>
          </a:p>
        </p:txBody>
      </p:sp>
      <p:sp>
        <p:nvSpPr>
          <p:cNvPr id="27" name="text_59 событий">
            <a:extLst>
              <a:ext uri="{FF2B5EF4-FFF2-40B4-BE49-F238E27FC236}">
                <a16:creationId xmlns:a16="http://schemas.microsoft.com/office/drawing/2014/main" id="{474E2DB5-04B0-49BC-A085-91EBD2C3E820}"/>
              </a:ext>
            </a:extLst>
          </p:cNvPr>
          <p:cNvSpPr>
            <a:spLocks noGrp="1"/>
          </p:cNvSpPr>
          <p:nvPr/>
        </p:nvSpPr>
        <p:spPr>
          <a:xfrm>
            <a:off x="8724900" y="17049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59 событий</a:t>
            </a:r>
          </a:p>
        </p:txBody>
      </p:sp>
      <p:sp>
        <p:nvSpPr>
          <p:cNvPr id="28" name="text_EDR, NDR, SIEM и промышленная телеметрия с">
            <a:extLst>
              <a:ext uri="{FF2B5EF4-FFF2-40B4-BE49-F238E27FC236}">
                <a16:creationId xmlns:a16="http://schemas.microsoft.com/office/drawing/2014/main" id="{9D812A2F-A18B-496F-8674-2BC524E8D2BB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EDR, NDR, SIEM и промышленная телеметрия собраны в одном деле.</a:t>
            </a:r>
          </a:p>
        </p:txBody>
      </p:sp>
      <p:sp>
        <p:nvSpPr>
          <p:cNvPr id="29" name="text_02">
            <a:extLst>
              <a:ext uri="{FF2B5EF4-FFF2-40B4-BE49-F238E27FC236}">
                <a16:creationId xmlns:a16="http://schemas.microsoft.com/office/drawing/2014/main" id="{BFB21D8A-5856-489C-9BC8-1ECA03ECFF46}"/>
              </a:ext>
            </a:extLst>
          </p:cNvPr>
          <p:cNvSpPr>
            <a:spLocks noGrp="1"/>
          </p:cNvSpPr>
          <p:nvPr/>
        </p:nvSpPr>
        <p:spPr>
          <a:xfrm>
            <a:off x="8134350" y="2647950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02</a:t>
            </a:r>
          </a:p>
        </p:txBody>
      </p:sp>
      <p:sp>
        <p:nvSpPr>
          <p:cNvPr id="30" name="text_14 сущностей · 19 связей">
            <a:extLst>
              <a:ext uri="{FF2B5EF4-FFF2-40B4-BE49-F238E27FC236}">
                <a16:creationId xmlns:a16="http://schemas.microsoft.com/office/drawing/2014/main" id="{00712444-EA12-4670-8E3B-6EBDF44C63BD}"/>
              </a:ext>
            </a:extLst>
          </p:cNvPr>
          <p:cNvSpPr>
            <a:spLocks noGrp="1"/>
          </p:cNvSpPr>
          <p:nvPr/>
        </p:nvSpPr>
        <p:spPr>
          <a:xfrm>
            <a:off x="8724900" y="264795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14 сущностей · 19 связей</a:t>
            </a:r>
          </a:p>
        </p:txBody>
      </p:sp>
      <p:sp>
        <p:nvSpPr>
          <p:cNvPr id="31" name="text_Аналитик видит общий контекст и порядок по">
            <a:extLst>
              <a:ext uri="{FF2B5EF4-FFF2-40B4-BE49-F238E27FC236}">
                <a16:creationId xmlns:a16="http://schemas.microsoft.com/office/drawing/2014/main" id="{EB97B57C-F499-4204-BB04-ACD42AE8EE2F}"/>
              </a:ext>
            </a:extLst>
          </p:cNvPr>
          <p:cNvSpPr>
            <a:spLocks noGrp="1"/>
          </p:cNvSpPr>
          <p:nvPr/>
        </p:nvSpPr>
        <p:spPr>
          <a:xfrm>
            <a:off x="8134350" y="30194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Аналитик видит общий контекст и порядок появления сущностей.</a:t>
            </a:r>
          </a:p>
        </p:txBody>
      </p:sp>
      <p:sp>
        <p:nvSpPr>
          <p:cNvPr id="32" name="text_03">
            <a:extLst>
              <a:ext uri="{FF2B5EF4-FFF2-40B4-BE49-F238E27FC236}">
                <a16:creationId xmlns:a16="http://schemas.microsoft.com/office/drawing/2014/main" id="{0FA26C1A-51D4-4F40-926D-1A0186E345F2}"/>
              </a:ext>
            </a:extLst>
          </p:cNvPr>
          <p:cNvSpPr>
            <a:spLocks noGrp="1"/>
          </p:cNvSpPr>
          <p:nvPr/>
        </p:nvSpPr>
        <p:spPr>
          <a:xfrm>
            <a:off x="8134350" y="35909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03</a:t>
            </a:r>
          </a:p>
        </p:txBody>
      </p:sp>
      <p:sp>
        <p:nvSpPr>
          <p:cNvPr id="33" name="text_История · граф · находки">
            <a:extLst>
              <a:ext uri="{FF2B5EF4-FFF2-40B4-BE49-F238E27FC236}">
                <a16:creationId xmlns:a16="http://schemas.microsoft.com/office/drawing/2014/main" id="{EA2FD8B6-7444-4163-A1BC-6AA1DE09FCB8}"/>
              </a:ext>
            </a:extLst>
          </p:cNvPr>
          <p:cNvSpPr>
            <a:spLocks noGrp="1"/>
          </p:cNvSpPr>
          <p:nvPr/>
        </p:nvSpPr>
        <p:spPr>
          <a:xfrm>
            <a:off x="8724900" y="359092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История · граф · находки</a:t>
            </a:r>
          </a:p>
        </p:txBody>
      </p:sp>
      <p:sp>
        <p:nvSpPr>
          <p:cNvPr id="34" name="text_Причины оценки и недостающие сведения оста">
            <a:extLst>
              <a:ext uri="{FF2B5EF4-FFF2-40B4-BE49-F238E27FC236}">
                <a16:creationId xmlns:a16="http://schemas.microsoft.com/office/drawing/2014/main" id="{EB02B830-8459-4ADF-A455-F20687086146}"/>
              </a:ext>
            </a:extLst>
          </p:cNvPr>
          <p:cNvSpPr>
            <a:spLocks noGrp="1"/>
          </p:cNvSpPr>
          <p:nvPr/>
        </p:nvSpPr>
        <p:spPr>
          <a:xfrm>
            <a:off x="8134350" y="3962400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Причины оценки и недостающие сведения остаются проверяемыми.</a:t>
            </a:r>
          </a:p>
        </p:txBody>
      </p:sp>
      <p:sp>
        <p:nvSpPr>
          <p:cNvPr id="35" name="text_04">
            <a:extLst>
              <a:ext uri="{FF2B5EF4-FFF2-40B4-BE49-F238E27FC236}">
                <a16:creationId xmlns:a16="http://schemas.microsoft.com/office/drawing/2014/main" id="{47CAFB39-39F2-4965-95FB-55EA3CE5809F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04</a:t>
            </a:r>
          </a:p>
        </p:txBody>
      </p:sp>
      <p:sp>
        <p:nvSpPr>
          <p:cNvPr id="36" name="text_Пакет реагирования">
            <a:extLst>
              <a:ext uri="{FF2B5EF4-FFF2-40B4-BE49-F238E27FC236}">
                <a16:creationId xmlns:a16="http://schemas.microsoft.com/office/drawing/2014/main" id="{BC2255CC-F832-417C-9BDC-ADF09FCA092C}"/>
              </a:ext>
            </a:extLst>
          </p:cNvPr>
          <p:cNvSpPr>
            <a:spLocks noGrp="1"/>
          </p:cNvSpPr>
          <p:nvPr/>
        </p:nvSpPr>
        <p:spPr>
          <a:xfrm>
            <a:off x="8724900" y="453390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Пакет реагирования</a:t>
            </a:r>
          </a:p>
        </p:txBody>
      </p:sp>
      <p:sp>
        <p:nvSpPr>
          <p:cNvPr id="37" name="text_Результат готовится для утверждения; крити">
            <a:extLst>
              <a:ext uri="{FF2B5EF4-FFF2-40B4-BE49-F238E27FC236}">
                <a16:creationId xmlns:a16="http://schemas.microsoft.com/office/drawing/2014/main" id="{F7EFC7FB-93FD-47A2-89B5-9019D09261F7}"/>
              </a:ext>
            </a:extLst>
          </p:cNvPr>
          <p:cNvSpPr>
            <a:spLocks noGrp="1"/>
          </p:cNvSpPr>
          <p:nvPr/>
        </p:nvSpPr>
        <p:spPr>
          <a:xfrm>
            <a:off x="8134350" y="490537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Результат готовится для утверждения; критические команды не отправляются.</a:t>
            </a:r>
          </a:p>
        </p:txBody>
      </p:sp>
      <p:sp>
        <p:nvSpPr>
          <p:cNvPr id="38" name="text_Видео рядом с презентацией: «ТАКТ — демо д">
            <a:extLst>
              <a:ext uri="{FF2B5EF4-FFF2-40B4-BE49-F238E27FC236}">
                <a16:creationId xmlns:a16="http://schemas.microsoft.com/office/drawing/2014/main" id="{79183959-EA05-4E21-B74A-99BF82A874A8}"/>
              </a:ext>
            </a:extLst>
          </p:cNvPr>
          <p:cNvSpPr>
            <a:spLocks noGrp="1"/>
          </p:cNvSpPr>
          <p:nvPr/>
        </p:nvSpPr>
        <p:spPr>
          <a:xfrm>
            <a:off x="466725" y="5943600"/>
            <a:ext cx="11049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125" b="0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Демо встроено в слайд · 30 секунд · запуск щелчком в режиме показа</a:t>
            </a:r>
          </a:p>
        </p:txBody>
      </p:sp>
    </p:spTree>
    <p:extLst>
      <p:ext uri="{BB962C8B-B14F-4D97-AF65-F5344CB8AC3E}">
        <p14:creationId xmlns:p14="http://schemas.microsoft.com/office/powerpoint/2010/main" val="140932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6B8B01D-0F42-46A0-AB30-4C98E6AF8993}"/>
              </a:ext>
            </a:extLst>
          </p:cNvPr>
          <p:cNvSpPr>
            <a:spLocks noGrp="1"/>
          </p:cNvSpPr>
          <p:nvPr/>
        </p:nvSpPr>
        <p:spPr>
          <a:xfrm>
            <a:off x="454276" y="880662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44" name="Рисунок 16"/>
          <p:cNvPicPr>
            <a:picLocks noChangeAspect="1"/>
          </p:cNvPicPr>
          <p:nvPr/>
        </p:nvPicPr>
        <p:blipFill>
          <a:blip r:embed="rId3"/>
          <a:srcRect r="65603" b="730"/>
          <a:stretch/>
        </p:blipFill>
        <p:spPr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20" name="text_Архитектура: прослеживаемый путь решения">
            <a:extLst>
              <a:ext uri="{FF2B5EF4-FFF2-40B4-BE49-F238E27FC236}">
                <a16:creationId xmlns:a16="http://schemas.microsoft.com/office/drawing/2014/main" id="{7C3F40D8-EAFC-4289-A98B-896628AC2909}"/>
              </a:ext>
            </a:extLst>
          </p:cNvPr>
          <p:cNvSpPr>
            <a:spLocks noGrp="1"/>
          </p:cNvSpPr>
          <p:nvPr/>
        </p:nvSpPr>
        <p:spPr>
          <a:xfrm>
            <a:off x="428625" y="257175"/>
            <a:ext cx="110013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Архитектура: прослеживаемый путь решения</a:t>
            </a:r>
          </a:p>
        </p:txBody>
      </p:sp>
      <p:sp>
        <p:nvSpPr>
          <p:cNvPr id="21" name="text_04">
            <a:extLst>
              <a:ext uri="{FF2B5EF4-FFF2-40B4-BE49-F238E27FC236}">
                <a16:creationId xmlns:a16="http://schemas.microsoft.com/office/drawing/2014/main" id="{7FB4D95A-2F30-41A7-92E4-EF15D56755D4}"/>
              </a:ext>
            </a:extLst>
          </p:cNvPr>
          <p:cNvSpPr>
            <a:spLocks noGrp="1"/>
          </p:cNvSpPr>
          <p:nvPr/>
        </p:nvSpPr>
        <p:spPr>
          <a:xfrm>
            <a:off x="11210925" y="639127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buNone/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04</a:t>
            </a:r>
          </a:p>
        </p:txBody>
      </p:sp>
      <p:sp>
        <p:nvSpPr>
          <p:cNvPr id="22" name="text_ТАКТ  /  ТЕХЛАБ МОСКВА  /  POSITIVE TECHNO">
            <a:extLst>
              <a:ext uri="{FF2B5EF4-FFF2-40B4-BE49-F238E27FC236}">
                <a16:creationId xmlns:a16="http://schemas.microsoft.com/office/drawing/2014/main" id="{49402994-080A-4954-9A82-CA53DA8D4FC1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ТЕХЛАБ МОСКВА  /  POSITIVE TECHNOLOGIES</a:t>
            </a:r>
          </a:p>
        </p:txBody>
      </p:sp>
      <p:sp>
        <p:nvSpPr>
          <p:cNvPr id="23" name="text_Простая логика из четырёх блоков: от данны">
            <a:extLst>
              <a:ext uri="{FF2B5EF4-FFF2-40B4-BE49-F238E27FC236}">
                <a16:creationId xmlns:a16="http://schemas.microsoft.com/office/drawing/2014/main" id="{995198A6-D7FD-4043-9041-99F48751099D}"/>
              </a:ext>
            </a:extLst>
          </p:cNvPr>
          <p:cNvSpPr>
            <a:spLocks noGrp="1"/>
          </p:cNvSpPr>
          <p:nvPr/>
        </p:nvSpPr>
        <p:spPr>
          <a:xfrm>
            <a:off x="466725" y="9525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Простая логика из четырёх блоков: от данных заказчика до проверенного человеком результата.</a:t>
            </a:r>
          </a:p>
        </p:txBody>
      </p:sp>
      <p:sp>
        <p:nvSpPr>
          <p:cNvPr id="24" name="Архитектура 1">
            <a:extLst>
              <a:ext uri="{FF2B5EF4-FFF2-40B4-BE49-F238E27FC236}">
                <a16:creationId xmlns:a16="http://schemas.microsoft.com/office/drawing/2014/main" id="{9D4D454B-024F-4D22-830D-AF7EC485AC1B}"/>
              </a:ext>
            </a:extLst>
          </p:cNvPr>
          <p:cNvSpPr>
            <a:spLocks noGrp="1"/>
          </p:cNvSpPr>
          <p:nvPr/>
        </p:nvSpPr>
        <p:spPr>
          <a:xfrm>
            <a:off x="466725" y="1743075"/>
            <a:ext cx="2400300" cy="2714625"/>
          </a:xfrm>
          <a:prstGeom prst="rect">
            <a:avLst/>
          </a:prstGeom>
          <a:solidFill>
            <a:srgbClr val="102F42"/>
          </a:solidFill>
          <a:ln w="9525">
            <a:solidFill>
              <a:srgbClr val="89BE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_1. Источники">
            <a:extLst>
              <a:ext uri="{FF2B5EF4-FFF2-40B4-BE49-F238E27FC236}">
                <a16:creationId xmlns:a16="http://schemas.microsoft.com/office/drawing/2014/main" id="{9BF21501-7B95-4A93-AD00-86F83784486F}"/>
              </a:ext>
            </a:extLst>
          </p:cNvPr>
          <p:cNvSpPr>
            <a:spLocks noGrp="1"/>
          </p:cNvSpPr>
          <p:nvPr/>
        </p:nvSpPr>
        <p:spPr>
          <a:xfrm>
            <a:off x="638175" y="1933575"/>
            <a:ext cx="20574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1. Источники</a:t>
            </a:r>
          </a:p>
        </p:txBody>
      </p:sp>
      <p:sp>
        <p:nvSpPr>
          <p:cNvPr id="26" name="text_EDR · NDR · SIEM · OT&#10;Разрешения и наряды&#10;">
            <a:extLst>
              <a:ext uri="{FF2B5EF4-FFF2-40B4-BE49-F238E27FC236}">
                <a16:creationId xmlns:a16="http://schemas.microsoft.com/office/drawing/2014/main" id="{188C08B2-A4A2-428A-8490-C9CCA40A5EBF}"/>
              </a:ext>
            </a:extLst>
          </p:cNvPr>
          <p:cNvSpPr>
            <a:spLocks noGrp="1"/>
          </p:cNvSpPr>
          <p:nvPr/>
        </p:nvSpPr>
        <p:spPr>
          <a:xfrm>
            <a:off x="638175" y="2466975"/>
            <a:ext cx="2057400" cy="1724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EDR · NDR · SIEM · OT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Разрешения и наряды</a:t>
            </a:r>
          </a:p>
          <a:p>
            <a:endParaRPr sz="1425" b="0">
              <a:solidFill>
                <a:srgbClr val="FFFFFF"/>
              </a:solidFill>
              <a:latin typeface="TT Firs Neue DemiBold"/>
              <a:ea typeface="TT Firs Neue DemiBold"/>
              <a:cs typeface="TT Firs Neue DemiBold"/>
            </a:endParaRP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Контракт данных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согласуется на пилоте</a:t>
            </a:r>
          </a:p>
        </p:txBody>
      </p:sp>
      <p:sp>
        <p:nvSpPr>
          <p:cNvPr id="27" name="text_→">
            <a:extLst>
              <a:ext uri="{FF2B5EF4-FFF2-40B4-BE49-F238E27FC236}">
                <a16:creationId xmlns:a16="http://schemas.microsoft.com/office/drawing/2014/main" id="{FA7FFC9F-D713-49CA-8055-3FD0FEDA112E}"/>
              </a:ext>
            </a:extLst>
          </p:cNvPr>
          <p:cNvSpPr>
            <a:spLocks noGrp="1"/>
          </p:cNvSpPr>
          <p:nvPr/>
        </p:nvSpPr>
        <p:spPr>
          <a:xfrm>
            <a:off x="2914650" y="2857500"/>
            <a:ext cx="381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25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5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→</a:t>
            </a:r>
          </a:p>
        </p:txBody>
      </p:sp>
      <p:sp>
        <p:nvSpPr>
          <p:cNvPr id="28" name="Архитектура 2">
            <a:extLst>
              <a:ext uri="{FF2B5EF4-FFF2-40B4-BE49-F238E27FC236}">
                <a16:creationId xmlns:a16="http://schemas.microsoft.com/office/drawing/2014/main" id="{80BA1BA6-4AEA-481B-95BE-952900713738}"/>
              </a:ext>
            </a:extLst>
          </p:cNvPr>
          <p:cNvSpPr>
            <a:spLocks noGrp="1"/>
          </p:cNvSpPr>
          <p:nvPr/>
        </p:nvSpPr>
        <p:spPr>
          <a:xfrm>
            <a:off x="3343275" y="1743075"/>
            <a:ext cx="2400300" cy="2714625"/>
          </a:xfrm>
          <a:prstGeom prst="rect">
            <a:avLst/>
          </a:prstGeom>
          <a:solidFill>
            <a:srgbClr val="102F42"/>
          </a:solidFill>
          <a:ln w="9525">
            <a:solidFill>
              <a:srgbClr val="89BE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_2. Контекст">
            <a:extLst>
              <a:ext uri="{FF2B5EF4-FFF2-40B4-BE49-F238E27FC236}">
                <a16:creationId xmlns:a16="http://schemas.microsoft.com/office/drawing/2014/main" id="{C4EED4A5-0E57-4110-B4E4-6F4EA81A188E}"/>
              </a:ext>
            </a:extLst>
          </p:cNvPr>
          <p:cNvSpPr>
            <a:spLocks noGrp="1"/>
          </p:cNvSpPr>
          <p:nvPr/>
        </p:nvSpPr>
        <p:spPr>
          <a:xfrm>
            <a:off x="3514725" y="1933575"/>
            <a:ext cx="20574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2. Контекст</a:t>
            </a:r>
          </a:p>
        </p:txBody>
      </p:sp>
      <p:sp>
        <p:nvSpPr>
          <p:cNvPr id="30" name="text_Нормализация&#10;Сущности и связи&#10;История окру">
            <a:extLst>
              <a:ext uri="{FF2B5EF4-FFF2-40B4-BE49-F238E27FC236}">
                <a16:creationId xmlns:a16="http://schemas.microsoft.com/office/drawing/2014/main" id="{99EFDE8D-7FAC-485F-870F-954C53F3CF79}"/>
              </a:ext>
            </a:extLst>
          </p:cNvPr>
          <p:cNvSpPr>
            <a:spLocks noGrp="1"/>
          </p:cNvSpPr>
          <p:nvPr/>
        </p:nvSpPr>
        <p:spPr>
          <a:xfrm>
            <a:off x="3514725" y="2466975"/>
            <a:ext cx="2057400" cy="1724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Нормализация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Сущности и связи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История окружения</a:t>
            </a:r>
          </a:p>
          <a:p>
            <a:endParaRPr sz="1425" b="0">
              <a:solidFill>
                <a:srgbClr val="FFFFFF"/>
              </a:solidFill>
              <a:latin typeface="TT Firs Neue DemiBold"/>
              <a:ea typeface="TT Firs Neue DemiBold"/>
              <a:cs typeface="TT Firs Neue DemiBold"/>
            </a:endParaRP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Один контекст дела</a:t>
            </a:r>
          </a:p>
        </p:txBody>
      </p:sp>
      <p:sp>
        <p:nvSpPr>
          <p:cNvPr id="31" name="text_→">
            <a:extLst>
              <a:ext uri="{FF2B5EF4-FFF2-40B4-BE49-F238E27FC236}">
                <a16:creationId xmlns:a16="http://schemas.microsoft.com/office/drawing/2014/main" id="{BCDB7BA5-7B10-4627-849F-0B5219D03548}"/>
              </a:ext>
            </a:extLst>
          </p:cNvPr>
          <p:cNvSpPr>
            <a:spLocks noGrp="1"/>
          </p:cNvSpPr>
          <p:nvPr/>
        </p:nvSpPr>
        <p:spPr>
          <a:xfrm>
            <a:off x="5791200" y="2857500"/>
            <a:ext cx="381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25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5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→</a:t>
            </a:r>
          </a:p>
        </p:txBody>
      </p:sp>
      <p:sp>
        <p:nvSpPr>
          <p:cNvPr id="32" name="Архитектура 3">
            <a:extLst>
              <a:ext uri="{FF2B5EF4-FFF2-40B4-BE49-F238E27FC236}">
                <a16:creationId xmlns:a16="http://schemas.microsoft.com/office/drawing/2014/main" id="{4AFD2676-7ED2-4FAF-B9FC-B05843FAD5E6}"/>
              </a:ext>
            </a:extLst>
          </p:cNvPr>
          <p:cNvSpPr>
            <a:spLocks noGrp="1"/>
          </p:cNvSpPr>
          <p:nvPr/>
        </p:nvSpPr>
        <p:spPr>
          <a:xfrm>
            <a:off x="6219825" y="1743075"/>
            <a:ext cx="2400300" cy="2714625"/>
          </a:xfrm>
          <a:prstGeom prst="rect">
            <a:avLst/>
          </a:prstGeom>
          <a:solidFill>
            <a:srgbClr val="15394D"/>
          </a:solidFill>
          <a:ln w="14288">
            <a:solidFill>
              <a:srgbClr val="EE945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_3. Оценка">
            <a:extLst>
              <a:ext uri="{FF2B5EF4-FFF2-40B4-BE49-F238E27FC236}">
                <a16:creationId xmlns:a16="http://schemas.microsoft.com/office/drawing/2014/main" id="{A0438FB5-66A9-42B9-AD2D-7897B52C1934}"/>
              </a:ext>
            </a:extLst>
          </p:cNvPr>
          <p:cNvSpPr>
            <a:spLocks noGrp="1"/>
          </p:cNvSpPr>
          <p:nvPr/>
        </p:nvSpPr>
        <p:spPr>
          <a:xfrm>
            <a:off x="6391275" y="1933575"/>
            <a:ext cx="20574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3. Оценка</a:t>
            </a:r>
          </a:p>
        </p:txBody>
      </p:sp>
      <p:sp>
        <p:nvSpPr>
          <p:cNvPr id="34" name="text_Правила и инварианты&#10;Риск и неопределённос">
            <a:extLst>
              <a:ext uri="{FF2B5EF4-FFF2-40B4-BE49-F238E27FC236}">
                <a16:creationId xmlns:a16="http://schemas.microsoft.com/office/drawing/2014/main" id="{07E0B8E7-6E85-4EDB-833B-7DED0735B25D}"/>
              </a:ext>
            </a:extLst>
          </p:cNvPr>
          <p:cNvSpPr>
            <a:spLocks noGrp="1"/>
          </p:cNvSpPr>
          <p:nvPr/>
        </p:nvSpPr>
        <p:spPr>
          <a:xfrm>
            <a:off x="6391275" y="2466975"/>
            <a:ext cx="2057400" cy="1724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Правила и инварианты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Риск и неопределённость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Причины вывода</a:t>
            </a:r>
          </a:p>
          <a:p>
            <a:endParaRPr sz="1425" b="0">
              <a:solidFill>
                <a:srgbClr val="FFFFFF"/>
              </a:solidFill>
              <a:latin typeface="TT Firs Neue DemiBold"/>
              <a:ea typeface="TT Firs Neue DemiBold"/>
              <a:cs typeface="TT Firs Neue DemiBold"/>
            </a:endParaRP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Без обязательного LLM</a:t>
            </a:r>
          </a:p>
        </p:txBody>
      </p:sp>
      <p:sp>
        <p:nvSpPr>
          <p:cNvPr id="35" name="text_→">
            <a:extLst>
              <a:ext uri="{FF2B5EF4-FFF2-40B4-BE49-F238E27FC236}">
                <a16:creationId xmlns:a16="http://schemas.microsoft.com/office/drawing/2014/main" id="{D7489035-FC58-413A-BC23-EFF43622D00A}"/>
              </a:ext>
            </a:extLst>
          </p:cNvPr>
          <p:cNvSpPr>
            <a:spLocks noGrp="1"/>
          </p:cNvSpPr>
          <p:nvPr/>
        </p:nvSpPr>
        <p:spPr>
          <a:xfrm>
            <a:off x="8667750" y="2857500"/>
            <a:ext cx="381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25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5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→</a:t>
            </a:r>
          </a:p>
        </p:txBody>
      </p:sp>
      <p:sp>
        <p:nvSpPr>
          <p:cNvPr id="36" name="Архитектура 4">
            <a:extLst>
              <a:ext uri="{FF2B5EF4-FFF2-40B4-BE49-F238E27FC236}">
                <a16:creationId xmlns:a16="http://schemas.microsoft.com/office/drawing/2014/main" id="{3C949DDA-C220-4E51-B658-7B3DA4C6DFE7}"/>
              </a:ext>
            </a:extLst>
          </p:cNvPr>
          <p:cNvSpPr>
            <a:spLocks noGrp="1"/>
          </p:cNvSpPr>
          <p:nvPr/>
        </p:nvSpPr>
        <p:spPr>
          <a:xfrm>
            <a:off x="9096375" y="1743075"/>
            <a:ext cx="2400300" cy="2714625"/>
          </a:xfrm>
          <a:prstGeom prst="rect">
            <a:avLst/>
          </a:prstGeom>
          <a:solidFill>
            <a:srgbClr val="102F42"/>
          </a:solidFill>
          <a:ln w="9525">
            <a:solidFill>
              <a:srgbClr val="89BE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_4. Результат">
            <a:extLst>
              <a:ext uri="{FF2B5EF4-FFF2-40B4-BE49-F238E27FC236}">
                <a16:creationId xmlns:a16="http://schemas.microsoft.com/office/drawing/2014/main" id="{168BC4F2-02DA-4FF5-AB70-1A0BE3AFA924}"/>
              </a:ext>
            </a:extLst>
          </p:cNvPr>
          <p:cNvSpPr>
            <a:spLocks noGrp="1"/>
          </p:cNvSpPr>
          <p:nvPr/>
        </p:nvSpPr>
        <p:spPr>
          <a:xfrm>
            <a:off x="9267825" y="1933575"/>
            <a:ext cx="20574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4. Результат</a:t>
            </a:r>
          </a:p>
        </p:txBody>
      </p:sp>
      <p:sp>
        <p:nvSpPr>
          <p:cNvPr id="38" name="text_АРМ аналитика&#10;Граф и находки&#10;PDF / JSON&#10;&#10;П">
            <a:extLst>
              <a:ext uri="{FF2B5EF4-FFF2-40B4-BE49-F238E27FC236}">
                <a16:creationId xmlns:a16="http://schemas.microsoft.com/office/drawing/2014/main" id="{E7ED098A-BB6A-445F-8D7F-051782BFE7CA}"/>
              </a:ext>
            </a:extLst>
          </p:cNvPr>
          <p:cNvSpPr>
            <a:spLocks noGrp="1"/>
          </p:cNvSpPr>
          <p:nvPr/>
        </p:nvSpPr>
        <p:spPr>
          <a:xfrm>
            <a:off x="9267825" y="2466975"/>
            <a:ext cx="2057400" cy="1724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АРМ аналитика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Граф и находки</a:t>
            </a: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PDF / JSON</a:t>
            </a:r>
          </a:p>
          <a:p>
            <a:endParaRPr sz="1425" b="0">
              <a:solidFill>
                <a:srgbClr val="FFFFFF"/>
              </a:solidFill>
              <a:latin typeface="TT Firs Neue DemiBold"/>
              <a:ea typeface="TT Firs Neue DemiBold"/>
              <a:cs typeface="TT Firs Neue DemiBold"/>
            </a:endParaRPr>
          </a:p>
          <a:p>
            <a:pPr algn="l">
              <a:buNone/>
              <a:def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Пакет реагирования</a:t>
            </a:r>
          </a:p>
        </p:txBody>
      </p:sp>
      <p:sp>
        <p:nvSpPr>
          <p:cNvPr id="39" name="text_Граница ответственности">
            <a:extLst>
              <a:ext uri="{FF2B5EF4-FFF2-40B4-BE49-F238E27FC236}">
                <a16:creationId xmlns:a16="http://schemas.microsoft.com/office/drawing/2014/main" id="{82BB21D1-FCB0-40FE-B78E-D4185CF2281F}"/>
              </a:ext>
            </a:extLst>
          </p:cNvPr>
          <p:cNvSpPr>
            <a:spLocks noGrp="1"/>
          </p:cNvSpPr>
          <p:nvPr/>
        </p:nvSpPr>
        <p:spPr>
          <a:xfrm>
            <a:off x="466725" y="485775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Граница ответственности</a:t>
            </a:r>
          </a:p>
        </p:txBody>
      </p:sp>
      <p:sp>
        <p:nvSpPr>
          <p:cNvPr id="40" name="text_Аналитик проверяет и утверждает вывод. ТАК">
            <a:extLst>
              <a:ext uri="{FF2B5EF4-FFF2-40B4-BE49-F238E27FC236}">
                <a16:creationId xmlns:a16="http://schemas.microsoft.com/office/drawing/2014/main" id="{0FC2E5CD-BDDE-4A49-8C0E-A9ADDCC4269B}"/>
              </a:ext>
            </a:extLst>
          </p:cNvPr>
          <p:cNvSpPr>
            <a:spLocks noGrp="1"/>
          </p:cNvSpPr>
          <p:nvPr/>
        </p:nvSpPr>
        <p:spPr>
          <a:xfrm>
            <a:off x="466725" y="524827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7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Аналитик проверяет и утверждает вывод. ТАКТ не исполняет критические действия автоматически.</a:t>
            </a:r>
          </a:p>
        </p:txBody>
      </p:sp>
      <p:sp>
        <p:nvSpPr>
          <p:cNvPr id="41" name="text_Версии, автор, время и хеш сохраняют проис">
            <a:extLst>
              <a:ext uri="{FF2B5EF4-FFF2-40B4-BE49-F238E27FC236}">
                <a16:creationId xmlns:a16="http://schemas.microsoft.com/office/drawing/2014/main" id="{58530630-1BBC-4300-B087-12967A95E676}"/>
              </a:ext>
            </a:extLst>
          </p:cNvPr>
          <p:cNvSpPr>
            <a:spLocks noGrp="1"/>
          </p:cNvSpPr>
          <p:nvPr/>
        </p:nvSpPr>
        <p:spPr>
          <a:xfrm>
            <a:off x="466725" y="57626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Версии, автор, время и хеш сохраняют происхождение результата. Физическая схема размещения и внешние интеграции фиксируются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40932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6B8B01D-0F42-46A0-AB30-4C98E6AF8993}"/>
              </a:ext>
            </a:extLst>
          </p:cNvPr>
          <p:cNvSpPr>
            <a:spLocks noGrp="1"/>
          </p:cNvSpPr>
          <p:nvPr/>
        </p:nvSpPr>
        <p:spPr>
          <a:xfrm>
            <a:off x="454276" y="880662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45" name="Рисунок 16"/>
          <p:cNvPicPr>
            <a:picLocks noChangeAspect="1"/>
          </p:cNvPicPr>
          <p:nvPr/>
        </p:nvPicPr>
        <p:blipFill>
          <a:blip r:embed="rId3"/>
          <a:srcRect r="65603" b="730"/>
          <a:stretch/>
        </p:blipFill>
        <p:spPr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20" name="text_Пилот и запрос к заказчику">
            <a:extLst>
              <a:ext uri="{FF2B5EF4-FFF2-40B4-BE49-F238E27FC236}">
                <a16:creationId xmlns:a16="http://schemas.microsoft.com/office/drawing/2014/main" id="{5E9B47AE-213F-4EB4-964B-2443C46D3561}"/>
              </a:ext>
            </a:extLst>
          </p:cNvPr>
          <p:cNvSpPr>
            <a:spLocks noGrp="1"/>
          </p:cNvSpPr>
          <p:nvPr/>
        </p:nvSpPr>
        <p:spPr>
          <a:xfrm>
            <a:off x="428625" y="257175"/>
            <a:ext cx="110013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Пилот и запрос к заказчику</a:t>
            </a:r>
          </a:p>
        </p:txBody>
      </p:sp>
      <p:sp>
        <p:nvSpPr>
          <p:cNvPr id="21" name="text_05">
            <a:extLst>
              <a:ext uri="{FF2B5EF4-FFF2-40B4-BE49-F238E27FC236}">
                <a16:creationId xmlns:a16="http://schemas.microsoft.com/office/drawing/2014/main" id="{8811C60C-E401-4B3D-A1A3-45DD43D746C0}"/>
              </a:ext>
            </a:extLst>
          </p:cNvPr>
          <p:cNvSpPr>
            <a:spLocks noGrp="1"/>
          </p:cNvSpPr>
          <p:nvPr/>
        </p:nvSpPr>
        <p:spPr>
          <a:xfrm>
            <a:off x="11210925" y="639127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buNone/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05</a:t>
            </a:r>
          </a:p>
        </p:txBody>
      </p:sp>
      <p:sp>
        <p:nvSpPr>
          <p:cNvPr id="22" name="text_ТАКТ  /  ТЕХЛАБ МОСКВА  /  POSITIVE TECHNO">
            <a:extLst>
              <a:ext uri="{FF2B5EF4-FFF2-40B4-BE49-F238E27FC236}">
                <a16:creationId xmlns:a16="http://schemas.microsoft.com/office/drawing/2014/main" id="{588599CD-DD5D-4CBA-92EF-06817642FD8B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7239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ТЕХЛАБ МОСКВА  /  POSITIVE TECHNOLOGIES</a:t>
            </a:r>
          </a:p>
        </p:txBody>
      </p:sp>
      <p:sp>
        <p:nvSpPr>
          <p:cNvPr id="23" name="text_Пилот: 6–8 недель после готовности данных ">
            <a:extLst>
              <a:ext uri="{FF2B5EF4-FFF2-40B4-BE49-F238E27FC236}">
                <a16:creationId xmlns:a16="http://schemas.microsoft.com/office/drawing/2014/main" id="{9CF67D2A-1475-4A35-8B1D-1959DC561451}"/>
              </a:ext>
            </a:extLst>
          </p:cNvPr>
          <p:cNvSpPr>
            <a:spLocks noGrp="1"/>
          </p:cNvSpPr>
          <p:nvPr/>
        </p:nvSpPr>
        <p:spPr>
          <a:xfrm>
            <a:off x="466725" y="9525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0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Пилот: 6–8 недель после готовности данных и доступа</a:t>
            </a:r>
          </a:p>
        </p:txBody>
      </p:sp>
      <p:sp>
        <p:nvSpPr>
          <p:cNvPr id="24" name="text_0–2 недели">
            <a:extLst>
              <a:ext uri="{FF2B5EF4-FFF2-40B4-BE49-F238E27FC236}">
                <a16:creationId xmlns:a16="http://schemas.microsoft.com/office/drawing/2014/main" id="{C50A8378-B297-42AF-8C7C-1897FFB5BA70}"/>
              </a:ext>
            </a:extLst>
          </p:cNvPr>
          <p:cNvSpPr>
            <a:spLocks noGrp="1"/>
          </p:cNvSpPr>
          <p:nvPr/>
        </p:nvSpPr>
        <p:spPr>
          <a:xfrm>
            <a:off x="466725" y="1638300"/>
            <a:ext cx="2324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0–2 недели</a:t>
            </a:r>
          </a:p>
        </p:txBody>
      </p:sp>
      <p:sp>
        <p:nvSpPr>
          <p:cNvPr id="25" name="text_Согласовать данные, исходный процесс, конт">
            <a:extLst>
              <a:ext uri="{FF2B5EF4-FFF2-40B4-BE49-F238E27FC236}">
                <a16:creationId xmlns:a16="http://schemas.microsoft.com/office/drawing/2014/main" id="{7B26C87E-DAEA-47EB-B7F4-5B36EA1C0F8F}"/>
              </a:ext>
            </a:extLst>
          </p:cNvPr>
          <p:cNvSpPr>
            <a:spLocks noGrp="1"/>
          </p:cNvSpPr>
          <p:nvPr/>
        </p:nvSpPr>
        <p:spPr>
          <a:xfrm>
            <a:off x="466725" y="2076450"/>
            <a:ext cx="23812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Согласовать данные, исходный процесс, контур и критерии приёмки.</a:t>
            </a:r>
          </a:p>
        </p:txBody>
      </p:sp>
      <p:sp>
        <p:nvSpPr>
          <p:cNvPr id="26" name="text_3–8 недель">
            <a:extLst>
              <a:ext uri="{FF2B5EF4-FFF2-40B4-BE49-F238E27FC236}">
                <a16:creationId xmlns:a16="http://schemas.microsoft.com/office/drawing/2014/main" id="{C6AECF83-3D65-4C7F-BB3A-3291408D1FF0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2324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3–8 недель</a:t>
            </a:r>
          </a:p>
        </p:txBody>
      </p:sp>
      <p:sp>
        <p:nvSpPr>
          <p:cNvPr id="27" name="text_Провести парный замер времени, ручных дейс">
            <a:extLst>
              <a:ext uri="{FF2B5EF4-FFF2-40B4-BE49-F238E27FC236}">
                <a16:creationId xmlns:a16="http://schemas.microsoft.com/office/drawing/2014/main" id="{0D55777B-BA9B-488E-8882-397541D8D52B}"/>
              </a:ext>
            </a:extLst>
          </p:cNvPr>
          <p:cNvSpPr>
            <a:spLocks noGrp="1"/>
          </p:cNvSpPr>
          <p:nvPr/>
        </p:nvSpPr>
        <p:spPr>
          <a:xfrm>
            <a:off x="3238500" y="2076450"/>
            <a:ext cx="23812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Провести парный замер времени, ручных действий и качества результата.</a:t>
            </a:r>
          </a:p>
        </p:txBody>
      </p:sp>
      <p:sp>
        <p:nvSpPr>
          <p:cNvPr id="28" name="text_После пилота">
            <a:extLst>
              <a:ext uri="{FF2B5EF4-FFF2-40B4-BE49-F238E27FC236}">
                <a16:creationId xmlns:a16="http://schemas.microsoft.com/office/drawing/2014/main" id="{143657BB-C6AA-4045-BD58-E7C6DE0DF926}"/>
              </a:ext>
            </a:extLst>
          </p:cNvPr>
          <p:cNvSpPr>
            <a:spLocks noGrp="1"/>
          </p:cNvSpPr>
          <p:nvPr/>
        </p:nvSpPr>
        <p:spPr>
          <a:xfrm>
            <a:off x="6010275" y="1638300"/>
            <a:ext cx="23241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После пилота</a:t>
            </a:r>
          </a:p>
        </p:txBody>
      </p:sp>
      <p:sp>
        <p:nvSpPr>
          <p:cNvPr id="29" name="text_Если эффект подтверждён — отдельно согласо">
            <a:extLst>
              <a:ext uri="{FF2B5EF4-FFF2-40B4-BE49-F238E27FC236}">
                <a16:creationId xmlns:a16="http://schemas.microsoft.com/office/drawing/2014/main" id="{5961B369-E665-4922-8AB6-2BC149FBC897}"/>
              </a:ext>
            </a:extLst>
          </p:cNvPr>
          <p:cNvSpPr>
            <a:spLocks noGrp="1"/>
          </p:cNvSpPr>
          <p:nvPr/>
        </p:nvSpPr>
        <p:spPr>
          <a:xfrm>
            <a:off x="6010275" y="2076450"/>
            <a:ext cx="23812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Если эффект подтверждён — отдельно согласовать внедрение и сопровождение.</a:t>
            </a:r>
          </a:p>
        </p:txBody>
      </p:sp>
      <p:sp>
        <p:nvSpPr>
          <p:cNvPr id="30" name="Запрос заказчику">
            <a:extLst>
              <a:ext uri="{FF2B5EF4-FFF2-40B4-BE49-F238E27FC236}">
                <a16:creationId xmlns:a16="http://schemas.microsoft.com/office/drawing/2014/main" id="{59253E02-6F09-40D6-8F71-54BEEDA5B71A}"/>
              </a:ext>
            </a:extLst>
          </p:cNvPr>
          <p:cNvSpPr>
            <a:spLocks noGrp="1"/>
          </p:cNvSpPr>
          <p:nvPr/>
        </p:nvSpPr>
        <p:spPr>
          <a:xfrm>
            <a:off x="8915400" y="1562100"/>
            <a:ext cx="2571750" cy="1581150"/>
          </a:xfrm>
          <a:prstGeom prst="rect">
            <a:avLst/>
          </a:prstGeom>
          <a:solidFill>
            <a:srgbClr val="15394D"/>
          </a:solidFill>
          <a:ln w="9525">
            <a:solidFill>
              <a:srgbClr val="89BE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_Нужно от заказчика">
            <a:extLst>
              <a:ext uri="{FF2B5EF4-FFF2-40B4-BE49-F238E27FC236}">
                <a16:creationId xmlns:a16="http://schemas.microsoft.com/office/drawing/2014/main" id="{9D6E2D6C-89A4-462F-85B5-BD0B1A9B1B58}"/>
              </a:ext>
            </a:extLst>
          </p:cNvPr>
          <p:cNvSpPr>
            <a:spLocks noGrp="1"/>
          </p:cNvSpPr>
          <p:nvPr/>
        </p:nvSpPr>
        <p:spPr>
          <a:xfrm>
            <a:off x="9105900" y="17240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Нужно от заказчика</a:t>
            </a:r>
          </a:p>
        </p:txBody>
      </p:sp>
      <p:sp>
        <p:nvSpPr>
          <p:cNvPr id="32" name="text_• данные четырёх классов&#10;• аналитик + эксп">
            <a:extLst>
              <a:ext uri="{FF2B5EF4-FFF2-40B4-BE49-F238E27FC236}">
                <a16:creationId xmlns:a16="http://schemas.microsoft.com/office/drawing/2014/main" id="{596A9768-4050-4520-8710-F7130BDF5873}"/>
              </a:ext>
            </a:extLst>
          </p:cNvPr>
          <p:cNvSpPr>
            <a:spLocks noGrp="1"/>
          </p:cNvSpPr>
          <p:nvPr/>
        </p:nvSpPr>
        <p:spPr>
          <a:xfrm>
            <a:off x="9105900" y="2133600"/>
            <a:ext cx="2190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• данные четырёх классов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• аналитик + эксперт процесса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• контур + владелец пилота</a:t>
            </a:r>
          </a:p>
        </p:txBody>
      </p:sp>
      <p:sp>
        <p:nvSpPr>
          <p:cNvPr id="33" name="text_Критерий">
            <a:extLst>
              <a:ext uri="{FF2B5EF4-FFF2-40B4-BE49-F238E27FC236}">
                <a16:creationId xmlns:a16="http://schemas.microsoft.com/office/drawing/2014/main" id="{E38EEFAA-1390-4D1C-A0CB-D07B92A1E694}"/>
              </a:ext>
            </a:extLst>
          </p:cNvPr>
          <p:cNvSpPr>
            <a:spLocks noGrp="1"/>
          </p:cNvSpPr>
          <p:nvPr/>
        </p:nvSpPr>
        <p:spPr>
          <a:xfrm>
            <a:off x="466725" y="3324225"/>
            <a:ext cx="2095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Критерий</a:t>
            </a:r>
          </a:p>
        </p:txBody>
      </p:sp>
      <p:sp>
        <p:nvSpPr>
          <p:cNvPr id="34" name="text_≥30% сокращения ручных трудозатрат при соп">
            <a:extLst>
              <a:ext uri="{FF2B5EF4-FFF2-40B4-BE49-F238E27FC236}">
                <a16:creationId xmlns:a16="http://schemas.microsoft.com/office/drawing/2014/main" id="{4002C010-A932-4731-A9B1-8977797D6775}"/>
              </a:ext>
            </a:extLst>
          </p:cNvPr>
          <p:cNvSpPr>
            <a:spLocks noGrp="1"/>
          </p:cNvSpPr>
          <p:nvPr/>
        </p:nvSpPr>
        <p:spPr>
          <a:xfrm>
            <a:off x="466725" y="3714750"/>
            <a:ext cx="73723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9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≥30% сокращения ручных трудозатрат при сопоставимом качестве результата</a:t>
            </a:r>
          </a:p>
        </p:txBody>
      </p:sp>
      <p:sp>
        <p:nvSpPr>
          <p:cNvPr id="35" name="text_Проверяем: время до первого обоснованного ">
            <a:extLst>
              <a:ext uri="{FF2B5EF4-FFF2-40B4-BE49-F238E27FC236}">
                <a16:creationId xmlns:a16="http://schemas.microsoft.com/office/drawing/2014/main" id="{F053CE85-5A08-4673-8610-F5E0531FE13B}"/>
              </a:ext>
            </a:extLst>
          </p:cNvPr>
          <p:cNvSpPr>
            <a:spLocks noGrp="1"/>
          </p:cNvSpPr>
          <p:nvPr/>
        </p:nvSpPr>
        <p:spPr>
          <a:xfrm>
            <a:off x="466725" y="4371975"/>
            <a:ext cx="7715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Проверяем: время до первого обоснованного решения · все ручные действия · полноту и корректность результата.</a:t>
            </a:r>
          </a:p>
        </p:txBody>
      </p:sp>
      <p:sp>
        <p:nvSpPr>
          <p:cNvPr id="36" name="text_Инвестиционный запрос">
            <a:extLst>
              <a:ext uri="{FF2B5EF4-FFF2-40B4-BE49-F238E27FC236}">
                <a16:creationId xmlns:a16="http://schemas.microsoft.com/office/drawing/2014/main" id="{C8C1E4A2-9343-4F84-862E-41A60DC76537}"/>
              </a:ext>
            </a:extLst>
          </p:cNvPr>
          <p:cNvSpPr>
            <a:spLocks noGrp="1"/>
          </p:cNvSpPr>
          <p:nvPr/>
        </p:nvSpPr>
        <p:spPr>
          <a:xfrm>
            <a:off x="8915400" y="3324225"/>
            <a:ext cx="25717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Инвестиционный запрос</a:t>
            </a:r>
          </a:p>
        </p:txBody>
      </p:sp>
      <p:sp>
        <p:nvSpPr>
          <p:cNvPr id="37" name="text_15 млн ₽">
            <a:extLst>
              <a:ext uri="{FF2B5EF4-FFF2-40B4-BE49-F238E27FC236}">
                <a16:creationId xmlns:a16="http://schemas.microsoft.com/office/drawing/2014/main" id="{06C93E65-6409-48F5-AEC5-3E619C2EBA5E}"/>
              </a:ext>
            </a:extLst>
          </p:cNvPr>
          <p:cNvSpPr>
            <a:spLocks noGrp="1"/>
          </p:cNvSpPr>
          <p:nvPr/>
        </p:nvSpPr>
        <p:spPr>
          <a:xfrm>
            <a:off x="8915400" y="3705225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28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8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15 млн ₽</a:t>
            </a:r>
          </a:p>
        </p:txBody>
      </p:sp>
      <p:sp>
        <p:nvSpPr>
          <p:cNvPr id="38" name="text_Команда, пилот и подготовка продукта к вне">
            <a:extLst>
              <a:ext uri="{FF2B5EF4-FFF2-40B4-BE49-F238E27FC236}">
                <a16:creationId xmlns:a16="http://schemas.microsoft.com/office/drawing/2014/main" id="{01C801AE-7A19-4ECE-8DEC-FC78EE086C26}"/>
              </a:ext>
            </a:extLst>
          </p:cNvPr>
          <p:cNvSpPr>
            <a:spLocks noGrp="1"/>
          </p:cNvSpPr>
          <p:nvPr/>
        </p:nvSpPr>
        <p:spPr>
          <a:xfrm>
            <a:off x="8915400" y="4229100"/>
            <a:ext cx="2571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Команда, пилот и подготовка продукта к внедрению. Модель команды.</a:t>
            </a:r>
          </a:p>
        </p:txBody>
      </p:sp>
      <p:sp>
        <p:nvSpPr>
          <p:cNvPr id="39" name="text_Продуктовый трек после пилота">
            <a:extLst>
              <a:ext uri="{FF2B5EF4-FFF2-40B4-BE49-F238E27FC236}">
                <a16:creationId xmlns:a16="http://schemas.microsoft.com/office/drawing/2014/main" id="{94E27B15-1CE1-4243-B83B-EBA8C2940D29}"/>
              </a:ext>
            </a:extLst>
          </p:cNvPr>
          <p:cNvSpPr>
            <a:spLocks noGrp="1"/>
          </p:cNvSpPr>
          <p:nvPr/>
        </p:nvSpPr>
        <p:spPr>
          <a:xfrm>
            <a:off x="466725" y="502920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Продуктовый трек после пилота</a:t>
            </a:r>
          </a:p>
        </p:txBody>
      </p:sp>
      <p:sp>
        <p:nvSpPr>
          <p:cNvPr id="40" name="text_6–12 месяцев: адаптеры, укрепление эксплуа">
            <a:extLst>
              <a:ext uri="{FF2B5EF4-FFF2-40B4-BE49-F238E27FC236}">
                <a16:creationId xmlns:a16="http://schemas.microsoft.com/office/drawing/2014/main" id="{EE99EA1A-796F-4F72-AC9B-0F931865D8C5}"/>
              </a:ext>
            </a:extLst>
          </p:cNvPr>
          <p:cNvSpPr>
            <a:spLocks noGrp="1"/>
          </p:cNvSpPr>
          <p:nvPr/>
        </p:nvSpPr>
        <p:spPr>
          <a:xfrm>
            <a:off x="466725" y="5394960"/>
            <a:ext cx="77057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6–12 месяцев: адаптеры, укрепление эксплуатации и повторяемое развёртывание. Это план команды, а не срок внедрения у заказчика.</a:t>
            </a:r>
          </a:p>
        </p:txBody>
      </p:sp>
      <p:sp>
        <p:nvSpPr>
          <p:cNvPr id="41" name="text_Команда НИУ «МЭИ»">
            <a:extLst>
              <a:ext uri="{FF2B5EF4-FFF2-40B4-BE49-F238E27FC236}">
                <a16:creationId xmlns:a16="http://schemas.microsoft.com/office/drawing/2014/main" id="{A3EC64A6-11DA-4803-B35F-379B21A26CDF}"/>
              </a:ext>
            </a:extLst>
          </p:cNvPr>
          <p:cNvSpPr>
            <a:spLocks noGrp="1"/>
          </p:cNvSpPr>
          <p:nvPr/>
        </p:nvSpPr>
        <p:spPr>
          <a:xfrm>
            <a:off x="8429625" y="5440680"/>
            <a:ext cx="3048000" cy="822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5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Команда НИУ «МЭИ»: Александр Таймаскин — архитектура; Павел Хорев — информационная безопасность; Ксения Цапаева — аналитическая методика.</a:t>
            </a:r>
          </a:p>
        </p:txBody>
      </p:sp>
      <p:sp>
        <p:nvSpPr>
          <p:cNvPr id="42" name="text_Следующий шаг: назначить владельца пилота ">
            <a:extLst>
              <a:ext uri="{FF2B5EF4-FFF2-40B4-BE49-F238E27FC236}">
                <a16:creationId xmlns:a16="http://schemas.microsoft.com/office/drawing/2014/main" id="{A05E5D0B-1787-43A9-8C36-92020084ED40}"/>
              </a:ext>
            </a:extLst>
          </p:cNvPr>
          <p:cNvSpPr>
            <a:spLocks noGrp="1"/>
          </p:cNvSpPr>
          <p:nvPr/>
        </p:nvSpPr>
        <p:spPr>
          <a:xfrm>
            <a:off x="466344" y="5961888"/>
            <a:ext cx="786384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buNone/>
              <a:defRPr sz="12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Следующий шаг: назначить владельца пилота и согласовать состав данных и протокол замера.</a:t>
            </a:r>
          </a:p>
        </p:txBody>
      </p:sp>
    </p:spTree>
    <p:extLst>
      <p:ext uri="{BB962C8B-B14F-4D97-AF65-F5344CB8AC3E}">
        <p14:creationId xmlns:p14="http://schemas.microsoft.com/office/powerpoint/2010/main" val="140932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ая соединительная линия 3">
            <a:extLst>
              <a:ext uri="{FF2B5EF4-FFF2-40B4-BE49-F238E27FC236}">
                <a16:creationId xmlns:a16="http://schemas.microsoft.com/office/drawing/2014/main" id="{66B8B01D-0F42-46A0-AB30-4C98E6AF8993}"/>
              </a:ext>
            </a:extLst>
          </p:cNvPr>
          <p:cNvSpPr>
            <a:spLocks noGrp="1"/>
          </p:cNvSpPr>
          <p:nvPr/>
        </p:nvSpPr>
        <p:spPr>
          <a:xfrm>
            <a:off x="454276" y="880662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6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393192"/>
            <a:ext cx="676656" cy="394580"/>
          </a:xfrm>
          <a:prstGeom prst="rect">
            <a:avLst/>
          </a:prstGeom>
        </p:spPr>
      </p:pic>
      <p:sp>
        <p:nvSpPr>
          <p:cNvPr id="23" name="text_Экономика и ресурсный запрос: допущения">
            <a:extLst>
              <a:ext uri="{FF2B5EF4-FFF2-40B4-BE49-F238E27FC236}">
                <a16:creationId xmlns:a16="http://schemas.microsoft.com/office/drawing/2014/main" id="{1DEFBF18-9543-4BE2-A68A-3F5C2897BA95}"/>
              </a:ext>
            </a:extLst>
          </p:cNvPr>
          <p:cNvSpPr>
            <a:spLocks noGrp="1"/>
          </p:cNvSpPr>
          <p:nvPr/>
        </p:nvSpPr>
        <p:spPr>
          <a:xfrm>
            <a:off x="428625" y="256946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Экономика и ресурсный запрос: допущения</a:t>
            </a:r>
          </a:p>
        </p:txBody>
      </p:sp>
      <p:sp>
        <p:nvSpPr>
          <p:cNvPr id="24" name="text_ТАКТ  /  ТЕХЛАБ МОСКВА  /  POSITIVE TECH">
            <a:extLst>
              <a:ext uri="{FF2B5EF4-FFF2-40B4-BE49-F238E27FC236}">
                <a16:creationId xmlns:a16="http://schemas.microsoft.com/office/drawing/2014/main" id="{E416A14F-D0BA-44CF-AC37-291CF3569413}"/>
              </a:ext>
            </a:extLst>
          </p:cNvPr>
          <p:cNvSpPr>
            <a:spLocks noGrp="1"/>
          </p:cNvSpPr>
          <p:nvPr/>
        </p:nvSpPr>
        <p:spPr>
          <a:xfrm>
            <a:off x="457200" y="6391656"/>
            <a:ext cx="7239304" cy="20939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ТЕХЛАБ МОСКВА  /  POSITIVE TECHNOLOGIES</a:t>
            </a:r>
          </a:p>
        </p:txBody>
      </p:sp>
      <p:sp>
        <p:nvSpPr>
          <p:cNvPr id="25" name="text_Рынок">
            <a:extLst>
              <a:ext uri="{FF2B5EF4-FFF2-40B4-BE49-F238E27FC236}">
                <a16:creationId xmlns:a16="http://schemas.microsoft.com/office/drawing/2014/main" id="{A75C44EF-B6E6-46A7-A8F7-AA1375876AC8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Рынок</a:t>
            </a:r>
          </a:p>
        </p:txBody>
      </p:sp>
      <p:sp>
        <p:nvSpPr>
          <p:cNvPr id="26" name="text_TAM">
            <a:extLst>
              <a:ext uri="{FF2B5EF4-FFF2-40B4-BE49-F238E27FC236}">
                <a16:creationId xmlns:a16="http://schemas.microsoft.com/office/drawing/2014/main" id="{3CE69A30-AC80-4B0E-AA32-A77D6B06FD09}"/>
              </a:ext>
            </a:extLst>
          </p:cNvPr>
          <p:cNvSpPr>
            <a:spLocks noGrp="1"/>
          </p:cNvSpPr>
          <p:nvPr/>
        </p:nvSpPr>
        <p:spPr>
          <a:xfrm>
            <a:off x="466725" y="1609725"/>
            <a:ext cx="23812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TAM</a:t>
            </a:r>
          </a:p>
        </p:txBody>
      </p:sp>
      <p:sp>
        <p:nvSpPr>
          <p:cNvPr id="27" name="text_4,8 млрд ₽">
            <a:extLst>
              <a:ext uri="{FF2B5EF4-FFF2-40B4-BE49-F238E27FC236}">
                <a16:creationId xmlns:a16="http://schemas.microsoft.com/office/drawing/2014/main" id="{17E635CC-82A8-485C-BBB9-4340C0EEE533}"/>
              </a:ext>
            </a:extLst>
          </p:cNvPr>
          <p:cNvSpPr>
            <a:spLocks noGrp="1"/>
          </p:cNvSpPr>
          <p:nvPr/>
        </p:nvSpPr>
        <p:spPr>
          <a:xfrm>
            <a:off x="466725" y="1971675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4,8 млрд ₽</a:t>
            </a:r>
          </a:p>
        </p:txBody>
      </p:sp>
      <p:sp>
        <p:nvSpPr>
          <p:cNvPr id="28" name="text_4 800 организаций">
            <a:extLst>
              <a:ext uri="{FF2B5EF4-FFF2-40B4-BE49-F238E27FC236}">
                <a16:creationId xmlns:a16="http://schemas.microsoft.com/office/drawing/2014/main" id="{EADFE740-0117-4F60-BB31-A87E3B3C091E}"/>
              </a:ext>
            </a:extLst>
          </p:cNvPr>
          <p:cNvSpPr>
            <a:spLocks noGrp="1"/>
          </p:cNvSpPr>
          <p:nvPr/>
        </p:nvSpPr>
        <p:spPr>
          <a:xfrm>
            <a:off x="466725" y="24765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4 800 организаций</a:t>
            </a:r>
          </a:p>
        </p:txBody>
      </p:sp>
      <p:sp>
        <p:nvSpPr>
          <p:cNvPr id="29" name="text_SAM">
            <a:extLst>
              <a:ext uri="{FF2B5EF4-FFF2-40B4-BE49-F238E27FC236}">
                <a16:creationId xmlns:a16="http://schemas.microsoft.com/office/drawing/2014/main" id="{46056DDD-4C3F-45CD-A1B6-0E09305A41CF}"/>
              </a:ext>
            </a:extLst>
          </p:cNvPr>
          <p:cNvSpPr>
            <a:spLocks noGrp="1"/>
          </p:cNvSpPr>
          <p:nvPr/>
        </p:nvSpPr>
        <p:spPr>
          <a:xfrm>
            <a:off x="3086100" y="1609725"/>
            <a:ext cx="23812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SAM</a:t>
            </a:r>
          </a:p>
        </p:txBody>
      </p:sp>
      <p:sp>
        <p:nvSpPr>
          <p:cNvPr id="30" name="text_1,46 млрд ₽">
            <a:extLst>
              <a:ext uri="{FF2B5EF4-FFF2-40B4-BE49-F238E27FC236}">
                <a16:creationId xmlns:a16="http://schemas.microsoft.com/office/drawing/2014/main" id="{CE374223-62BF-469F-B8E0-2B19CD9DA4B9}"/>
              </a:ext>
            </a:extLst>
          </p:cNvPr>
          <p:cNvSpPr>
            <a:spLocks noGrp="1"/>
          </p:cNvSpPr>
          <p:nvPr/>
        </p:nvSpPr>
        <p:spPr>
          <a:xfrm>
            <a:off x="3086100" y="1971675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1,46 млрд ₽</a:t>
            </a:r>
          </a:p>
        </p:txBody>
      </p:sp>
      <p:sp>
        <p:nvSpPr>
          <p:cNvPr id="31" name="text_1 460 организаций">
            <a:extLst>
              <a:ext uri="{FF2B5EF4-FFF2-40B4-BE49-F238E27FC236}">
                <a16:creationId xmlns:a16="http://schemas.microsoft.com/office/drawing/2014/main" id="{E237BD84-36F8-4C80-A1E9-B4AFE742937E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1 460 организаций</a:t>
            </a:r>
          </a:p>
        </p:txBody>
      </p:sp>
      <p:sp>
        <p:nvSpPr>
          <p:cNvPr id="32" name="text_SOM">
            <a:extLst>
              <a:ext uri="{FF2B5EF4-FFF2-40B4-BE49-F238E27FC236}">
                <a16:creationId xmlns:a16="http://schemas.microsoft.com/office/drawing/2014/main" id="{077567CE-139F-43AD-896B-B15F9B42B3EA}"/>
              </a:ext>
            </a:extLst>
          </p:cNvPr>
          <p:cNvSpPr>
            <a:spLocks noGrp="1"/>
          </p:cNvSpPr>
          <p:nvPr/>
        </p:nvSpPr>
        <p:spPr>
          <a:xfrm>
            <a:off x="5705475" y="1609725"/>
            <a:ext cx="23812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SOM</a:t>
            </a:r>
          </a:p>
        </p:txBody>
      </p:sp>
      <p:sp>
        <p:nvSpPr>
          <p:cNvPr id="33" name="text_138 млн ₽">
            <a:extLst>
              <a:ext uri="{FF2B5EF4-FFF2-40B4-BE49-F238E27FC236}">
                <a16:creationId xmlns:a16="http://schemas.microsoft.com/office/drawing/2014/main" id="{E54DE57D-2CA6-4C4A-97A0-9FF36901BA55}"/>
              </a:ext>
            </a:extLst>
          </p:cNvPr>
          <p:cNvSpPr>
            <a:spLocks noGrp="1"/>
          </p:cNvSpPr>
          <p:nvPr/>
        </p:nvSpPr>
        <p:spPr>
          <a:xfrm>
            <a:off x="5705475" y="1971675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138 млн ₽</a:t>
            </a:r>
          </a:p>
        </p:txBody>
      </p:sp>
      <p:sp>
        <p:nvSpPr>
          <p:cNvPr id="34" name="text_122 клиента">
            <a:extLst>
              <a:ext uri="{FF2B5EF4-FFF2-40B4-BE49-F238E27FC236}">
                <a16:creationId xmlns:a16="http://schemas.microsoft.com/office/drawing/2014/main" id="{031FF15D-AFCB-402D-AE80-3B6B298C8031}"/>
              </a:ext>
            </a:extLst>
          </p:cNvPr>
          <p:cNvSpPr>
            <a:spLocks noGrp="1"/>
          </p:cNvSpPr>
          <p:nvPr/>
        </p:nvSpPr>
        <p:spPr>
          <a:xfrm>
            <a:off x="5705475" y="24765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122 клиента</a:t>
            </a:r>
          </a:p>
        </p:txBody>
      </p:sp>
      <p:sp>
        <p:nvSpPr>
          <p:cNvPr id="35" name="text_Прогнозная модель команды к 2031 году; не ">
            <a:extLst>
              <a:ext uri="{FF2B5EF4-FFF2-40B4-BE49-F238E27FC236}">
                <a16:creationId xmlns:a16="http://schemas.microsoft.com/office/drawing/2014/main" id="{D5327464-EC75-4FD9-80CE-59C3147002EE}"/>
              </a:ext>
            </a:extLst>
          </p:cNvPr>
          <p:cNvSpPr>
            <a:spLocks noGrp="1"/>
          </p:cNvSpPr>
          <p:nvPr/>
        </p:nvSpPr>
        <p:spPr>
          <a:xfrm>
            <a:off x="466725" y="2895600"/>
            <a:ext cx="7524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9FB3B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9FB3BF"/>
                </a:solidFill>
                <a:latin typeface="TT Firs Neue DemiBold"/>
                <a:ea typeface="TT Firs Neue DemiBold"/>
                <a:cs typeface="TT Firs Neue DemiBold"/>
              </a:rPr>
              <a:t>Прогнозная модель команды к 2031 году; не текущая выручка и не независимая рыночная оценка.</a:t>
            </a:r>
          </a:p>
        </p:txBody>
      </p:sp>
      <p:sp>
        <p:nvSpPr>
          <p:cNvPr id="36" name="Коммерческие условия">
            <a:extLst>
              <a:ext uri="{FF2B5EF4-FFF2-40B4-BE49-F238E27FC236}">
                <a16:creationId xmlns:a16="http://schemas.microsoft.com/office/drawing/2014/main" id="{C9DFE77F-89D3-46E7-BF29-D74F84F66CE5}"/>
              </a:ext>
            </a:extLst>
          </p:cNvPr>
          <p:cNvSpPr>
            <a:spLocks noGrp="1"/>
          </p:cNvSpPr>
          <p:nvPr/>
        </p:nvSpPr>
        <p:spPr>
          <a:xfrm>
            <a:off x="466725" y="3562350"/>
            <a:ext cx="7477125" cy="2143125"/>
          </a:xfrm>
          <a:prstGeom prst="rect">
            <a:avLst/>
          </a:prstGeom>
          <a:solidFill>
            <a:srgbClr val="102F42"/>
          </a:solidFill>
          <a:ln w="9525">
            <a:solidFill>
              <a:srgbClr val="89BE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_Коммерческие условия из исходной модели">
            <a:extLst>
              <a:ext uri="{FF2B5EF4-FFF2-40B4-BE49-F238E27FC236}">
                <a16:creationId xmlns:a16="http://schemas.microsoft.com/office/drawing/2014/main" id="{DA686325-C2C9-49A4-86C1-7FF9146084FD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6858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Коммерческие условия из исходной модели</a:t>
            </a:r>
          </a:p>
        </p:txBody>
      </p:sp>
      <p:sp>
        <p:nvSpPr>
          <p:cNvPr id="38" name="text_Пилот">
            <a:extLst>
              <a:ext uri="{FF2B5EF4-FFF2-40B4-BE49-F238E27FC236}">
                <a16:creationId xmlns:a16="http://schemas.microsoft.com/office/drawing/2014/main" id="{FA2A605B-25C6-4554-A14E-90F71E0A1188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Пилот</a:t>
            </a:r>
          </a:p>
        </p:txBody>
      </p:sp>
      <p:sp>
        <p:nvSpPr>
          <p:cNvPr id="39" name="text_600 тыс. ₽ · 6–8 недель">
            <a:extLst>
              <a:ext uri="{FF2B5EF4-FFF2-40B4-BE49-F238E27FC236}">
                <a16:creationId xmlns:a16="http://schemas.microsoft.com/office/drawing/2014/main" id="{3BEEDFE4-DD17-44A1-9340-D7F2069F1269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600 тыс. ₽ · 6–8 недель</a:t>
            </a:r>
          </a:p>
        </p:txBody>
      </p:sp>
      <p:sp>
        <p:nvSpPr>
          <p:cNvPr id="40" name="text_Лицензия">
            <a:extLst>
              <a:ext uri="{FF2B5EF4-FFF2-40B4-BE49-F238E27FC236}">
                <a16:creationId xmlns:a16="http://schemas.microsoft.com/office/drawing/2014/main" id="{9A62DD29-DCCF-407A-A0B7-26E427397CC8}"/>
              </a:ext>
            </a:extLst>
          </p:cNvPr>
          <p:cNvSpPr>
            <a:spLocks noGrp="1"/>
          </p:cNvSpPr>
          <p:nvPr/>
        </p:nvSpPr>
        <p:spPr>
          <a:xfrm>
            <a:off x="3257550" y="42957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Лицензия</a:t>
            </a:r>
          </a:p>
        </p:txBody>
      </p:sp>
      <p:sp>
        <p:nvSpPr>
          <p:cNvPr id="41" name="text_1,2 млн ₽ разово">
            <a:extLst>
              <a:ext uri="{FF2B5EF4-FFF2-40B4-BE49-F238E27FC236}">
                <a16:creationId xmlns:a16="http://schemas.microsoft.com/office/drawing/2014/main" id="{F375BE13-2E8E-4DF8-BF6A-20B5925198A7}"/>
              </a:ext>
            </a:extLst>
          </p:cNvPr>
          <p:cNvSpPr>
            <a:spLocks noGrp="1"/>
          </p:cNvSpPr>
          <p:nvPr/>
        </p:nvSpPr>
        <p:spPr>
          <a:xfrm>
            <a:off x="3257550" y="4648200"/>
            <a:ext cx="1952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1,2 млн ₽ разово</a:t>
            </a:r>
          </a:p>
        </p:txBody>
      </p:sp>
      <p:sp>
        <p:nvSpPr>
          <p:cNvPr id="42" name="text_Рабочее место">
            <a:extLst>
              <a:ext uri="{FF2B5EF4-FFF2-40B4-BE49-F238E27FC236}">
                <a16:creationId xmlns:a16="http://schemas.microsoft.com/office/drawing/2014/main" id="{759AE56B-D52F-4665-9504-BF4C74B8A194}"/>
              </a:ext>
            </a:extLst>
          </p:cNvPr>
          <p:cNvSpPr>
            <a:spLocks noGrp="1"/>
          </p:cNvSpPr>
          <p:nvPr/>
        </p:nvSpPr>
        <p:spPr>
          <a:xfrm>
            <a:off x="5543550" y="4295775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Рабочее место</a:t>
            </a:r>
          </a:p>
        </p:txBody>
      </p:sp>
      <p:sp>
        <p:nvSpPr>
          <p:cNvPr id="43" name="text_5 тыс. ₽ / месяц">
            <a:extLst>
              <a:ext uri="{FF2B5EF4-FFF2-40B4-BE49-F238E27FC236}">
                <a16:creationId xmlns:a16="http://schemas.microsoft.com/office/drawing/2014/main" id="{F3664B45-E4D8-4890-BFDB-762EAA08353A}"/>
              </a:ext>
            </a:extLst>
          </p:cNvPr>
          <p:cNvSpPr>
            <a:spLocks noGrp="1"/>
          </p:cNvSpPr>
          <p:nvPr/>
        </p:nvSpPr>
        <p:spPr>
          <a:xfrm>
            <a:off x="5543550" y="4648200"/>
            <a:ext cx="1905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5 тыс. ₽ / месяц</a:t>
            </a:r>
          </a:p>
        </p:txBody>
      </p:sp>
      <p:sp>
        <p:nvSpPr>
          <p:cNvPr id="44" name="text_Объём, зачёт пилота и договорные условия т">
            <a:extLst>
              <a:ext uri="{FF2B5EF4-FFF2-40B4-BE49-F238E27FC236}">
                <a16:creationId xmlns:a16="http://schemas.microsoft.com/office/drawing/2014/main" id="{198640B6-1AC4-484B-B715-3A9383B351CB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68580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Объём, зачёт пилота и договорные условия требуют отдельного согласования.</a:t>
            </a:r>
          </a:p>
        </p:txBody>
      </p:sp>
      <p:sp>
        <p:nvSpPr>
          <p:cNvPr id="45" name="Инвестиционный запрос">
            <a:extLst>
              <a:ext uri="{FF2B5EF4-FFF2-40B4-BE49-F238E27FC236}">
                <a16:creationId xmlns:a16="http://schemas.microsoft.com/office/drawing/2014/main" id="{9B42D67A-52CD-4AA5-9ADF-23169AB6BB0D}"/>
              </a:ext>
            </a:extLst>
          </p:cNvPr>
          <p:cNvSpPr>
            <a:spLocks noGrp="1"/>
          </p:cNvSpPr>
          <p:nvPr/>
        </p:nvSpPr>
        <p:spPr>
          <a:xfrm>
            <a:off x="8334375" y="1562100"/>
            <a:ext cx="3171825" cy="4143375"/>
          </a:xfrm>
          <a:prstGeom prst="rect">
            <a:avLst/>
          </a:prstGeom>
          <a:solidFill>
            <a:srgbClr val="15394D"/>
          </a:solidFill>
          <a:ln w="14288">
            <a:solidFill>
              <a:srgbClr val="EE945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_15 млн ₽">
            <a:extLst>
              <a:ext uri="{FF2B5EF4-FFF2-40B4-BE49-F238E27FC236}">
                <a16:creationId xmlns:a16="http://schemas.microsoft.com/office/drawing/2014/main" id="{744374FE-0DD3-440C-8CEA-2CC3B0692A3D}"/>
              </a:ext>
            </a:extLst>
          </p:cNvPr>
          <p:cNvSpPr>
            <a:spLocks noGrp="1"/>
          </p:cNvSpPr>
          <p:nvPr/>
        </p:nvSpPr>
        <p:spPr>
          <a:xfrm>
            <a:off x="8582025" y="1809750"/>
            <a:ext cx="2667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5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35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15 млн ₽</a:t>
            </a:r>
          </a:p>
        </p:txBody>
      </p:sp>
      <p:sp>
        <p:nvSpPr>
          <p:cNvPr id="47" name="text_первый транш по модели команды">
            <a:extLst>
              <a:ext uri="{FF2B5EF4-FFF2-40B4-BE49-F238E27FC236}">
                <a16:creationId xmlns:a16="http://schemas.microsoft.com/office/drawing/2014/main" id="{41401737-2A62-439A-96FC-BC56D04308BE}"/>
              </a:ext>
            </a:extLst>
          </p:cNvPr>
          <p:cNvSpPr>
            <a:spLocks noGrp="1"/>
          </p:cNvSpPr>
          <p:nvPr/>
        </p:nvSpPr>
        <p:spPr>
          <a:xfrm>
            <a:off x="8582025" y="246697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первый транш по модели команды</a:t>
            </a:r>
          </a:p>
        </p:txBody>
      </p:sp>
      <p:sp>
        <p:nvSpPr>
          <p:cNvPr id="48" name="text_42%">
            <a:extLst>
              <a:ext uri="{FF2B5EF4-FFF2-40B4-BE49-F238E27FC236}">
                <a16:creationId xmlns:a16="http://schemas.microsoft.com/office/drawing/2014/main" id="{6352DC18-107B-438C-834C-A5D17AD66A47}"/>
              </a:ext>
            </a:extLst>
          </p:cNvPr>
          <p:cNvSpPr>
            <a:spLocks noGrp="1"/>
          </p:cNvSpPr>
          <p:nvPr/>
        </p:nvSpPr>
        <p:spPr>
          <a:xfrm>
            <a:off x="8639175" y="31432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42%</a:t>
            </a:r>
          </a:p>
        </p:txBody>
      </p:sp>
      <p:sp>
        <p:nvSpPr>
          <p:cNvPr id="49" name="text_команда">
            <a:extLst>
              <a:ext uri="{FF2B5EF4-FFF2-40B4-BE49-F238E27FC236}">
                <a16:creationId xmlns:a16="http://schemas.microsoft.com/office/drawing/2014/main" id="{5A8A5BA5-5D96-46B0-BE6B-DCC6205EDF1A}"/>
              </a:ext>
            </a:extLst>
          </p:cNvPr>
          <p:cNvSpPr>
            <a:spLocks noGrp="1"/>
          </p:cNvSpPr>
          <p:nvPr/>
        </p:nvSpPr>
        <p:spPr>
          <a:xfrm>
            <a:off x="9305925" y="3143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команда</a:t>
            </a:r>
          </a:p>
        </p:txBody>
      </p:sp>
      <p:sp>
        <p:nvSpPr>
          <p:cNvPr id="50" name="text_16%">
            <a:extLst>
              <a:ext uri="{FF2B5EF4-FFF2-40B4-BE49-F238E27FC236}">
                <a16:creationId xmlns:a16="http://schemas.microsoft.com/office/drawing/2014/main" id="{67118686-B99C-4FEC-A15E-8C61C21FDA98}"/>
              </a:ext>
            </a:extLst>
          </p:cNvPr>
          <p:cNvSpPr>
            <a:spLocks noGrp="1"/>
          </p:cNvSpPr>
          <p:nvPr/>
        </p:nvSpPr>
        <p:spPr>
          <a:xfrm>
            <a:off x="8639175" y="35814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16%</a:t>
            </a:r>
          </a:p>
        </p:txBody>
      </p:sp>
      <p:sp>
        <p:nvSpPr>
          <p:cNvPr id="51" name="text_сертификация">
            <a:extLst>
              <a:ext uri="{FF2B5EF4-FFF2-40B4-BE49-F238E27FC236}">
                <a16:creationId xmlns:a16="http://schemas.microsoft.com/office/drawing/2014/main" id="{4D8F7925-4D01-428B-A2B6-FE316195CD26}"/>
              </a:ext>
            </a:extLst>
          </p:cNvPr>
          <p:cNvSpPr>
            <a:spLocks noGrp="1"/>
          </p:cNvSpPr>
          <p:nvPr/>
        </p:nvSpPr>
        <p:spPr>
          <a:xfrm>
            <a:off x="9305925" y="358140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сертификация</a:t>
            </a:r>
          </a:p>
        </p:txBody>
      </p:sp>
      <p:sp>
        <p:nvSpPr>
          <p:cNvPr id="52" name="text_22%">
            <a:extLst>
              <a:ext uri="{FF2B5EF4-FFF2-40B4-BE49-F238E27FC236}">
                <a16:creationId xmlns:a16="http://schemas.microsoft.com/office/drawing/2014/main" id="{16830452-F78D-422B-8BFE-0BF4C5439CBF}"/>
              </a:ext>
            </a:extLst>
          </p:cNvPr>
          <p:cNvSpPr>
            <a:spLocks noGrp="1"/>
          </p:cNvSpPr>
          <p:nvPr/>
        </p:nvSpPr>
        <p:spPr>
          <a:xfrm>
            <a:off x="8639175" y="40195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22%</a:t>
            </a:r>
          </a:p>
        </p:txBody>
      </p:sp>
      <p:sp>
        <p:nvSpPr>
          <p:cNvPr id="53" name="text_маркетинг и продажи">
            <a:extLst>
              <a:ext uri="{FF2B5EF4-FFF2-40B4-BE49-F238E27FC236}">
                <a16:creationId xmlns:a16="http://schemas.microsoft.com/office/drawing/2014/main" id="{C1231B94-4B1D-4848-A3FF-9D44681C4AD5}"/>
              </a:ext>
            </a:extLst>
          </p:cNvPr>
          <p:cNvSpPr>
            <a:spLocks noGrp="1"/>
          </p:cNvSpPr>
          <p:nvPr/>
        </p:nvSpPr>
        <p:spPr>
          <a:xfrm>
            <a:off x="9305925" y="40195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маркетинг и продажи</a:t>
            </a:r>
          </a:p>
        </p:txBody>
      </p:sp>
      <p:sp>
        <p:nvSpPr>
          <p:cNvPr id="54" name="text_12%">
            <a:extLst>
              <a:ext uri="{FF2B5EF4-FFF2-40B4-BE49-F238E27FC236}">
                <a16:creationId xmlns:a16="http://schemas.microsoft.com/office/drawing/2014/main" id="{FEF016C7-3933-4211-B98F-C5FE47A68DF8}"/>
              </a:ext>
            </a:extLst>
          </p:cNvPr>
          <p:cNvSpPr>
            <a:spLocks noGrp="1"/>
          </p:cNvSpPr>
          <p:nvPr/>
        </p:nvSpPr>
        <p:spPr>
          <a:xfrm>
            <a:off x="8639175" y="44577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12%</a:t>
            </a:r>
          </a:p>
        </p:txBody>
      </p:sp>
      <p:sp>
        <p:nvSpPr>
          <p:cNvPr id="55" name="text_патенты, реестр, пилоты">
            <a:extLst>
              <a:ext uri="{FF2B5EF4-FFF2-40B4-BE49-F238E27FC236}">
                <a16:creationId xmlns:a16="http://schemas.microsoft.com/office/drawing/2014/main" id="{04B8AA15-43FC-4A08-AE2F-51320A0A4504}"/>
              </a:ext>
            </a:extLst>
          </p:cNvPr>
          <p:cNvSpPr>
            <a:spLocks noGrp="1"/>
          </p:cNvSpPr>
          <p:nvPr/>
        </p:nvSpPr>
        <p:spPr>
          <a:xfrm>
            <a:off x="9305925" y="445770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патенты, реестр, пилоты</a:t>
            </a:r>
          </a:p>
        </p:txBody>
      </p:sp>
      <p:sp>
        <p:nvSpPr>
          <p:cNvPr id="56" name="text_8%">
            <a:extLst>
              <a:ext uri="{FF2B5EF4-FFF2-40B4-BE49-F238E27FC236}">
                <a16:creationId xmlns:a16="http://schemas.microsoft.com/office/drawing/2014/main" id="{B657E31D-492D-424E-969E-5F935F9F8C35}"/>
              </a:ext>
            </a:extLst>
          </p:cNvPr>
          <p:cNvSpPr>
            <a:spLocks noGrp="1"/>
          </p:cNvSpPr>
          <p:nvPr/>
        </p:nvSpPr>
        <p:spPr>
          <a:xfrm>
            <a:off x="8639175" y="48958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8%</a:t>
            </a:r>
          </a:p>
        </p:txBody>
      </p:sp>
      <p:sp>
        <p:nvSpPr>
          <p:cNvPr id="57" name="text_инфраструктура">
            <a:extLst>
              <a:ext uri="{FF2B5EF4-FFF2-40B4-BE49-F238E27FC236}">
                <a16:creationId xmlns:a16="http://schemas.microsoft.com/office/drawing/2014/main" id="{7130FAA7-FB14-4AE2-957A-255A3C253820}"/>
              </a:ext>
            </a:extLst>
          </p:cNvPr>
          <p:cNvSpPr>
            <a:spLocks noGrp="1"/>
          </p:cNvSpPr>
          <p:nvPr/>
        </p:nvSpPr>
        <p:spPr>
          <a:xfrm>
            <a:off x="9305925" y="48958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инфраструктура</a:t>
            </a:r>
          </a:p>
        </p:txBody>
      </p:sp>
      <p:sp>
        <p:nvSpPr>
          <p:cNvPr id="58" name="text_Статусы сертификации и реестра пока не пол">
            <a:extLst>
              <a:ext uri="{FF2B5EF4-FFF2-40B4-BE49-F238E27FC236}">
                <a16:creationId xmlns:a16="http://schemas.microsoft.com/office/drawing/2014/main" id="{2B9D9E90-1DED-4F6A-9E02-6C40CA996AAF}"/>
              </a:ext>
            </a:extLst>
          </p:cNvPr>
          <p:cNvSpPr>
            <a:spLocks noGrp="1"/>
          </p:cNvSpPr>
          <p:nvPr/>
        </p:nvSpPr>
        <p:spPr>
          <a:xfrm>
            <a:off x="8582025" y="53244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050" b="1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Статусы сертификации и реестра не получены.</a:t>
            </a:r>
          </a:p>
        </p:txBody>
      </p:sp>
      <p:sp>
        <p:nvSpPr>
          <p:cNvPr id="59" name="text_06">
            <a:extLst>
              <a:ext uri="{FF2B5EF4-FFF2-40B4-BE49-F238E27FC236}">
                <a16:creationId xmlns:a16="http://schemas.microsoft.com/office/drawing/2014/main" id="{A0FE87AC-930B-42D5-86B6-CBEE6F3E0DBA}"/>
              </a:ext>
            </a:extLst>
          </p:cNvPr>
          <p:cNvSpPr>
            <a:spLocks noGrp="1"/>
          </p:cNvSpPr>
          <p:nvPr/>
        </p:nvSpPr>
        <p:spPr>
          <a:xfrm>
            <a:off x="11210925" y="639127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90552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хлаб Москва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EE9456"/>
      </a:accent1>
      <a:accent2>
        <a:srgbClr val="F4BC65"/>
      </a:accent2>
      <a:accent3>
        <a:srgbClr val="89BEE0"/>
      </a:accent3>
      <a:accent4>
        <a:srgbClr val="0A1215"/>
      </a:accent4>
      <a:accent5>
        <a:srgbClr val="D9D9D9"/>
      </a:accent5>
      <a:accent6>
        <a:srgbClr val="70AD47"/>
      </a:accent6>
      <a:hlink>
        <a:srgbClr val="89BEE0"/>
      </a:hlink>
      <a:folHlink>
        <a:srgbClr val="F4BC65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хлаб Москв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хлаб Москва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EE9456"/>
      </a:accent1>
      <a:accent2>
        <a:srgbClr val="F4BC65"/>
      </a:accent2>
      <a:accent3>
        <a:srgbClr val="89BEE0"/>
      </a:accent3>
      <a:accent4>
        <a:srgbClr val="0A1215"/>
      </a:accent4>
      <a:accent5>
        <a:srgbClr val="D9D9D9"/>
      </a:accent5>
      <a:accent6>
        <a:srgbClr val="70AD47"/>
      </a:accent6>
      <a:hlink>
        <a:srgbClr val="89BEE0"/>
      </a:hlink>
      <a:folHlink>
        <a:srgbClr val="F4BC65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хлаб Москв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Office PowerPoint</Application>
  <DocSecurity>0</DocSecurity>
  <PresentationFormat>Широкоэкранный</PresentationFormat>
  <Paragraphs>162</Paragraphs>
  <Slides>6</Slides>
  <Notes>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TT Firs Neue DemiBold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Dima</cp:lastModifiedBy>
  <cp:revision>3</cp:revision>
  <dcterms:created xsi:type="dcterms:W3CDTF">2026-09-11T12:20:30Z</dcterms:created>
  <dcterms:modified xsi:type="dcterms:W3CDTF">2026-09-14T19:49:33Z</dcterms:modified>
</cp:coreProperties>
</file>