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sldIdLst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3" d="100"/>
          <a:sy n="63" d="100"/>
        </p:scale>
        <p:origin x="780" y="64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presProps" Target="presProps.xml"/><Relationship Id="rId18" Type="http://schemas.openxmlformats.org/officeDocument/2006/relationships/tableStyles" Target="tableStyles.xml"/><Relationship Id="rId19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51EE91A-65D6-4CED-8A7E-F8B1CB48A802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DA1BCA3-A6CB-40E7-9170-9286FABDBE25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rgbClr val="0A1215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/>
          <a:srcRect l="0" t="0" r="5250" b="3561"/>
          <a:stretch/>
        </p:blipFill>
        <p:spPr bwMode="auto">
          <a:xfrm>
            <a:off x="213361" y="0"/>
            <a:ext cx="11978639" cy="6858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00501" y="593181"/>
            <a:ext cx="1961920" cy="3962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1024128"/>
            <a:ext cx="850392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r>
              <a:rPr sz="1800" b="0">
                <a:solidFill>
                  <a:srgbClr val="F1A254"/>
                </a:solidFill>
                <a:latin typeface="Arial"/>
              </a:rPr>
              <a:t>Техлаб Москва · Positive Technologies · Задача №1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755648"/>
            <a:ext cx="8229600" cy="12344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3200" b="1">
                <a:solidFill>
                  <a:srgbClr val="F5FAFC"/>
                </a:solidFill>
                <a:latin typeface="Arial"/>
              </a:defRPr>
            </a:pPr>
            <a:r>
              <a:rPr sz="3500" b="1">
                <a:solidFill>
                  <a:srgbClr val="E2E8EC"/>
                </a:solidFill>
                <a:latin typeface="Arial"/>
              </a:rPr>
              <a:t>ТАКТ — единый интеллектуальный</a:t>
            </a:r>
          </a:p>
          <a:p>
            <a:r>
              <a:rPr sz="3500" b="1">
                <a:solidFill>
                  <a:srgbClr val="E2E8EC"/>
                </a:solidFill>
                <a:latin typeface="Arial"/>
              </a:rPr>
              <a:t>интерфейс SOC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310128"/>
            <a:ext cx="850392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600" b="0">
                <a:solidFill>
                  <a:srgbClr val="F5FAFC"/>
                </a:solidFill>
                <a:latin typeface="Arial"/>
              </a:defRPr>
            </a:pPr>
            <a:r>
              <a:rPr sz="1800" b="0">
                <a:solidFill>
                  <a:srgbClr val="E2E8EC"/>
                </a:solidFill>
                <a:latin typeface="Arial"/>
              </a:rPr>
              <a:t>Связывает события из EDR/SIEM/NDR/IRP в один кейс, сохраняет контекст расследования и готовит проверяемый пакет реагирования.</a:t>
            </a:r>
          </a:p>
          <a:p>
            <a:r>
              <a:rPr sz="1800" b="0">
                <a:solidFill>
                  <a:srgbClr val="E2E8EC"/>
                </a:solidFill>
                <a:latin typeface="Arial"/>
              </a:rPr>
              <a:t>Критичные действия остаются за уполномоченным аналитиком.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617720"/>
            <a:ext cx="3840480" cy="347472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600" b="1">
                <a:solidFill>
                  <a:srgbClr val="EF7024"/>
                </a:solidFill>
                <a:latin typeface="Arial"/>
              </a:defRPr>
            </a:pPr>
            <a:r>
              <a:rPr sz="1500" b="1">
                <a:solidFill>
                  <a:srgbClr val="E2E8EC"/>
                </a:solidFill>
                <a:latin typeface="Arial"/>
              </a:rPr>
              <a:t>Команда «ТАКТ»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02352"/>
            <a:ext cx="5029200" cy="347472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200" b="0">
                <a:solidFill>
                  <a:srgbClr val="B9CDD6"/>
                </a:solidFill>
                <a:latin typeface="Arial"/>
              </a:defRPr>
            </a:pPr>
            <a:r>
              <a:rPr sz="1250" b="0">
                <a:solidFill>
                  <a:srgbClr val="BEC6CC"/>
                </a:solidFill>
                <a:latin typeface="Arial"/>
              </a:rPr>
              <a:t>Фокус: рабочий MVP на датасете заказчика, измеримое сокращение ручных действий и прозрачный human-in-the-loop.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4892040"/>
            <a:ext cx="1600200" cy="402336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6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4 класса источников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4892040"/>
            <a:ext cx="1600200" cy="402336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6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−30% действий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59" y="4892040"/>
            <a:ext cx="1600200" cy="402336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6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human-in-the-loop</a:t>
            </a:r>
          </a:p>
        </p:txBody>
      </p:sp>
      <p:pic>
        <p:nvPicPr>
          <p:cNvPr id="24" name="Picture 23" descr="positive_technologies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457200"/>
            <a:ext cx="2148840" cy="5435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Команда и роль в пилоте</a:t>
            </a:r>
          </a:p>
        </p:txBody>
      </p:sp>
      <p:cxnSp>
        <p:nvCxnSpPr>
          <p:cNvPr id="4" name="Прямая соединительная линия 3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 bwMode="auto">
          <a:xfrm flipH="1">
            <a:off x="11377326" y="6313491"/>
            <a:ext cx="304083" cy="32316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2</a:t>
            </a:r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1051560"/>
            <a:ext cx="96012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900" b="1">
                <a:solidFill>
                  <a:srgbClr val="F5FAFC"/>
                </a:solidFill>
                <a:latin typeface="Arial"/>
              </a:defRPr>
            </a:pPr>
            <a:r>
              <a:rPr sz="1800" b="0">
                <a:solidFill>
                  <a:srgbClr val="E2E8EC"/>
                </a:solidFill>
                <a:latin typeface="Arial"/>
              </a:rPr>
              <a:t>Небольшая команда закрывает продукт, архитектуру, прототип и демонстрационный сценарий на данных заказчика.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874519"/>
            <a:ext cx="3154680" cy="201168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Александр Таймаскин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лидер продукта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архитектура решения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коммуникация с заказчиком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методика демонстрации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1874519"/>
            <a:ext cx="3154680" cy="201168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Разработка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backend + frontend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адаптеры к данным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тесты, CI, Docker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подготовка стенда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874519"/>
            <a:ext cx="3154680" cy="201168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ИБ-экспертиза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сценарии SOC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корреляция событий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проверка находок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качество пакета реагирования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43400"/>
            <a:ext cx="10058400" cy="1143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400">
                <a:solidFill>
                  <a:srgbClr val="EF7024"/>
                </a:solidFill>
                <a:latin typeface="Arial"/>
              </a:defRPr>
            </a:pPr>
            <a:r>
              <a:rPr sz="1700" b="1">
                <a:solidFill>
                  <a:srgbClr val="F1A254"/>
                </a:solidFill>
                <a:latin typeface="Arial"/>
              </a:rPr>
              <a:t>Как работаем с Positive Technologies</a:t>
            </a:r>
          </a:p>
          <a:p>
            <a:r>
              <a:rPr sz="1600" b="0">
                <a:solidFill>
                  <a:srgbClr val="E2E8EC"/>
                </a:solidFill>
                <a:latin typeface="Arial"/>
              </a:rPr>
              <a:t>Берём предоставленный датасет и описание структуры единого хранилища, фиксируем baseline, собираем воспроизводимый стенд и показываем один сквозной сценарий: от алерта до пакета реагирования.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32120"/>
            <a:ext cx="98755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050" b="0">
                <a:solidFill>
                  <a:srgbClr val="B9CDD6"/>
                </a:solidFill>
                <a:latin typeface="Arial"/>
              </a:defRPr>
            </a:pPr>
            <a:r>
              <a:rPr sz="1250" b="0">
                <a:solidFill>
                  <a:srgbClr val="BEC6CC"/>
                </a:solidFill>
                <a:latin typeface="Arial"/>
              </a:rPr>
              <a:t>Состав команды, контакты и роли можно уточнить перед подачей заявки.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Актуальность и проблема</a:t>
            </a:r>
          </a:p>
        </p:txBody>
      </p:sp>
      <p:cxnSp>
        <p:nvCxnSpPr>
          <p:cNvPr id="4" name="Прямая соединительная линия 3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 bwMode="auto">
          <a:xfrm flipH="1">
            <a:off x="11377326" y="6313491"/>
            <a:ext cx="304083" cy="32316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3</a:t>
            </a:r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1051560"/>
            <a:ext cx="10607040" cy="41605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400">
                <a:solidFill>
                  <a:srgbClr val="EF7024"/>
                </a:solidFill>
                <a:latin typeface="Arial"/>
              </a:defRPr>
            </a:pPr>
            <a:r>
              <a:rPr sz="1650" b="0">
                <a:solidFill>
                  <a:srgbClr val="E2E8EC"/>
                </a:solidFill>
                <a:latin typeface="Arial"/>
              </a:rPr>
              <a:t>Текущий процесс</a:t>
            </a:r>
          </a:p>
          <a:p>
            <a:r>
              <a:rPr sz="1650" b="0">
                <a:solidFill>
                  <a:srgbClr val="E2E8EC"/>
                </a:solidFill>
                <a:latin typeface="Arial"/>
              </a:rPr>
              <a:t>Расследование одного инцидента распадается на EDR, SIEM, NDR/NTA, IRP/SOAR, справочники и внешние проверки. У каждого инструмента свой интерфейс, язык запросов и идентификаторы.</a:t>
            </a:r>
          </a:p>
          <a:p/>
          <a:p>
            <a:r>
              <a:rPr sz="1650" b="0">
                <a:solidFill>
                  <a:srgbClr val="E2E8EC"/>
                </a:solidFill>
                <a:latin typeface="Arial"/>
              </a:rPr>
              <a:t>Что теряет аналитик</a:t>
            </a:r>
          </a:p>
          <a:p>
            <a:r>
              <a:rPr sz="1650" b="0">
                <a:solidFill>
                  <a:srgbClr val="E2E8EC"/>
                </a:solidFill>
                <a:latin typeface="Arial"/>
              </a:rPr>
              <a:t>Контекст приходится держать в голове или переносить в блокнот: узлы, пользователи, процессы, IOC, версии гипотез и найденные артефакты. На этом теряются время, точность и преемственность между первой и второй линией.</a:t>
            </a:r>
          </a:p>
          <a:p/>
          <a:p>
            <a:r>
              <a:rPr sz="1650" b="0">
                <a:solidFill>
                  <a:srgbClr val="E2E8EC"/>
                </a:solidFill>
                <a:latin typeface="Arial"/>
              </a:rPr>
              <a:t>Почему это критично</a:t>
            </a:r>
          </a:p>
          <a:p>
            <a:r>
              <a:rPr sz="1650" b="0">
                <a:solidFill>
                  <a:srgbClr val="E2E8EC"/>
                </a:solidFill>
                <a:latin typeface="Arial"/>
              </a:rPr>
              <a:t>Поток алертов, ложные срабатывания и жёсткие SLA повышают риск пропустить сложную атаку, замаскированную под легитимную активность. Нужен единый интерфейс поверх хранилища заказчика, где контекст сохраняется в карточке инцидента.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532120"/>
            <a:ext cx="2011680" cy="384048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100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меньше переключений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5532120"/>
            <a:ext cx="1965960" cy="384048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100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контекст в кейсе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6048" y="5532120"/>
            <a:ext cx="2148840" cy="384048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100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находки не в блокноте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5532120"/>
            <a:ext cx="2240280" cy="384048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100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решает аналитик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Целевой процесс ТАКТ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30212" y="868630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6" y="6313491"/>
            <a:ext cx="304083" cy="32316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4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cxnSp>
        <p:nvCxnSpPr>
          <p:cNvPr id="13" name="Прямая соединительная линия 12"/>
          <p:cNvCxnSpPr>
            <a:cxnSpLocks/>
          </p:cNvCxnSpPr>
          <p:nvPr/>
        </p:nvCxnSpPr>
        <p:spPr bwMode="auto">
          <a:xfrm>
            <a:off x="5733288" y="1243584"/>
            <a:ext cx="0" cy="4343400"/>
          </a:xfrm>
          <a:prstGeom prst="line">
            <a:avLst/>
          </a:prstGeom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1143000"/>
            <a:ext cx="4800600" cy="3931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380">
                <a:solidFill>
                  <a:srgbClr val="EF7024"/>
                </a:solidFill>
                <a:latin typeface="Arial"/>
              </a:defRPr>
            </a:pPr>
            <a:r>
              <a:rPr sz="1800" b="1">
                <a:solidFill>
                  <a:srgbClr val="F1A254"/>
                </a:solidFill>
                <a:latin typeface="Arial"/>
              </a:rPr>
              <a:t>От алерта к связанной картине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ТАКТ работает как единое рабочее место SOC-аналитика поверх хранилища заказчика. Система получает события не менее чем из четырёх классов источников, нормализует их и группирует по общим признакам: узел, пользователь, процесс, адрес, артефакт.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F1A254"/>
                </a:solidFill>
                <a:latin typeface="Arial"/>
              </a:rPr>
              <a:t>Что видит аналитик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Один кейс: граф связей, таймлайн, карточки сущностей, журнал находок, список артефактов и панель подготовки реагирования.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143000"/>
            <a:ext cx="4892040" cy="3931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380">
                <a:solidFill>
                  <a:srgbClr val="EF7024"/>
                </a:solidFill>
                <a:latin typeface="Arial"/>
              </a:defRPr>
            </a:pPr>
            <a:r>
              <a:rPr sz="1800" b="1">
                <a:solidFill>
                  <a:srgbClr val="F1A254"/>
                </a:solidFill>
                <a:latin typeface="Arial"/>
              </a:rPr>
              <a:t>Не чат-бот вместо аналитика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ИИ-контур возможен как опция: поиск на естественном языке и подсказки следующих шагов. Но выводы модели не являются решением и не запускают критичные действия.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F1A254"/>
                </a:solidFill>
                <a:latin typeface="Arial"/>
              </a:rPr>
              <a:t>Human-in-the-loop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При неполных или противоречивых данных ТАКТ показывает неопределённость. Финальная квалификация, подтверждение и передача в реагирование остаются за человеком.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440680"/>
            <a:ext cx="1097280" cy="347472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8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алерт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764792" y="5614416"/>
            <a:ext cx="137160" cy="0"/>
          </a:xfrm>
          <a:prstGeom prst="line">
            <a:avLst/>
          </a:prstGeom>
          <a:ln w="1270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965960" y="5440680"/>
            <a:ext cx="1097280" cy="347472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8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контекст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16352" y="5614416"/>
            <a:ext cx="137160" cy="0"/>
          </a:xfrm>
          <a:prstGeom prst="line">
            <a:avLst/>
          </a:prstGeom>
          <a:ln w="1270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017520" y="5440680"/>
            <a:ext cx="1234440" cy="347472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8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находка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67911" y="5614416"/>
            <a:ext cx="137161" cy="0"/>
          </a:xfrm>
          <a:prstGeom prst="line">
            <a:avLst/>
          </a:prstGeom>
          <a:ln w="1270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069079" y="5440680"/>
            <a:ext cx="1097280" cy="347472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8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пакет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Архитектура решения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6" y="6313491"/>
            <a:ext cx="304083" cy="3231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5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1024128"/>
            <a:ext cx="96012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600" b="1">
                <a:solidFill>
                  <a:srgbClr val="F5FAFC"/>
                </a:solidFill>
                <a:latin typeface="Arial"/>
              </a:defRPr>
            </a:pPr>
            <a:r>
              <a:rPr sz="1550" b="0">
                <a:solidFill>
                  <a:srgbClr val="E2E8EC"/>
                </a:solidFill>
                <a:latin typeface="Arial"/>
              </a:rPr>
              <a:t>Модульная схема: единое хранилище заказчика → ядро ТАКТ → рабочее место аналитика → пакет реагирования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74519"/>
            <a:ext cx="1508760" cy="96012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EDR / SIEM</a:t>
            </a:r>
          </a:p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NDR / IRP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94560" y="2350008"/>
            <a:ext cx="320040" cy="0"/>
          </a:xfrm>
          <a:prstGeom prst="line">
            <a:avLst/>
          </a:prstGeom>
          <a:ln w="1524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14600" y="1874519"/>
            <a:ext cx="1508760" cy="96012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87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Слой доступа</a:t>
            </a:r>
          </a:p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к данным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23360" y="2350008"/>
            <a:ext cx="594360" cy="0"/>
          </a:xfrm>
          <a:prstGeom prst="line">
            <a:avLst/>
          </a:prstGeom>
          <a:ln w="1524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17720" y="1874519"/>
            <a:ext cx="1508760" cy="96012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Backend ТАКТ</a:t>
            </a:r>
          </a:p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корреляция + кейс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26479" y="2350008"/>
            <a:ext cx="868681" cy="0"/>
          </a:xfrm>
          <a:prstGeom prst="line">
            <a:avLst/>
          </a:prstGeom>
          <a:ln w="1524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95160" y="1874519"/>
            <a:ext cx="1508760" cy="96012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87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Frontend SOC</a:t>
            </a:r>
          </a:p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граф + таймлайн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03920" y="2350008"/>
            <a:ext cx="640080" cy="0"/>
          </a:xfrm>
          <a:prstGeom prst="line">
            <a:avLst/>
          </a:prstGeom>
          <a:ln w="1524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44000" y="1874519"/>
            <a:ext cx="1508760" cy="96012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Пакет</a:t>
            </a:r>
          </a:p>
          <a:p>
            <a:pPr algn="ctr"/>
            <a:r>
              <a:rPr sz="1250" b="1">
                <a:solidFill>
                  <a:srgbClr val="E2E8EC"/>
                </a:solidFill>
                <a:latin typeface="Arial"/>
              </a:rPr>
              <a:t>реагирования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1965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250">
                <a:solidFill>
                  <a:srgbClr val="EF7024"/>
                </a:solidFill>
                <a:latin typeface="Arial"/>
              </a:defRPr>
            </a:pPr>
            <a:r>
              <a:rPr sz="1650" b="1">
                <a:solidFill>
                  <a:srgbClr val="F1A254"/>
                </a:solidFill>
                <a:latin typeface="Arial"/>
              </a:rPr>
              <a:t>Frontend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Единый рабочий стол инцидента, граф/таймлайн, карточки узла, пользователя и процесса, журнал находок, поиск и фильтры.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UX-цель: минимум ручных переходов.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291840"/>
            <a:ext cx="3063240" cy="1965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250">
                <a:solidFill>
                  <a:srgbClr val="EF7024"/>
                </a:solidFill>
                <a:latin typeface="Arial"/>
              </a:defRPr>
            </a:pPr>
            <a:r>
              <a:rPr sz="1650" b="1">
                <a:solidFill>
                  <a:srgbClr val="F1A254"/>
                </a:solidFill>
                <a:latin typeface="Arial"/>
              </a:rPr>
              <a:t>Backend и данные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Нормализация событий, корреляция, управление инцидентами, находками и артефактами, экспорт результатов.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Новые источники подключаются адаптерами.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291840"/>
            <a:ext cx="3154680" cy="1965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250">
                <a:solidFill>
                  <a:srgbClr val="EF7024"/>
                </a:solidFill>
                <a:latin typeface="Arial"/>
              </a:defRPr>
            </a:pPr>
            <a:r>
              <a:rPr sz="1650" b="1">
                <a:solidFill>
                  <a:srgbClr val="F1A254"/>
                </a:solidFill>
                <a:latin typeface="Arial"/>
              </a:rPr>
              <a:t>Безопасность</a:t>
            </a:r>
          </a:p>
          <a:p>
            <a:r>
              <a:rPr sz="1320" b="0">
                <a:solidFill>
                  <a:srgbClr val="E2E8EC"/>
                </a:solidFill>
                <a:latin typeface="Arial"/>
              </a:rPr>
              <a:t>RBAC для 1-й/2-й линии, руководителя и администратора; журнал действий; allowlist внешних сервисов; секреты вне кода и логов.</a:t>
            </a:r>
          </a:p>
          <a:p>
            <a:r>
              <a:rPr sz="1320" b="0">
                <a:solidFill>
                  <a:srgbClr val="E2E8EC"/>
                </a:solidFill>
                <a:latin typeface="Arial"/>
              </a:rPr>
              <a:t>Контроль целостности пакета без заявления о сертифицированной криптографии.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623560"/>
            <a:ext cx="96012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019" b="0">
                <a:solidFill>
                  <a:srgbClr val="B9CDD6"/>
                </a:solidFill>
                <a:latin typeface="Arial"/>
              </a:defRPr>
            </a:pPr>
            <a:r>
              <a:rPr sz="1250" b="0">
                <a:solidFill>
                  <a:srgbClr val="BEC6CC"/>
                </a:solidFill>
                <a:latin typeface="Arial"/>
              </a:rPr>
              <a:t>ИИ-модуль — опционально: подсказки и поиск на естественном языке, без автоматического принятия решений.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Данные, контекст и знания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6" y="6313491"/>
            <a:ext cx="304083" cy="3231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6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66928" y="1170432"/>
            <a:ext cx="3063240" cy="3703320"/>
          </a:xfrm>
          <a:prstGeom prst="roundRect">
            <a:avLst/>
          </a:prstGeom>
          <a:solidFill>
            <a:srgbClr val="0E272E"/>
          </a:solidFill>
          <a:ln w="13335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Источники и ограничения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Работаем с датасетом заказчика и структурой единого хранилища. Минимум MVP — данные из четырёх классов источников. Перечень полей и признаков корреляции фиксируется с заказчиком.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33087" y="1170432"/>
            <a:ext cx="3063240" cy="3703320"/>
          </a:xfrm>
          <a:prstGeom prst="roundRect">
            <a:avLst/>
          </a:prstGeom>
          <a:solidFill>
            <a:srgbClr val="0E272E"/>
          </a:solidFill>
          <a:ln w="13335">
            <a:solidFill>
              <a:srgbClr val="87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Единая модель события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Каждое событие приводится к понятной схеме: время, узел, пользователь, процесс, адрес, хеш, тип действия и исходный источник. Связи можно корректировать вручную.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9248" y="1170432"/>
            <a:ext cx="3063240" cy="3703320"/>
          </a:xfrm>
          <a:prstGeom prst="roundRect">
            <a:avLst/>
          </a:prstGeom>
          <a:solidFill>
            <a:srgbClr val="0E272E"/>
          </a:solidFill>
          <a:ln w="13335">
            <a:solidFill>
              <a:srgbClr val="7DD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Контекст сущности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По узлу, пользователю и процессу собираются историчность и окружение: сопутствующие события, файлы, процессы, соединения и связанные артефакты.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5532120"/>
            <a:ext cx="91440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0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EDR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8840" y="5532120"/>
            <a:ext cx="91440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0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SIEM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5532120"/>
            <a:ext cx="91440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0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NDR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5532120"/>
            <a:ext cx="91440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0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IRP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5696712"/>
            <a:ext cx="640080" cy="0"/>
          </a:xfrm>
          <a:prstGeom prst="line">
            <a:avLst/>
          </a:prstGeom>
          <a:ln w="1270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17920" y="5532120"/>
            <a:ext cx="182880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0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единое событие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83879" y="5696712"/>
            <a:ext cx="640081" cy="0"/>
          </a:xfrm>
          <a:prstGeom prst="line">
            <a:avLst/>
          </a:prstGeom>
          <a:ln w="12700">
            <a:solidFill>
              <a:srgbClr val="EF7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961120" y="5532120"/>
            <a:ext cx="150876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0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кейс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74920"/>
            <a:ext cx="98755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>
              <a:defRPr sz="980" b="0">
                <a:solidFill>
                  <a:srgbClr val="B9CDD6"/>
                </a:solidFill>
                <a:latin typeface="Arial"/>
              </a:defRPr>
            </a:pPr>
            <a:r>
              <a:rPr sz="1150" b="0">
                <a:solidFill>
                  <a:srgbClr val="BEC6CC"/>
                </a:solidFill>
                <a:latin typeface="Arial"/>
              </a:rPr>
              <a:t>Результат: аналитик видит не разрозненные логи, а связанную картину инцидента с сохранёнными находками.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Демонстрационный сценарий и метрики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6" y="6313491"/>
            <a:ext cx="304083" cy="3231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7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1051560"/>
            <a:ext cx="4892040" cy="4114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280">
                <a:solidFill>
                  <a:srgbClr val="EF7024"/>
                </a:solidFill>
                <a:latin typeface="Arial"/>
              </a:defRPr>
            </a:pPr>
            <a:r>
              <a:rPr sz="1800" b="1">
                <a:solidFill>
                  <a:srgbClr val="F1A254"/>
                </a:solidFill>
                <a:latin typeface="Arial"/>
              </a:rPr>
              <a:t>Сценарий на датасете заказчика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1. Открыть алерт и подтянуть события из EDR/SIEM/NDR/IRP.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2. Автоматически сгруппировать события по узлу, пользователю, процессу и IOC.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3. Показать граф, таймлайн и карточку сущности с историчностью и окружением.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4. Зафиксировать находки и артефакты в карточке инцидента.</a:t>
            </a:r>
          </a:p>
          <a:p>
            <a:r>
              <a:rPr sz="1450" b="0">
                <a:solidFill>
                  <a:srgbClr val="E2E8EC"/>
                </a:solidFill>
                <a:latin typeface="Arial"/>
              </a:rPr>
              <a:t>5. Сформировать пакет артефактов для реагирования и отчёт.</a:t>
            </a:r>
          </a:p>
          <a:p>
            <a:r>
              <a:rPr sz="1450" b="0">
                <a:solidFill>
                  <a:srgbClr val="BEC6CC"/>
                </a:solidFill>
                <a:latin typeface="Arial"/>
              </a:rPr>
              <a:t>Измеряем не обещание, а воспроизводимый прогон: время, клики, переключения, ручные переносы контекста.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143000"/>
            <a:ext cx="438912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500" b="1">
                <a:solidFill>
                  <a:srgbClr val="F5FAFC"/>
                </a:solidFill>
                <a:latin typeface="Arial"/>
              </a:defRPr>
            </a:pPr>
            <a:r>
              <a:rPr sz="1500" b="1">
                <a:solidFill>
                  <a:srgbClr val="E2E8EC"/>
                </a:solidFill>
                <a:latin typeface="Arial"/>
              </a:rPr>
              <a:t>Ручные действия в демо-сценарии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14630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050" b="0">
                <a:solidFill>
                  <a:srgbClr val="B9CDD6"/>
                </a:solidFill>
                <a:latin typeface="Arial"/>
              </a:defRPr>
            </a:pPr>
            <a:r>
              <a:rPr sz="1150" b="0">
                <a:solidFill>
                  <a:srgbClr val="E2E8EC"/>
                </a:solidFill>
                <a:latin typeface="Arial"/>
              </a:rPr>
              <a:t>Текущий процесс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246120"/>
            <a:ext cx="14630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050" b="0">
                <a:solidFill>
                  <a:srgbClr val="B9CDD6"/>
                </a:solidFill>
                <a:latin typeface="Arial"/>
              </a:defRPr>
            </a:pPr>
            <a:r>
              <a:rPr sz="1150" b="0">
                <a:solidFill>
                  <a:srgbClr val="E2E8EC"/>
                </a:solidFill>
                <a:latin typeface="Arial"/>
              </a:rPr>
              <a:t>ТАКТ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938528"/>
            <a:ext cx="3474720" cy="384048"/>
          </a:xfrm>
          <a:prstGeom prst="rect">
            <a:avLst/>
          </a:prstGeom>
          <a:solidFill>
            <a:srgbClr val="87B4C3"/>
          </a:solidFill>
          <a:ln>
            <a:solidFill>
              <a:srgbClr val="87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172968"/>
            <a:ext cx="2313432" cy="384048"/>
          </a:xfrm>
          <a:prstGeom prst="rect">
            <a:avLst/>
          </a:prstGeom>
          <a:solidFill>
            <a:srgbClr val="EF7024"/>
          </a:solidFill>
          <a:ln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92840" y="1920240"/>
            <a:ext cx="384048" cy="347472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 algn="ctr">
              <a:defRPr sz="1300" b="1">
                <a:solidFill>
                  <a:srgbClr val="F5FAFC"/>
                </a:solidFill>
                <a:latin typeface="Arial"/>
              </a:defRPr>
            </a:pPr>
            <a:r>
              <a:rPr sz="1400" b="1">
                <a:solidFill>
                  <a:srgbClr val="E2E8EC"/>
                </a:solidFill>
                <a:latin typeface="Arial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8128" y="3154680"/>
            <a:ext cx="384048" cy="347472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 algn="ctr">
              <a:defRPr sz="1300" b="1">
                <a:solidFill>
                  <a:srgbClr val="F5FAFC"/>
                </a:solidFill>
                <a:latin typeface="Arial"/>
              </a:defRPr>
            </a:pPr>
            <a:r>
              <a:rPr sz="1400" b="1">
                <a:solidFill>
                  <a:srgbClr val="E2E8EC"/>
                </a:solidFill>
                <a:latin typeface="Arial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886200"/>
            <a:ext cx="329184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000" b="0">
                <a:solidFill>
                  <a:srgbClr val="B9CDD6"/>
                </a:solidFill>
                <a:latin typeface="Arial"/>
              </a:defRPr>
            </a:pPr>
            <a:r>
              <a:rPr sz="1150" b="0">
                <a:solidFill>
                  <a:srgbClr val="BEC6CC"/>
                </a:solidFill>
                <a:latin typeface="Arial"/>
              </a:rPr>
              <a:t>Базовая линия и методика «не менее −30%» фиксируются с заказчиком на старте пилота.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983480"/>
            <a:ext cx="3291840" cy="457200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1400" b="1">
                <a:solidFill>
                  <a:srgbClr val="F5FAFC"/>
                </a:solidFill>
                <a:latin typeface="Arial"/>
              </a:defRPr>
            </a:pPr>
            <a:r>
              <a:rPr sz="1250" b="1">
                <a:solidFill>
                  <a:srgbClr val="E2E8EC"/>
                </a:solidFill>
                <a:latin typeface="Arial"/>
              </a:rPr>
              <a:t>цель MVP: −30%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Ограничения, безопасность и риски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30212" y="868630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6" y="6313491"/>
            <a:ext cx="304083" cy="32316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8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>
            <a:cxnSpLocks/>
          </p:cNvCxnSpPr>
          <p:nvPr/>
        </p:nvCxnSpPr>
        <p:spPr bwMode="auto">
          <a:xfrm>
            <a:off x="5733288" y="1243584"/>
            <a:ext cx="0" cy="4343400"/>
          </a:xfrm>
          <a:prstGeom prst="line">
            <a:avLst/>
          </a:prstGeom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1097280"/>
            <a:ext cx="4754880" cy="4389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350">
                <a:solidFill>
                  <a:srgbClr val="EF7024"/>
                </a:solidFill>
                <a:latin typeface="Arial"/>
              </a:defRPr>
            </a:pPr>
            <a:r>
              <a:rPr sz="1800" b="1">
                <a:solidFill>
                  <a:srgbClr val="F1A254"/>
                </a:solidFill>
                <a:latin typeface="Arial"/>
              </a:rPr>
              <a:t>Ограничения MVP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Качество результата зависит от полноты данных и доступных полей. Если событий недостаточно, ТАКТ показывает статус неопределённости, а не «додумывает» картину.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F1A254"/>
                </a:solidFill>
                <a:latin typeface="Arial"/>
              </a:rPr>
              <a:t>Критичные действия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Завершение процессов, блокировки и изменения конфигурации не выполняются автоматически. ТАКТ готовит пакет и требует подтверждения аналитика.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F1A254"/>
                </a:solidFill>
                <a:latin typeface="Arial"/>
              </a:rPr>
              <a:t>Внешние сервисы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Репутация, песочница или ИИ-сервисы включаются только по согласованию с заказчиком.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1097280"/>
            <a:ext cx="4892040" cy="4389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350">
                <a:solidFill>
                  <a:srgbClr val="EF7024"/>
                </a:solidFill>
                <a:latin typeface="Arial"/>
              </a:defRPr>
            </a:pPr>
            <a:r>
              <a:rPr sz="1800" b="1">
                <a:solidFill>
                  <a:srgbClr val="F1A254"/>
                </a:solidFill>
                <a:latin typeface="Arial"/>
              </a:rPr>
              <a:t>Риски и меры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Разные форматы источников — адаптеры и единая схема события. Неверная связь — основание связи видно, аналитик может поправить вручную.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F1A254"/>
                </a:solidFill>
                <a:latin typeface="Arial"/>
              </a:rPr>
              <a:t>Управляемость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Ролевой доступ, журнал действий, наблюдаемость интеграций, понятные статусы ошибок и защита секретов от попадания в логи и подсказки ИИ.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F1A254"/>
                </a:solidFill>
                <a:latin typeface="Arial"/>
              </a:rPr>
              <a:t>Конфиденциальность</a:t>
            </a:r>
          </a:p>
          <a:p>
            <a:r>
              <a:rPr sz="1550" b="0">
                <a:solidFill>
                  <a:srgbClr val="E2E8EC"/>
                </a:solidFill>
                <a:latin typeface="Arial"/>
              </a:rPr>
              <a:t>Предпочтительный режим пилота — on-prem или закрытый контур заказчика.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7435117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Критерии оценки и бизнес-эффект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6" y="6313491"/>
            <a:ext cx="304083" cy="3231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9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1051560"/>
            <a:ext cx="10241280" cy="2468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380">
                <a:solidFill>
                  <a:srgbClr val="EF7024"/>
                </a:solidFill>
                <a:latin typeface="Arial"/>
              </a:defRPr>
            </a:pPr>
            <a:r>
              <a:rPr sz="1700" b="0">
                <a:solidFill>
                  <a:srgbClr val="E2E8EC"/>
                </a:solidFill>
                <a:latin typeface="Arial"/>
              </a:rPr>
              <a:t>ТАКТ напрямую закрывает критерии ТЗ: единое окно, корреляция, полнота контекста, измеримое ускорение, удобство пользователя, работа на датасете, безопасность и управляемость. Дополнительно можно включить ИИ-ассистента как опцию.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200"/>
            <a:ext cx="2880360" cy="123444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Для аналитика SOC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меньше переключений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находки в карточке кейса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граф и таймлайн в одном окне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быстрее подготовка реагирования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3886200"/>
            <a:ext cx="2880360" cy="123444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87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Для руководителя SOC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измеримый baseline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журнал действий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прозрачная передача контекста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больше инцидентов без роста штата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3886200"/>
            <a:ext cx="2880360" cy="123444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7DD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Для Positive Technologies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MVP поверх единого хранилища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совместимость с продуктовой логикой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расширение ценности MaxPatrol</a:t>
            </a:r>
          </a:p>
          <a:p>
            <a:r>
              <a:rPr sz="1350" b="0">
                <a:solidFill>
                  <a:srgbClr val="E2E8EC"/>
                </a:solidFill>
                <a:latin typeface="Arial"/>
              </a:rPr>
              <a:t>контур human-in-the-loop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98755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050" b="0">
                <a:solidFill>
                  <a:srgbClr val="B9CDD6"/>
                </a:solidFill>
                <a:latin typeface="Arial"/>
              </a:defRPr>
            </a:pPr>
            <a:r>
              <a:rPr sz="1200" b="0">
                <a:solidFill>
                  <a:srgbClr val="BEC6CC"/>
                </a:solidFill>
                <a:latin typeface="Arial"/>
              </a:rPr>
              <a:t>Ключевой эффект: расследование не распадается на экраны и заметки — оно становится воспроизводимым кейсом с проверяемым пакетом артефактов.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11045508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Интеграция с инфраструктурой заказчика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5" y="6313491"/>
            <a:ext cx="521304" cy="3231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10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1051560"/>
            <a:ext cx="10424160" cy="4251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b="1" sz="1360">
                <a:solidFill>
                  <a:srgbClr val="EF7024"/>
                </a:solidFill>
                <a:latin typeface="Arial"/>
              </a:defRPr>
            </a:pPr>
            <a:r>
              <a:rPr sz="1650" b="0">
                <a:solidFill>
                  <a:srgbClr val="E2E8EC"/>
                </a:solidFill>
                <a:latin typeface="Arial"/>
              </a:rPr>
              <a:t>Точки интеграции</a:t>
            </a:r>
          </a:p>
          <a:p>
            <a:r>
              <a:rPr sz="1650" b="0">
                <a:solidFill>
                  <a:srgbClr val="E2E8EC"/>
                </a:solidFill>
                <a:latin typeface="Arial"/>
              </a:rPr>
              <a:t>На пилоте ТАКТ может работать как отдельный сервис: получает выгрузку или поток событий из единого хранилища, читает данные только по согласованным правам и возвращает кейс, отчёт PDF/JSON и набор артефактов для EDR/IRP/SOAR.</a:t>
            </a:r>
          </a:p>
          <a:p/>
          <a:p>
            <a:r>
              <a:rPr sz="1650" b="0">
                <a:solidFill>
                  <a:srgbClr val="E2E8EC"/>
                </a:solidFill>
                <a:latin typeface="Arial"/>
              </a:rPr>
              <a:t>Требования к окружению</a:t>
            </a:r>
          </a:p>
          <a:p>
            <a:r>
              <a:rPr sz="1650" b="0">
                <a:solidFill>
                  <a:srgbClr val="E2E8EC"/>
                </a:solidFill>
                <a:latin typeface="Arial"/>
              </a:rPr>
              <a:t>Предпочтительно on-prem или закрытый контур. Сборка воспроизводимая: Docker, CI, тесты, понятная история изменений, конфигурация без секретов в коде. Работоспособность подтверждается на предоставленном датасете.</a:t>
            </a:r>
          </a:p>
          <a:p/>
          <a:p>
            <a:r>
              <a:rPr sz="1650" b="0">
                <a:solidFill>
                  <a:srgbClr val="E2E8EC"/>
                </a:solidFill>
                <a:latin typeface="Arial"/>
              </a:rPr>
              <a:t>Безопасность и контроль</a:t>
            </a:r>
          </a:p>
          <a:p>
            <a:r>
              <a:rPr sz="1650" b="0">
                <a:solidFill>
                  <a:srgbClr val="E2E8EC"/>
                </a:solidFill>
                <a:latin typeface="Arial"/>
              </a:rPr>
              <a:t>Роли для первой линии, второй линии, руководителя и администратора. Все действия пользователя и системы попадают в аудит. Передача данных во внешние сервисы — только через allowlist и после согласования.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559552"/>
            <a:ext cx="164592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API / 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5559552"/>
            <a:ext cx="164592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датасет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5559552"/>
            <a:ext cx="164592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on-prem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5559552"/>
            <a:ext cx="164592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RBAC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5559552"/>
            <a:ext cx="1828800" cy="329184"/>
          </a:xfrm>
          <a:prstGeom prst="roundRect">
            <a:avLst/>
          </a:prstGeom>
          <a:solidFill>
            <a:srgbClr val="06161B"/>
          </a:solidFill>
          <a:ln w="1270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square">
            <a:normAutofit/>
          </a:bodyPr>
          <a:lstStyle/>
          <a:p>
            <a:pPr algn="ctr">
              <a:defRPr sz="950" b="1">
                <a:solidFill>
                  <a:srgbClr val="F5FAFC"/>
                </a:solidFill>
                <a:latin typeface="Arial"/>
              </a:defRPr>
            </a:pPr>
            <a:r>
              <a:rPr sz="1100" b="1">
                <a:solidFill>
                  <a:srgbClr val="E2E8EC"/>
                </a:solidFill>
                <a:latin typeface="Arial"/>
              </a:rPr>
              <a:t>аудит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 bwMode="auto">
          <a:xfrm>
            <a:off x="430212" y="314632"/>
            <a:ext cx="11045508" cy="553998"/>
          </a:xfrm>
          <a:prstGeom prst="rect">
            <a:avLst/>
          </a:prstGeom>
          <a:noFill/>
        </p:spPr>
        <p:txBody>
          <a:bodyPr wrap="square" rtlCol="0" lIns="0" rIns="0">
            <a:normAutofit/>
          </a:bodyPr>
          <a:lstStyle/>
          <a:p>
            <a:pPr>
              <a:defRPr sz="1700">
                <a:solidFill>
                  <a:srgbClr val="F5FAFC"/>
                </a:solidFill>
                <a:latin typeface="Arial"/>
              </a:defRPr>
            </a:pPr>
            <a:r>
              <a:rPr sz="3100" b="1">
                <a:solidFill>
                  <a:srgbClr val="E2E8EC"/>
                </a:solidFill>
                <a:latin typeface="Arial"/>
              </a:rPr>
              <a:t>Статус и дальнейшие шаги</a:t>
            </a:r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454276" y="880662"/>
            <a:ext cx="11197681" cy="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 bwMode="auto">
          <a:xfrm flipH="1">
            <a:off x="11377325" y="6313491"/>
            <a:ext cx="407004" cy="3231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 sz="1000">
                <a:solidFill>
                  <a:srgbClr val="B9CDD6"/>
                </a:solidFill>
              </a:defRPr>
            </a:pPr>
            <a:r>
              <a:rPr sz="1300" b="0">
                <a:solidFill>
                  <a:srgbClr val="E2E8EC"/>
                </a:solidFill>
                <a:latin typeface="Arial"/>
              </a:rPr>
              <a:t>11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rcRect l="0" t="0" r="65603" b="730"/>
          <a:stretch/>
        </p:blipFill>
        <p:spPr bwMode="auto">
          <a:xfrm>
            <a:off x="11006563" y="394937"/>
            <a:ext cx="674846" cy="393388"/>
          </a:xfrm>
          <a:prstGeom prst="rect">
            <a:avLst/>
          </a:prstGeom>
        </p:spPr>
      </p:pic>
      <p:cxnSp>
        <p:nvCxnSpPr>
          <p:cNvPr id="13" name="Прямая соединительная линия 12"/>
          <p:cNvCxnSpPr>
            <a:cxnSpLocks/>
          </p:cNvCxnSpPr>
          <p:nvPr/>
        </p:nvCxnSpPr>
        <p:spPr bwMode="auto">
          <a:xfrm>
            <a:off x="3954780" y="1188720"/>
            <a:ext cx="0" cy="425196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>
            <a:cxnSpLocks/>
          </p:cNvCxnSpPr>
          <p:nvPr/>
        </p:nvCxnSpPr>
        <p:spPr bwMode="auto">
          <a:xfrm>
            <a:off x="7520939" y="1188720"/>
            <a:ext cx="0" cy="4251960"/>
          </a:xfrm>
          <a:prstGeom prst="line">
            <a:avLst/>
          </a:prstGeom>
          <a:ln w="25400">
            <a:solidFill>
              <a:srgbClr val="EE94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4360" y="1188720"/>
            <a:ext cx="3154680" cy="425196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EF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Сделано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каркас платформы ТАКТ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backend API и React-АРМ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кейсы, находки, артефакты, аудит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контроль целостности пакета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CI, e2e, Docker, SBOM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внешняя экспертная оценка Сколково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1188720"/>
            <a:ext cx="3154680" cy="425196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87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В работе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адаптеры под датасет заказчика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единая схема события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граф, таймлайн, карточки сущностей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журнал находок и пакет реагирования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методика подсчёта −30%</a:t>
            </a:r>
          </a:p>
          <a:p>
            <a:r>
              <a:rPr sz="1380" b="0">
                <a:solidFill>
                  <a:srgbClr val="E2E8EC"/>
                </a:solidFill>
                <a:latin typeface="Arial"/>
              </a:rPr>
              <a:t>• описание демонстрационного сценария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188720"/>
            <a:ext cx="3154680" cy="4251960"/>
          </a:xfrm>
          <a:prstGeom prst="roundRect">
            <a:avLst/>
          </a:prstGeom>
          <a:solidFill>
            <a:srgbClr val="0E272E"/>
          </a:solidFill>
          <a:ln w="13970">
            <a:solidFill>
              <a:srgbClr val="7DD0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rmAutofit/>
          </a:bodyPr>
          <a:lstStyle/>
          <a:p>
            <a:pPr algn="ctr"/>
            <a:r>
              <a:rPr sz="1700" b="1">
                <a:solidFill>
                  <a:srgbClr val="F1A254"/>
                </a:solidFill>
                <a:latin typeface="Arial"/>
              </a:rPr>
              <a:t>До финала программы</a:t>
            </a:r>
          </a:p>
          <a:p>
            <a:r>
              <a:rPr sz="1360" b="0">
                <a:solidFill>
                  <a:srgbClr val="E2E8EC"/>
                </a:solidFill>
                <a:latin typeface="Arial"/>
              </a:rPr>
              <a:t>• получить структуру единого хранилища</a:t>
            </a:r>
          </a:p>
          <a:p>
            <a:r>
              <a:rPr sz="1360" b="0">
                <a:solidFill>
                  <a:srgbClr val="E2E8EC"/>
                </a:solidFill>
                <a:latin typeface="Arial"/>
              </a:rPr>
              <a:t>• зафиксировать baseline с заказчиком</a:t>
            </a:r>
          </a:p>
          <a:p>
            <a:r>
              <a:rPr sz="1360" b="0">
                <a:solidFill>
                  <a:srgbClr val="E2E8EC"/>
                </a:solidFill>
                <a:latin typeface="Arial"/>
              </a:rPr>
              <a:t>• провести воспроизводимый прогон</a:t>
            </a:r>
          </a:p>
          <a:p>
            <a:r>
              <a:rPr sz="1360" b="0">
                <a:solidFill>
                  <a:srgbClr val="E2E8EC"/>
                </a:solidFill>
                <a:latin typeface="Arial"/>
              </a:rPr>
              <a:t>• снять время, клики и переключения</a:t>
            </a:r>
          </a:p>
          <a:p>
            <a:r>
              <a:rPr sz="1360" b="0">
                <a:solidFill>
                  <a:srgbClr val="E2E8EC"/>
                </a:solidFill>
                <a:latin typeface="Arial"/>
              </a:rPr>
              <a:t>• подготовить руководство пользователя</a:t>
            </a:r>
          </a:p>
          <a:p>
            <a:r>
              <a:rPr sz="1360" b="0">
                <a:solidFill>
                  <a:srgbClr val="E2E8EC"/>
                </a:solidFill>
                <a:latin typeface="Arial"/>
              </a:rPr>
              <a:t>• оформить финальное демо и отчёт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87568"/>
            <a:ext cx="1005840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normAutofit/>
          </a:bodyPr>
          <a:lstStyle/>
          <a:p>
            <a:pPr>
              <a:defRPr sz="1080" b="0">
                <a:solidFill>
                  <a:srgbClr val="B9CDD6"/>
                </a:solidFill>
                <a:latin typeface="Arial"/>
              </a:defRPr>
            </a:pPr>
            <a:r>
              <a:rPr sz="1200" b="0">
                <a:solidFill>
                  <a:srgbClr val="BEC6CC"/>
                </a:solidFill>
                <a:latin typeface="Arial"/>
              </a:rPr>
              <a:t>Фокус защиты: работающий MVP на данных заказчика, а не обещание «ещё одного ИИ». Один кейс должен повторно запускаться и давать те же метрики.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R7-Office/2024.1.1.375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Сивидов Иван Алексеевич</dc:creator>
  <cp:keywords/>
  <dc:description/>
  <dc:identifier/>
  <dc:language/>
  <cp:lastModifiedBy>Александр Таймаскин</cp:lastModifiedBy>
  <cp:revision>21</cp:revision>
  <dcterms:created xsi:type="dcterms:W3CDTF">2026-07-14T11:02:14Z</dcterms:created>
  <dcterms:modified xsi:type="dcterms:W3CDTF">2026-07-17T11:33:52Z</dcterms:modified>
  <cp:category/>
  <cp:contentStatus/>
  <cp:version/>
</cp:coreProperties>
</file>