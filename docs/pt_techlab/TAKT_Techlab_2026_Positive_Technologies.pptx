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ТАКТ не конкурирует с автоматикой, а продолжает её работу. Пользователь — вторая линия, не первая.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тезис встречи с заказчиком: показать то, в чём не смог разобраться автоматический контур.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Профильный для заказчика сценарий: атака на цепочку поставки сборки, а не на промышленный объект.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Числа получены прогоном на фикстуре и закреплены регрессионными тестами, а не оценены.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554480"/>
            <a:ext cx="5669280" cy="5669280"/>
          </a:xfrm>
          <a:prstGeom prst="ellipse">
            <a:avLst/>
          </a:prstGeom>
          <a:ln w="15240">
            <a:solidFill>
              <a:srgbClr val="232B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1051560"/>
            <a:ext cx="1005840" cy="1005840"/>
          </a:xfrm>
          <a:prstGeom prst="ellipse">
            <a:avLst/>
          </a:prstGeom>
          <a:solidFill>
            <a:srgbClr val="252D3A"/>
          </a:solidFill>
          <a:ln/>
        </p:spPr>
      </p:sp>
      <p:pic>
        <p:nvPicPr>
          <p:cNvPr id="4" name="Image 0" descr="C:\Temp\claude\D--TAKT-takt-industrial-risk-layer\76bd38bc-cd27-4937-a7e8-fe9e7fab95d0\scratchpad\pptx\icons\crosshair_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7118" y="13130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82296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E32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TECHNOLOGIES · ТЕХЛАБ 2026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1463040"/>
            <a:ext cx="9326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ТАКТ — разбор там, где остановилась автоматика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685800" y="320040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9D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Рабочее место опытного аналитика: инцидент приходит после отработки ML-контура, ТАКТ доводит разбор до вердикта, выводов и вариантов реагирования.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85800" y="4297680"/>
            <a:ext cx="5394960" cy="566928"/>
          </a:xfrm>
          <a:prstGeom prst="roundRect">
            <a:avLst>
              <a:gd name="adj" fmla="val 50000"/>
            </a:avLst>
          </a:prstGeom>
          <a:solidFill>
            <a:srgbClr val="252D3A"/>
          </a:solidFill>
          <a:ln w="12700">
            <a:solidFill>
              <a:srgbClr val="313B4C"/>
            </a:solidFill>
            <a:prstDash val="solid"/>
          </a:ln>
        </p:spPr>
      </p:sp>
      <p:pic>
        <p:nvPicPr>
          <p:cNvPr id="9" name="Image 1" descr="C:\Temp\claude\D--TAKT-takt-industrial-risk-layer\76bd38bc-cd27-4937-a7e8-fe9e7fab95d0\scratchpad\pptx\icons\award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434840"/>
            <a:ext cx="292608" cy="2926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98448" y="4297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Платформа ТАКТ одобрена экспертами Фонда «Сколково»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685800" y="5486400"/>
            <a:ext cx="3520440" cy="777240"/>
          </a:xfrm>
          <a:prstGeom prst="roundRect">
            <a:avLst>
              <a:gd name="adj" fmla="val 14118"/>
            </a:avLst>
          </a:prstGeom>
          <a:solidFill>
            <a:srgbClr val="1E242E"/>
          </a:solidFill>
          <a:ln w="12700">
            <a:solidFill>
              <a:srgbClr val="313B4C"/>
            </a:solidFill>
            <a:prstDash val="solid"/>
          </a:ln>
        </p:spPr>
      </p:sp>
      <p:pic>
        <p:nvPicPr>
          <p:cNvPr id="12" name="Image 2" descr="C:\Temp\claude\D--TAKT-takt-industrial-risk-layer\76bd38bc-cd27-4937-a7e8-fe9e7fab95d0\scratchpad\pptx\icons\layers_i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724144"/>
            <a:ext cx="301752" cy="3017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07592" y="548640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уровней сущности в одном разборе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4389120" y="5486400"/>
            <a:ext cx="3520440" cy="777240"/>
          </a:xfrm>
          <a:prstGeom prst="roundRect">
            <a:avLst>
              <a:gd name="adj" fmla="val 14118"/>
            </a:avLst>
          </a:prstGeom>
          <a:solidFill>
            <a:srgbClr val="1E242E"/>
          </a:solidFill>
          <a:ln w="12700">
            <a:solidFill>
              <a:srgbClr val="313B4C"/>
            </a:solidFill>
            <a:prstDash val="solid"/>
          </a:ln>
        </p:spPr>
      </p:sp>
      <p:pic>
        <p:nvPicPr>
          <p:cNvPr id="15" name="Image 3" descr="C:\Temp\claude\D--TAKT-takt-industrial-risk-layer\76bd38bc-cd27-4937-a7e8-fe9e7fab95d0\scratchpad\pptx\icons\hash_i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0288" y="5724144"/>
            <a:ext cx="301752" cy="30175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010912" y="548640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Вердикт, выводы и варианты реагирования</a:t>
            </a:r>
            <a:endParaRPr lang="en-US" sz="1050" dirty="0"/>
          </a:p>
        </p:txBody>
      </p:sp>
      <p:sp>
        <p:nvSpPr>
          <p:cNvPr id="17" name="Shape 11"/>
          <p:cNvSpPr/>
          <p:nvPr/>
        </p:nvSpPr>
        <p:spPr>
          <a:xfrm>
            <a:off x="8092440" y="5486400"/>
            <a:ext cx="3520440" cy="777240"/>
          </a:xfrm>
          <a:prstGeom prst="roundRect">
            <a:avLst>
              <a:gd name="adj" fmla="val 14118"/>
            </a:avLst>
          </a:prstGeom>
          <a:solidFill>
            <a:srgbClr val="1E242E"/>
          </a:solidFill>
          <a:ln w="12700">
            <a:solidFill>
              <a:srgbClr val="313B4C"/>
            </a:solidFill>
            <a:prstDash val="solid"/>
          </a:ln>
        </p:spPr>
      </p:sp>
      <p:pic>
        <p:nvPicPr>
          <p:cNvPr id="18" name="Image 4" descr="C:\Temp\claude\D--TAKT-takt-industrial-risk-layer\76bd38bc-cd27-4937-a7e8-fe9e7fab95d0\scratchpad\pptx\icons\clock_ic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3608" y="5724144"/>
            <a:ext cx="301752" cy="30175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714232" y="548640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разбора — измеряемая метрика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2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ЦЕПОЧКЕ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Автоматика закрывает типовое, ТАКТ — остальное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3611880" cy="2651760"/>
          </a:xfrm>
          <a:prstGeom prst="roundRect">
            <a:avLst>
              <a:gd name="adj" fmla="val 4828"/>
            </a:avLst>
          </a:prstGeom>
          <a:solidFill>
            <a:srgbClr val="F2F4F8"/>
          </a:solidFill>
          <a:ln/>
          <a:effectLst>
            <a:outerShdw sx="100000" sy="100000" kx="0" ky="0" algn="bl" rotWithShape="0" blurRad="76200" dist="25400" dir="5400000">
              <a:srgbClr val="1B2028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658368" cy="658368"/>
          </a:xfrm>
          <a:prstGeom prst="ellipse">
            <a:avLst/>
          </a:prstGeom>
          <a:solidFill>
            <a:srgbClr val="3C4A63"/>
          </a:solidFill>
          <a:ln/>
        </p:spPr>
      </p:sp>
      <p:pic>
        <p:nvPicPr>
          <p:cNvPr id="6" name="Image 0" descr="C:\Temp\claude\D--TAKT-takt-industrial-risk-layer\76bd38bc-cd27-4937-a7e8-fe9e7fab95d0\scratchpad\pptx\icons\cpu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416" y="1999976"/>
            <a:ext cx="316017" cy="3160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6974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ML-контур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31089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Закрывает срабатывания, покрытые правилами SIEM: сетевые, аутентификационные, сигнатурные.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 rot="5400000">
            <a:off x="4105656" y="2743200"/>
            <a:ext cx="146304" cy="146304"/>
          </a:xfrm>
          <a:prstGeom prst="triangle">
            <a:avLst/>
          </a:prstGeom>
          <a:solidFill>
            <a:srgbClr val="8B94A3"/>
          </a:solidFill>
          <a:ln/>
        </p:spPr>
      </p:sp>
      <p:sp>
        <p:nvSpPr>
          <p:cNvPr id="10" name="Shape 7"/>
          <p:cNvSpPr/>
          <p:nvPr/>
        </p:nvSpPr>
        <p:spPr>
          <a:xfrm>
            <a:off x="4288536" y="1508760"/>
            <a:ext cx="3611880" cy="2651760"/>
          </a:xfrm>
          <a:prstGeom prst="roundRect">
            <a:avLst>
              <a:gd name="adj" fmla="val 4828"/>
            </a:avLst>
          </a:prstGeom>
          <a:solidFill>
            <a:srgbClr val="F2F4F8"/>
          </a:solidFill>
          <a:ln/>
          <a:effectLst>
            <a:outerShdw sx="100000" sy="100000" kx="0" ky="0" algn="bl" rotWithShape="0" blurRad="76200" dist="25400" dir="5400000">
              <a:srgbClr val="1B2028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08576" y="1828800"/>
            <a:ext cx="658368" cy="658368"/>
          </a:xfrm>
          <a:prstGeom prst="ellipse">
            <a:avLst/>
          </a:prstGeom>
          <a:solidFill>
            <a:srgbClr val="D98E04"/>
          </a:solidFill>
          <a:ln/>
        </p:spPr>
      </p:sp>
      <p:pic>
        <p:nvPicPr>
          <p:cNvPr id="12" name="Image 1" descr="C:\Temp\claude\D--TAKT-takt-industrial-risk-layer\76bd38bc-cd27-4937-a7e8-fe9e7fab95d0\scratchpad\pptx\icons\aler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9752" y="1999976"/>
            <a:ext cx="316017" cy="31601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08576" y="26974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Остаток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608576" y="31089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Признаки вне правил, связь нескольких классов источников, редкие сочетания — вердикта нет.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 rot="5400000">
            <a:off x="7936992" y="2743200"/>
            <a:ext cx="146304" cy="146304"/>
          </a:xfrm>
          <a:prstGeom prst="triangle">
            <a:avLst/>
          </a:prstGeom>
          <a:solidFill>
            <a:srgbClr val="8B94A3"/>
          </a:solidFill>
          <a:ln/>
        </p:spPr>
      </p:sp>
      <p:sp>
        <p:nvSpPr>
          <p:cNvPr id="16" name="Shape 12"/>
          <p:cNvSpPr/>
          <p:nvPr/>
        </p:nvSpPr>
        <p:spPr>
          <a:xfrm>
            <a:off x="8119872" y="1508760"/>
            <a:ext cx="3611880" cy="2651760"/>
          </a:xfrm>
          <a:prstGeom prst="roundRect">
            <a:avLst>
              <a:gd name="adj" fmla="val 4828"/>
            </a:avLst>
          </a:prstGeom>
          <a:solidFill>
            <a:srgbClr val="F2F4F8"/>
          </a:solidFill>
          <a:ln/>
          <a:effectLst>
            <a:outerShdw sx="100000" sy="100000" kx="0" ky="0" algn="bl" rotWithShape="0" blurRad="76200" dist="25400" dir="5400000">
              <a:srgbClr val="1B2028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39912" y="1828800"/>
            <a:ext cx="658368" cy="658368"/>
          </a:xfrm>
          <a:prstGeom prst="ellipse">
            <a:avLst/>
          </a:prstGeom>
          <a:solidFill>
            <a:srgbClr val="E3273A"/>
          </a:solidFill>
          <a:ln/>
        </p:spPr>
      </p:sp>
      <p:pic>
        <p:nvPicPr>
          <p:cNvPr id="18" name="Image 2" descr="C:\Temp\claude\D--TAKT-takt-industrial-risk-layer\76bd38bc-cd27-4937-a7e8-fe9e7fab95d0\scratchpad\pptx\icons\search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1088" y="1999976"/>
            <a:ext cx="316017" cy="31601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39912" y="26974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ТАКТ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439912" y="31089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Гипотеза, переход по уровням сущности, вердикт с выводами и варианты реагирования.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57200" y="4434840"/>
            <a:ext cx="11274552" cy="960120"/>
          </a:xfrm>
          <a:prstGeom prst="roundRect">
            <a:avLst>
              <a:gd name="adj" fmla="val 11429"/>
            </a:avLst>
          </a:prstGeom>
          <a:solidFill>
            <a:srgbClr val="14181F"/>
          </a:solidFill>
          <a:ln/>
        </p:spPr>
      </p:sp>
      <p:pic>
        <p:nvPicPr>
          <p:cNvPr id="22" name="Image 3" descr="C:\Temp\claude\D--TAKT-takt-industrial-risk-layer\76bd38bc-cd27-4937-a7e8-fe9e7fab95d0\scratchpad\pptx\icons\user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736592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325880" y="4434840"/>
            <a:ext cx="10149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 — опытный аналитик.  </a:t>
            </a:r>
            <a:pPr indent="0" marL="0">
              <a:buNone/>
            </a:pPr>
            <a:r>
              <a:rPr lang="en-US" sz="1150" dirty="0">
                <a:solidFill>
                  <a:srgbClr val="C9D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первая линия: к нему попадает то, что автоматика не свела в вердикт. Интерфейс рассчитан на разбор сложного случая, а не на поток однотипных алертов.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457200" y="5623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Ограничение автоматики, которое занимает ТАКТ: ИИ-помощник в SOC ускоряет работу, но опирается на данные SIEM и ограниченный набор правил.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ТАКТ · разбор инцидента после автоматики · Техлаб 2026</a:t>
            </a:r>
            <a:endParaRPr lang="en-US" sz="800" dirty="0"/>
          </a:p>
        </p:txBody>
      </p:sp>
      <p:sp>
        <p:nvSpPr>
          <p:cNvPr id="26" name="Text 20"/>
          <p:cNvSpPr/>
          <p:nvPr/>
        </p:nvSpPr>
        <p:spPr>
          <a:xfrm>
            <a:off x="11338560" y="6510528"/>
            <a:ext cx="393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2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ДЕМОНСТРАЦИОННЫЙ СЦЕНАРИЙ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INC-002 · компрометация конвейера сборки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275588" y="1600200"/>
            <a:ext cx="603504" cy="603504"/>
          </a:xfrm>
          <a:prstGeom prst="ellipse">
            <a:avLst/>
          </a:prstGeom>
          <a:solidFill>
            <a:srgbClr val="3C4A63"/>
          </a:solidFill>
          <a:ln/>
        </p:spPr>
      </p:sp>
      <p:pic>
        <p:nvPicPr>
          <p:cNvPr id="5" name="Image 0" descr="C:\Temp\claude\D--TAKT-takt-industrial-risk-layer\76bd38bc-cd27-4937-a7e8-fe9e7fab95d0\scratchpad\pptx\icons\messag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99" y="1757111"/>
            <a:ext cx="289682" cy="28968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2331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Фишинг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2920" y="2670048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OUTLOOK → mshta → powershell → invoice_viewer.exe на ws-17 (smirnov)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1961388" y="1901952"/>
            <a:ext cx="1170432" cy="0"/>
          </a:xfrm>
          <a:prstGeom prst="line">
            <a:avLst/>
          </a:prstGeom>
          <a:noFill/>
          <a:ln w="19050">
            <a:solidFill>
              <a:srgbClr val="8B94A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5400000">
            <a:off x="3076956" y="1847088"/>
            <a:ext cx="109728" cy="109728"/>
          </a:xfrm>
          <a:prstGeom prst="triangle">
            <a:avLst/>
          </a:prstGeom>
          <a:solidFill>
            <a:srgbClr val="8B94A3"/>
          </a:solidFill>
          <a:ln/>
        </p:spPr>
      </p:sp>
      <p:sp>
        <p:nvSpPr>
          <p:cNvPr id="10" name="Shape 7"/>
          <p:cNvSpPr/>
          <p:nvPr/>
        </p:nvSpPr>
        <p:spPr>
          <a:xfrm>
            <a:off x="3589020" y="1600200"/>
            <a:ext cx="603504" cy="603504"/>
          </a:xfrm>
          <a:prstGeom prst="ellipse">
            <a:avLst/>
          </a:prstGeom>
          <a:solidFill>
            <a:srgbClr val="3C4A63"/>
          </a:solidFill>
          <a:ln/>
        </p:spPr>
      </p:sp>
      <p:pic>
        <p:nvPicPr>
          <p:cNvPr id="11" name="Image 1" descr="C:\Temp\claude\D--TAKT-takt-industrial-risk-layer\76bd38bc-cd27-4937-a7e8-fe9e7fab95d0\scratchpad\pptx\icons\glob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5931" y="1757111"/>
            <a:ext cx="289682" cy="2896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816352" y="2331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 C2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816352" y="2670048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сессий DoH к cdn-metrics.example-analytics.com; SIEM видит одно слабое срабатывание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274820" y="1901952"/>
            <a:ext cx="1170432" cy="0"/>
          </a:xfrm>
          <a:prstGeom prst="line">
            <a:avLst/>
          </a:prstGeom>
          <a:noFill/>
          <a:ln w="19050">
            <a:solidFill>
              <a:srgbClr val="8B94A3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5390388" y="1847088"/>
            <a:ext cx="109728" cy="109728"/>
          </a:xfrm>
          <a:prstGeom prst="triangle">
            <a:avLst/>
          </a:prstGeom>
          <a:solidFill>
            <a:srgbClr val="8B94A3"/>
          </a:solidFill>
          <a:ln/>
        </p:spPr>
      </p:sp>
      <p:sp>
        <p:nvSpPr>
          <p:cNvPr id="16" name="Shape 12"/>
          <p:cNvSpPr/>
          <p:nvPr/>
        </p:nvSpPr>
        <p:spPr>
          <a:xfrm>
            <a:off x="5902452" y="1600200"/>
            <a:ext cx="603504" cy="603504"/>
          </a:xfrm>
          <a:prstGeom prst="ellipse">
            <a:avLst/>
          </a:prstGeom>
          <a:solidFill>
            <a:srgbClr val="3C4A63"/>
          </a:solidFill>
          <a:ln/>
        </p:spPr>
      </p:sp>
      <p:pic>
        <p:nvPicPr>
          <p:cNvPr id="17" name="Image 2" descr="C:\Temp\claude\D--TAKT-takt-industrial-risk-layer\76bd38bc-cd27-4937-a7e8-fe9e7fab95d0\scratchpad\pptx\icons\key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363" y="1757111"/>
            <a:ext cx="289682" cy="28968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129784" y="2331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Kerberoasting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5129784" y="2670048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Запросы билетов по трём SPN, захват сервисной учётной записи svc_build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6588252" y="1901952"/>
            <a:ext cx="1170432" cy="0"/>
          </a:xfrm>
          <a:prstGeom prst="line">
            <a:avLst/>
          </a:prstGeom>
          <a:noFill/>
          <a:ln w="19050">
            <a:solidFill>
              <a:srgbClr val="8B94A3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 rot="5400000">
            <a:off x="7703820" y="1847088"/>
            <a:ext cx="109728" cy="109728"/>
          </a:xfrm>
          <a:prstGeom prst="triangle">
            <a:avLst/>
          </a:prstGeom>
          <a:solidFill>
            <a:srgbClr val="8B94A3"/>
          </a:solidFill>
          <a:ln/>
        </p:spPr>
      </p:sp>
      <p:sp>
        <p:nvSpPr>
          <p:cNvPr id="22" name="Shape 17"/>
          <p:cNvSpPr/>
          <p:nvPr/>
        </p:nvSpPr>
        <p:spPr>
          <a:xfrm>
            <a:off x="8215884" y="1600200"/>
            <a:ext cx="603504" cy="603504"/>
          </a:xfrm>
          <a:prstGeom prst="ellipse">
            <a:avLst/>
          </a:prstGeom>
          <a:solidFill>
            <a:srgbClr val="3C4A63"/>
          </a:solidFill>
          <a:ln/>
        </p:spPr>
      </p:sp>
      <p:pic>
        <p:nvPicPr>
          <p:cNvPr id="23" name="Image 3" descr="C:\Temp\claude\D--TAKT-takt-industrial-risk-layer\76bd38bc-cd27-4937-a7e8-fe9e7fab95d0\scratchpad\pptx\icons\shar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795" y="1757111"/>
            <a:ext cx="289682" cy="28968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443216" y="2331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Перемещение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7443216" y="2670048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и WMI на build-srv-01 под захваченной учётной записью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8901684" y="1901952"/>
            <a:ext cx="1170432" cy="0"/>
          </a:xfrm>
          <a:prstGeom prst="line">
            <a:avLst/>
          </a:prstGeom>
          <a:noFill/>
          <a:ln w="19050">
            <a:solidFill>
              <a:srgbClr val="8B94A3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 rot="5400000">
            <a:off x="10017252" y="1847088"/>
            <a:ext cx="109728" cy="109728"/>
          </a:xfrm>
          <a:prstGeom prst="triangle">
            <a:avLst/>
          </a:prstGeom>
          <a:solidFill>
            <a:srgbClr val="8B94A3"/>
          </a:solidFill>
          <a:ln/>
        </p:spPr>
      </p:sp>
      <p:sp>
        <p:nvSpPr>
          <p:cNvPr id="28" name="Shape 22"/>
          <p:cNvSpPr/>
          <p:nvPr/>
        </p:nvSpPr>
        <p:spPr>
          <a:xfrm>
            <a:off x="10529316" y="1600200"/>
            <a:ext cx="603504" cy="603504"/>
          </a:xfrm>
          <a:prstGeom prst="ellipse">
            <a:avLst/>
          </a:prstGeom>
          <a:solidFill>
            <a:srgbClr val="E3273A"/>
          </a:solidFill>
          <a:ln/>
        </p:spPr>
      </p:sp>
      <p:pic>
        <p:nvPicPr>
          <p:cNvPr id="29" name="Image 4" descr="C:\Temp\claude\D--TAKT-takt-industrial-risk-layer\76bd38bc-cd27-4937-a7e8-fe9e7fab95d0\scratchpad\pptx\icons\pkg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86227" y="1757111"/>
            <a:ext cx="289682" cy="289682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9756648" y="2331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Подмена сборки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9756648" y="2670048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Неподписанный артефакт и запись в релизный конвейер release-prod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457200" y="397764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F2F4F8"/>
          </a:solidFill>
          <a:ln/>
        </p:spPr>
      </p:sp>
      <p:sp>
        <p:nvSpPr>
          <p:cNvPr id="33" name="Text 26"/>
          <p:cNvSpPr/>
          <p:nvPr/>
        </p:nvSpPr>
        <p:spPr>
          <a:xfrm>
            <a:off x="457200" y="4114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32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1030</a:t>
            </a:r>
            <a:endParaRPr lang="en-US" sz="3000" dirty="0"/>
          </a:p>
        </p:txBody>
      </p:sp>
      <p:sp>
        <p:nvSpPr>
          <p:cNvPr id="34" name="Text 27"/>
          <p:cNvSpPr/>
          <p:nvPr/>
        </p:nvSpPr>
        <p:spPr>
          <a:xfrm>
            <a:off x="457200" y="4617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событий в потоке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3319272" y="397764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F2F4F8"/>
          </a:solidFill>
          <a:ln/>
        </p:spPr>
      </p:sp>
      <p:sp>
        <p:nvSpPr>
          <p:cNvPr id="36" name="Text 29"/>
          <p:cNvSpPr/>
          <p:nvPr/>
        </p:nvSpPr>
        <p:spPr>
          <a:xfrm>
            <a:off x="3319272" y="4114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32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3000" dirty="0"/>
          </a:p>
        </p:txBody>
      </p:sp>
      <p:sp>
        <p:nvSpPr>
          <p:cNvPr id="37" name="Text 30"/>
          <p:cNvSpPr/>
          <p:nvPr/>
        </p:nvSpPr>
        <p:spPr>
          <a:xfrm>
            <a:off x="3319272" y="4617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событий цепочки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6181344" y="397764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F2F4F8"/>
          </a:solidFill>
          <a:ln/>
        </p:spPr>
      </p:sp>
      <p:sp>
        <p:nvSpPr>
          <p:cNvPr id="39" name="Text 32"/>
          <p:cNvSpPr/>
          <p:nvPr/>
        </p:nvSpPr>
        <p:spPr>
          <a:xfrm>
            <a:off x="6181344" y="4114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32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40" name="Text 33"/>
          <p:cNvSpPr/>
          <p:nvPr/>
        </p:nvSpPr>
        <p:spPr>
          <a:xfrm>
            <a:off x="6181344" y="4617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класса источников</a:t>
            </a:r>
            <a:endParaRPr lang="en-US" sz="1000" dirty="0"/>
          </a:p>
        </p:txBody>
      </p:sp>
      <p:sp>
        <p:nvSpPr>
          <p:cNvPr id="41" name="Shape 34"/>
          <p:cNvSpPr/>
          <p:nvPr/>
        </p:nvSpPr>
        <p:spPr>
          <a:xfrm>
            <a:off x="9043416" y="397764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F2F4F8"/>
          </a:solidFill>
          <a:ln/>
        </p:spPr>
      </p:sp>
      <p:sp>
        <p:nvSpPr>
          <p:cNvPr id="42" name="Text 35"/>
          <p:cNvSpPr/>
          <p:nvPr/>
        </p:nvSpPr>
        <p:spPr>
          <a:xfrm>
            <a:off x="9043416" y="4114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32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43" name="Text 36"/>
          <p:cNvSpPr/>
          <p:nvPr/>
        </p:nvSpPr>
        <p:spPr>
          <a:xfrm>
            <a:off x="9043416" y="4617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отвлекающие аномалии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457200" y="5257800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F2F4F8"/>
          </a:solidFill>
          <a:ln/>
        </p:spPr>
      </p:sp>
      <p:pic>
        <p:nvPicPr>
          <p:cNvPr id="45" name="Image 5" descr="C:\Temp\claude\D--TAKT-takt-industrial-risk-layer\76bd38bc-cd27-4937-a7e8-fe9e7fab95d0\scratchpad\pptx\icons\eye_sla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532120"/>
            <a:ext cx="310896" cy="310896"/>
          </a:xfrm>
          <a:prstGeom prst="rect">
            <a:avLst/>
          </a:prstGeom>
        </p:spPr>
      </p:pic>
      <p:sp>
        <p:nvSpPr>
          <p:cNvPr id="46" name="Text 38"/>
          <p:cNvSpPr/>
          <p:nvPr/>
        </p:nvSpPr>
        <p:spPr>
          <a:xfrm>
            <a:off x="1143000" y="52578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на ложные срабатывания.  </a:t>
            </a:r>
            <a:pPr indent="0" marL="0">
              <a:buNone/>
            </a:pPr>
            <a:r>
              <a:rPr lang="en-US" sz="105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поток намеренно добавлены три сценария, внешне похожих на атаку: администратор вне рабочего окна, санкционированный сканер уязвимостей и ночное резервное копирование.</a:t>
            </a:r>
            <a:endParaRPr lang="en-US" sz="1050" dirty="0"/>
          </a:p>
        </p:txBody>
      </p:sp>
      <p:sp>
        <p:nvSpPr>
          <p:cNvPr id="47" name="Text 39"/>
          <p:cNvSpPr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ТАКТ · разбор инцидента после автоматики · Техлаб 2026</a:t>
            </a:r>
            <a:endParaRPr lang="en-US" sz="800" dirty="0"/>
          </a:p>
        </p:txBody>
      </p:sp>
      <p:sp>
        <p:nvSpPr>
          <p:cNvPr id="48" name="Text 40"/>
          <p:cNvSpPr/>
          <p:nvPr/>
        </p:nvSpPr>
        <p:spPr>
          <a:xfrm>
            <a:off x="11338560" y="6510528"/>
            <a:ext cx="393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2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РАБОЧЕЕ МЕСТО ·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Разбор в одном окне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11480" y="1325880"/>
            <a:ext cx="7955280" cy="4761179"/>
          </a:xfrm>
          <a:prstGeom prst="roundRect">
            <a:avLst>
              <a:gd name="adj" fmla="val 1152"/>
            </a:avLst>
          </a:prstGeom>
          <a:solidFill>
            <a:srgbClr val="313B4C"/>
          </a:solidFill>
          <a:ln/>
        </p:spPr>
      </p:sp>
      <p:pic>
        <p:nvPicPr>
          <p:cNvPr id="5" name="Image 0" descr="C:\Temp\claude\D--TAKT-takt-industrial-risk-layer\76bd38bc-cd27-4937-a7e8-fe9e7fab95d0\scratchpad\pptx\02-investig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863840" cy="466973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95360" y="1600200"/>
            <a:ext cx="420624" cy="420624"/>
          </a:xfrm>
          <a:prstGeom prst="ellipse">
            <a:avLst/>
          </a:prstGeom>
          <a:solidFill>
            <a:srgbClr val="F2F4F8"/>
          </a:solidFill>
          <a:ln/>
        </p:spPr>
      </p:sp>
      <p:pic>
        <p:nvPicPr>
          <p:cNvPr id="7" name="Image 1" descr="C:\Temp\claude\D--TAKT-takt-industrial-risk-layer\76bd38bc-cd27-4937-a7e8-fe9e7fab95d0\scratchpad\pptx\icons\cpu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4722" y="1709562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0" y="157276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Принято от автоматики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9144000" y="1892808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Сколько признаков закрыли правила и что осталось аналитику — с причинами.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8595360" y="3200400"/>
            <a:ext cx="420624" cy="420624"/>
          </a:xfrm>
          <a:prstGeom prst="ellipse">
            <a:avLst/>
          </a:prstGeom>
          <a:solidFill>
            <a:srgbClr val="F2F4F8"/>
          </a:solidFill>
          <a:ln/>
        </p:spPr>
      </p:sp>
      <p:pic>
        <p:nvPicPr>
          <p:cNvPr id="11" name="Image 2" descr="C:\Temp\claude\D--TAKT-takt-industrial-risk-layer\76bd38bc-cd27-4937-a7e8-fe9e7fab95d0\scratchpad\pptx\icons\compass_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4722" y="3309762"/>
            <a:ext cx="201900" cy="2019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144000" y="317296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Гипотеза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9144000" y="3493008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Формулировка с точкой входа и целью, основания в данных.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8595360" y="4800600"/>
            <a:ext cx="420624" cy="420624"/>
          </a:xfrm>
          <a:prstGeom prst="ellipse">
            <a:avLst/>
          </a:prstGeom>
          <a:solidFill>
            <a:srgbClr val="F2F4F8"/>
          </a:solidFill>
          <a:ln/>
        </p:spPr>
      </p:sp>
      <p:pic>
        <p:nvPicPr>
          <p:cNvPr id="15" name="Image 3" descr="C:\Temp\claude\D--TAKT-takt-industrial-risk-layer\76bd38bc-cd27-4937-a7e8-fe9e7fab95d0\scratchpad\pptx\icons\branch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4722" y="4909962"/>
            <a:ext cx="201900" cy="2019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144000" y="477316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Граф и цепочка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9144000" y="5093208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сущностей, связанных корреляцией: от письма до релизного конвейера.</a:t>
            </a:r>
            <a:endParaRPr lang="en-US" sz="950" dirty="0"/>
          </a:p>
        </p:txBody>
      </p:sp>
      <p:sp>
        <p:nvSpPr>
          <p:cNvPr id="18" name="Text 12"/>
          <p:cNvSpPr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ТАКТ · разбор инцидента после автоматики · Техлаб 2026</a:t>
            </a:r>
            <a:endParaRPr lang="en-US" sz="800" dirty="0"/>
          </a:p>
        </p:txBody>
      </p:sp>
      <p:sp>
        <p:nvSpPr>
          <p:cNvPr id="19" name="Text 13"/>
          <p:cNvSpPr/>
          <p:nvPr/>
        </p:nvSpPr>
        <p:spPr>
          <a:xfrm>
            <a:off x="11338560" y="6510528"/>
            <a:ext cx="393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2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СОБИРАЕТСЯ ИНЦИДЕНТ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шага: точное ядро, затем решение аналитика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40680" cy="2926080"/>
          </a:xfrm>
          <a:prstGeom prst="roundRect">
            <a:avLst>
              <a:gd name="adj" fmla="val 4375"/>
            </a:avLst>
          </a:prstGeom>
          <a:solidFill>
            <a:srgbClr val="F2F4F8"/>
          </a:solidFill>
          <a:ln/>
          <a:effectLst>
            <a:outerShdw sx="100000" sy="100000" kx="0" ky="0" algn="bl" rotWithShape="0" blurRad="76200" dist="25400" dir="5400000">
              <a:srgbClr val="1B2028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37360"/>
            <a:ext cx="566928" cy="566928"/>
          </a:xfrm>
          <a:prstGeom prst="ellipse">
            <a:avLst/>
          </a:prstGeom>
          <a:solidFill>
            <a:srgbClr val="2E9E6B"/>
          </a:solidFill>
          <a:ln/>
        </p:spPr>
      </p:sp>
      <p:pic>
        <p:nvPicPr>
          <p:cNvPr id="6" name="Image 0" descr="C:\Temp\claude\D--TAKT-takt-industrial-risk-layer\76bd38bc-cd27-4937-a7e8-fe9e7fab95d0\scratchpad\pptx\icons\targe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1884761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830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 1 — отличительные сущности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" y="242316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Захваченные учётные записи, адрес C2, объекты релизного конвейера в фоне не встречаются.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из 27 событий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77240" y="370332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 одного ложного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63640" y="1463040"/>
            <a:ext cx="5440680" cy="2926080"/>
          </a:xfrm>
          <a:prstGeom prst="roundRect">
            <a:avLst>
              <a:gd name="adj" fmla="val 4375"/>
            </a:avLst>
          </a:prstGeom>
          <a:solidFill>
            <a:srgbClr val="F2F4F8"/>
          </a:solidFill>
          <a:ln/>
          <a:effectLst>
            <a:outerShdw sx="100000" sy="100000" kx="0" ky="0" algn="bl" rotWithShape="0" blurRad="76200" dist="25400" dir="5400000">
              <a:srgbClr val="1B2028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83680" y="1737360"/>
            <a:ext cx="566928" cy="566928"/>
          </a:xfrm>
          <a:prstGeom prst="ellipse">
            <a:avLst/>
          </a:prstGeom>
          <a:solidFill>
            <a:srgbClr val="D98E04"/>
          </a:solidFill>
          <a:ln/>
        </p:spPr>
      </p:sp>
      <p:pic>
        <p:nvPicPr>
          <p:cNvPr id="13" name="Image 1" descr="C:\Temp\claude\D--TAKT-takt-industrial-risk-layer\76bd38bc-cd27-4937-a7e8-fe9e7fab95d0\scratchpad\pptx\icons\pointer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1081" y="1884761"/>
            <a:ext cx="272125" cy="27212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315200" y="17830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 2 — переход на уровень узла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6583680" y="242316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сетевых потока отличительных признаков не несут: те же узлы и адреса есть в фоновом трафике.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583680" y="32004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из 27 событий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6583680" y="370332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фон отсеивает аналитик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57200" y="4663440"/>
            <a:ext cx="11274552" cy="1371600"/>
          </a:xfrm>
          <a:prstGeom prst="roundRect">
            <a:avLst>
              <a:gd name="adj" fmla="val 8000"/>
            </a:avLst>
          </a:prstGeom>
          <a:solidFill>
            <a:srgbClr val="14181F"/>
          </a:solidFill>
          <a:ln/>
        </p:spPr>
      </p:sp>
      <p:pic>
        <p:nvPicPr>
          <p:cNvPr id="19" name="Image 2" descr="C:\Temp\claude\D--TAKT-takt-industrial-risk-layer\76bd38bc-cd27-4937-a7e8-fe9e7fab95d0\scratchpad\pptx\icons\shield_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120640"/>
            <a:ext cx="384048" cy="38404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25880" y="466344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Отвлекающие сценарии не попадают в инцидент ни на одном шаге.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Администратор вне рабочего окна, сканер уязвимостей и ночной бэкап остаются отдельными кейсами с вердиктом «требует проверки» — это и есть проверка на ложные срабатывания. Разделение на два шага не техническое ограничение, а суть работы: автоматика собирает надёжное ядро, расширение до уровня сущности остаётся решением человека.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ТАКТ · разбор инцидента после автоматики · Техлаб 2026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11338560" y="6510528"/>
            <a:ext cx="393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2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РАБОЧЕЕ МЕСТО · 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Хронология и переход по уровням сущности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11480" y="1325880"/>
            <a:ext cx="7955280" cy="4761179"/>
          </a:xfrm>
          <a:prstGeom prst="roundRect">
            <a:avLst>
              <a:gd name="adj" fmla="val 1152"/>
            </a:avLst>
          </a:prstGeom>
          <a:solidFill>
            <a:srgbClr val="313B4C"/>
          </a:solidFill>
          <a:ln/>
        </p:spPr>
      </p:sp>
      <p:pic>
        <p:nvPicPr>
          <p:cNvPr id="5" name="Image 0" descr="C:\Temp\claude\D--TAKT-takt-industrial-risk-layer\76bd38bc-cd27-4937-a7e8-fe9e7fab95d0\scratchpad\pptx\03-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863840" cy="466973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95360" y="1600200"/>
            <a:ext cx="420624" cy="420624"/>
          </a:xfrm>
          <a:prstGeom prst="ellipse">
            <a:avLst/>
          </a:prstGeom>
          <a:solidFill>
            <a:srgbClr val="F2F4F8"/>
          </a:solidFill>
          <a:ln/>
        </p:spPr>
      </p:sp>
      <p:pic>
        <p:nvPicPr>
          <p:cNvPr id="7" name="Image 1" descr="C:\Temp\claude\D--TAKT-takt-industrial-risk-layer\76bd38bc-cd27-4937-a7e8-fe9e7fab95d0\scratchpad\pptx\icons\clock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4722" y="1709562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0" y="157276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Таймлайн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9144000" y="1892808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27 событий по времени, с источником и уровнем важности.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8595360" y="3200400"/>
            <a:ext cx="420624" cy="420624"/>
          </a:xfrm>
          <a:prstGeom prst="ellipse">
            <a:avLst/>
          </a:prstGeom>
          <a:solidFill>
            <a:srgbClr val="F2F4F8"/>
          </a:solidFill>
          <a:ln/>
        </p:spPr>
      </p:sp>
      <p:pic>
        <p:nvPicPr>
          <p:cNvPr id="11" name="Image 2" descr="C:\Temp\claude\D--TAKT-takt-industrial-risk-layer\76bd38bc-cd27-4937-a7e8-fe9e7fab95d0\scratchpad\pptx\icons\layers_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4722" y="3309762"/>
            <a:ext cx="201900" cy="2019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144000" y="317296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уровней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9144000" y="3493008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Адрес → узел → учётная запись → процесс → артефакт: переход открывает сущность и её baseline.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8595360" y="4800600"/>
            <a:ext cx="420624" cy="420624"/>
          </a:xfrm>
          <a:prstGeom prst="ellipse">
            <a:avLst/>
          </a:prstGeom>
          <a:solidFill>
            <a:srgbClr val="F2F4F8"/>
          </a:solidFill>
          <a:ln/>
        </p:spPr>
      </p:sp>
      <p:pic>
        <p:nvPicPr>
          <p:cNvPr id="15" name="Image 3" descr="C:\Temp\claude\D--TAKT-takt-industrial-risk-layer\76bd38bc-cd27-4937-a7e8-fe9e7fab95d0\scratchpad\pptx\icons\activity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4722" y="4909962"/>
            <a:ext cx="201900" cy="2019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144000" y="477316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разбора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9144000" y="5093208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Счётчик идёт с момента приёма инцидента — это метрика заказчика.</a:t>
            </a:r>
            <a:endParaRPr lang="en-US" sz="950" dirty="0"/>
          </a:p>
        </p:txBody>
      </p:sp>
      <p:sp>
        <p:nvSpPr>
          <p:cNvPr id="18" name="Text 12"/>
          <p:cNvSpPr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ТАКТ · разбор инцидента после автоматики · Техлаб 2026</a:t>
            </a:r>
            <a:endParaRPr lang="en-US" sz="800" dirty="0"/>
          </a:p>
        </p:txBody>
      </p:sp>
      <p:sp>
        <p:nvSpPr>
          <p:cNvPr id="19" name="Text 13"/>
          <p:cNvSpPr/>
          <p:nvPr/>
        </p:nvSpPr>
        <p:spPr>
          <a:xfrm>
            <a:off x="11338560" y="6510528"/>
            <a:ext cx="393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2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РАБОЧЕЕ МЕСТО · 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Вердикт, выводы и варианты реагирования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11480" y="1325880"/>
            <a:ext cx="7955280" cy="4761179"/>
          </a:xfrm>
          <a:prstGeom prst="roundRect">
            <a:avLst>
              <a:gd name="adj" fmla="val 1152"/>
            </a:avLst>
          </a:prstGeom>
          <a:solidFill>
            <a:srgbClr val="313B4C"/>
          </a:solidFill>
          <a:ln/>
        </p:spPr>
      </p:sp>
      <p:pic>
        <p:nvPicPr>
          <p:cNvPr id="5" name="Image 0" descr="C:\Temp\claude\D--TAKT-takt-industrial-risk-layer\76bd38bc-cd27-4937-a7e8-fe9e7fab95d0\scratchpad\pptx\04-respon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863840" cy="46697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95360" y="1417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2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ВАРИАНТЫ, А НЕ ПРЕДПИСАНИЕ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595360" y="1783080"/>
            <a:ext cx="3136392" cy="731520"/>
          </a:xfrm>
          <a:prstGeom prst="roundRect">
            <a:avLst>
              <a:gd name="adj" fmla="val 10000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/>
          <p:nvPr/>
        </p:nvSpPr>
        <p:spPr>
          <a:xfrm>
            <a:off x="8732520" y="1837944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Изолировать ws-17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732520" y="211226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прерывает цепочку, узел теряет связь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8595360" y="2624328"/>
            <a:ext cx="3136392" cy="731520"/>
          </a:xfrm>
          <a:prstGeom prst="roundRect">
            <a:avLst>
              <a:gd name="adj" fmla="val 10000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/>
          <p:nvPr/>
        </p:nvSpPr>
        <p:spPr>
          <a:xfrm>
            <a:off x="8732520" y="26791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Сбросить svc_build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732520" y="295351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обрывает доступ, может остановить задания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595360" y="3465576"/>
            <a:ext cx="3136392" cy="731520"/>
          </a:xfrm>
          <a:prstGeom prst="roundRect">
            <a:avLst>
              <a:gd name="adj" fmla="val 10000"/>
            </a:avLst>
          </a:prstGeom>
          <a:solidFill>
            <a:srgbClr val="F2F4F8"/>
          </a:solidFill>
          <a:ln/>
        </p:spPr>
      </p:sp>
      <p:sp>
        <p:nvSpPr>
          <p:cNvPr id="14" name="Text 11"/>
          <p:cNvSpPr/>
          <p:nvPr/>
        </p:nvSpPr>
        <p:spPr>
          <a:xfrm>
            <a:off x="8732520" y="35204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Заблокировать 185.220.101.34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732520" y="37947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закрывает канал, не снимает закрепление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595360" y="4306824"/>
            <a:ext cx="3136392" cy="731520"/>
          </a:xfrm>
          <a:prstGeom prst="roundRect">
            <a:avLst>
              <a:gd name="adj" fmla="val 10000"/>
            </a:avLst>
          </a:prstGeom>
          <a:solidFill>
            <a:srgbClr val="F2F4F8"/>
          </a:solidFill>
          <a:ln/>
        </p:spPr>
      </p:sp>
      <p:sp>
        <p:nvSpPr>
          <p:cNvPr id="17" name="Text 14"/>
          <p:cNvSpPr/>
          <p:nvPr/>
        </p:nvSpPr>
        <p:spPr>
          <a:xfrm>
            <a:off x="8732520" y="436168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Заморозить release-prod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732520" y="463600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останавливает выпуск неподписанной сборки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8595360" y="525780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вариант — с последствиями. Критичные действия не выполняются автоматически: решение принимает аналитик, исполняет внешняя система.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ТАКТ · разбор инцидента после автоматики · Техлаб 2026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1338560" y="6510528"/>
            <a:ext cx="393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2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НА ЛОЖНЫЕ СРАБАТЫВАНИЯ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Похожее на атаку — не значит атака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11480" y="1325880"/>
            <a:ext cx="7955280" cy="4761179"/>
          </a:xfrm>
          <a:prstGeom prst="roundRect">
            <a:avLst>
              <a:gd name="adj" fmla="val 1152"/>
            </a:avLst>
          </a:prstGeom>
          <a:solidFill>
            <a:srgbClr val="313B4C"/>
          </a:solidFill>
          <a:ln/>
        </p:spPr>
      </p:sp>
      <p:pic>
        <p:nvPicPr>
          <p:cNvPr id="5" name="Image 0" descr="C:\Temp\claude\D--TAKT-takt-industrial-risk-layer\76bd38bc-cd27-4937-a7e8-fe9e7fab95d0\scratchpad\pptx\06-distra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863840" cy="46697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95360" y="1417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2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ОТВЛЕКАЮЩИЙ СЦЕНАРИЙ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8595360" y="1783080"/>
            <a:ext cx="3136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Удалённое исполнение WMI вне рабочего окна выглядит как горизонтальное перемещение — тот же приём использует атакующий в INC-002.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595360" y="2880360"/>
            <a:ext cx="3136392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/>
        </p:spPr>
      </p:sp>
      <p:sp>
        <p:nvSpPr>
          <p:cNvPr id="9" name="Text 6"/>
          <p:cNvSpPr/>
          <p:nvPr/>
        </p:nvSpPr>
        <p:spPr>
          <a:xfrm>
            <a:off x="8732520" y="292608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Вердикт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732520" y="317296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требует проверки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595360" y="3657600"/>
            <a:ext cx="3136392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/>
        </p:spPr>
      </p:sp>
      <p:sp>
        <p:nvSpPr>
          <p:cNvPr id="12" name="Text 9"/>
          <p:cNvSpPr/>
          <p:nvPr/>
        </p:nvSpPr>
        <p:spPr>
          <a:xfrm>
            <a:off x="8732520" y="370332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Приём от автоматики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732520" y="395020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закрыто правилами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595360" y="4434840"/>
            <a:ext cx="3136392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/>
        </p:spPr>
      </p:sp>
      <p:sp>
        <p:nvSpPr>
          <p:cNvPr id="15" name="Text 12"/>
          <p:cNvSpPr/>
          <p:nvPr/>
        </p:nvSpPr>
        <p:spPr>
          <a:xfrm>
            <a:off x="8732520" y="448056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Варианты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732520" y="472744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подтвердить легитимность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595360" y="5349240"/>
            <a:ext cx="3136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Инцидент и фон разведены без ручной настройки под сценарий: признак — редкость сущности, а не список исключений.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ТАКТ · разбор инцидента после автоматики · Техлаб 2026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338560" y="6510528"/>
            <a:ext cx="393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2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ИНЖЕНЕРНАЯ ЧАСТЬ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Проверяемость вместо обещаний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20624" cy="420624"/>
          </a:xfrm>
          <a:prstGeom prst="ellipse">
            <a:avLst/>
          </a:prstGeom>
          <a:solidFill>
            <a:srgbClr val="F2F4F8"/>
          </a:solidFill>
          <a:ln/>
        </p:spPr>
      </p:sp>
      <p:pic>
        <p:nvPicPr>
          <p:cNvPr id="5" name="Image 0" descr="C:\Temp\claude\D--TAKT-takt-industrial-risk-layer\76bd38bc-cd27-4937-a7e8-fe9e7fab95d0\scratchpad\pptx\icons\checkcircle_sl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562" y="1572402"/>
            <a:ext cx="201900" cy="2019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4128" y="14356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836 автоматических тестов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24128" y="17373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прогон на каждое изменение; сборка инцидента и маскирование секретов закреплены регрессиями.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420624" cy="420624"/>
          </a:xfrm>
          <a:prstGeom prst="ellipse">
            <a:avLst/>
          </a:prstGeom>
          <a:solidFill>
            <a:srgbClr val="F2F4F8"/>
          </a:solidFill>
          <a:ln/>
        </p:spPr>
      </p:sp>
      <p:pic>
        <p:nvPicPr>
          <p:cNvPr id="9" name="Image 1" descr="C:\Temp\claude\D--TAKT-takt-industrial-risk-layer\76bd38bc-cd27-4937-a7e8-fe9e7fab95d0\scratchpad\pptx\icons\db_sl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002" y="157240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30568" y="14356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класса источников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6830568" y="17373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Коннекторы под фактическую схему единого хранилища заказчика, потоковое чтение без роста памяти.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57200" y="2926080"/>
            <a:ext cx="420624" cy="420624"/>
          </a:xfrm>
          <a:prstGeom prst="ellipse">
            <a:avLst/>
          </a:prstGeom>
          <a:solidFill>
            <a:srgbClr val="F2F4F8"/>
          </a:solidFill>
          <a:ln/>
        </p:spPr>
      </p:sp>
      <p:pic>
        <p:nvPicPr>
          <p:cNvPr id="13" name="Image 2" descr="C:\Temp\claude\D--TAKT-takt-industrial-risk-layer\76bd38bc-cd27-4937-a7e8-fe9e7fab95d0\scratchpad\pptx\icons\lock_sl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62" y="303544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24128" y="28986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Секреты не покидают контур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1024128" y="32004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Пароли из трафика маскируются до записи в кейс; данные заказчика не попадают в репозиторий.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6263640" y="2926080"/>
            <a:ext cx="420624" cy="420624"/>
          </a:xfrm>
          <a:prstGeom prst="ellipse">
            <a:avLst/>
          </a:prstGeom>
          <a:solidFill>
            <a:srgbClr val="F2F4F8"/>
          </a:solidFill>
          <a:ln/>
        </p:spPr>
      </p:sp>
      <p:pic>
        <p:nvPicPr>
          <p:cNvPr id="17" name="Image 3" descr="C:\Temp\claude\D--TAKT-takt-industrial-risk-layer\76bd38bc-cd27-4937-a7e8-fe9e7fab95d0\scratchpad\pptx\icons\hash_sl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002" y="303544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30568" y="28986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Доказательный пакет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6830568" y="32004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Манифест, SHA-256 каждого элемента, цепочка хешей и проверка целостности по API.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457200" y="4389120"/>
            <a:ext cx="420624" cy="420624"/>
          </a:xfrm>
          <a:prstGeom prst="ellipse">
            <a:avLst/>
          </a:prstGeom>
          <a:solidFill>
            <a:srgbClr val="F2F4F8"/>
          </a:solidFill>
          <a:ln/>
        </p:spPr>
      </p:sp>
      <p:pic>
        <p:nvPicPr>
          <p:cNvPr id="21" name="Image 4" descr="C:\Temp\claude\D--TAKT-takt-industrial-risk-layer\76bd38bc-cd27-4937-a7e8-fe9e7fab95d0\scratchpad\pptx\icons\shield_sla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562" y="4498482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24128" y="436168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Границы продукта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1024128" y="46634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Автоматических блокировок нет ни в интерфейсе, ни в API — только рекомендации.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6263640" y="4389120"/>
            <a:ext cx="420624" cy="420624"/>
          </a:xfrm>
          <a:prstGeom prst="ellipse">
            <a:avLst/>
          </a:prstGeom>
          <a:solidFill>
            <a:srgbClr val="F2F4F8"/>
          </a:solidFill>
          <a:ln/>
        </p:spPr>
      </p:sp>
      <p:pic>
        <p:nvPicPr>
          <p:cNvPr id="25" name="Image 5" descr="C:\Temp\claude\D--TAKT-takt-industrial-risk-layer\76bd38bc-cd27-4937-a7e8-fe9e7fab95d0\scratchpad\pptx\icons\settings_sla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002" y="4498482"/>
            <a:ext cx="201900" cy="20190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830568" y="436168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Воспроизводимость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6830568" y="46634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Датасет генерируется детерминированно; демонстрация повторяется с тем же результатом.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457200" y="5806440"/>
            <a:ext cx="11274552" cy="548640"/>
          </a:xfrm>
          <a:prstGeom prst="roundRect">
            <a:avLst>
              <a:gd name="adj" fmla="val 16667"/>
            </a:avLst>
          </a:prstGeom>
          <a:solidFill>
            <a:srgbClr val="F2F4F8"/>
          </a:solidFill>
          <a:ln/>
        </p:spPr>
      </p:sp>
      <p:sp>
        <p:nvSpPr>
          <p:cNvPr id="29" name="Text 21"/>
          <p:cNvSpPr/>
          <p:nvPr/>
        </p:nvSpPr>
        <p:spPr>
          <a:xfrm>
            <a:off x="731520" y="58064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Исходный код, датасет и документация — в публичном репозитории: github.com/Shushkary/takt-industrial-risk-layer</a:t>
            </a:r>
            <a:endParaRPr lang="en-US" sz="1050" dirty="0"/>
          </a:p>
        </p:txBody>
      </p:sp>
      <p:sp>
        <p:nvSpPr>
          <p:cNvPr id="30" name="Text 22"/>
          <p:cNvSpPr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ТАКТ · разбор инцидента после автоматики · Техлаб 2026</a:t>
            </a:r>
            <a:endParaRPr lang="en-US" sz="800" dirty="0"/>
          </a:p>
        </p:txBody>
      </p:sp>
      <p:sp>
        <p:nvSpPr>
          <p:cNvPr id="31" name="Text 23"/>
          <p:cNvSpPr/>
          <p:nvPr/>
        </p:nvSpPr>
        <p:spPr>
          <a:xfrm>
            <a:off x="11338560" y="6510528"/>
            <a:ext cx="393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2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показывает демонстрация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E3273A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144475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Разбор продолжается там, где остановилась автоматика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51560" y="176479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Инцидент приходит с остатком, который правила не свели в вердикт, и доводится до решения.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2532888"/>
            <a:ext cx="402336" cy="402336"/>
          </a:xfrm>
          <a:prstGeom prst="ellipse">
            <a:avLst/>
          </a:prstGeom>
          <a:solidFill>
            <a:srgbClr val="E3273A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51560" y="249631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 на другой уровень сущности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51560" y="281635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Адрес → узел → учётная запись → процесс → артефакт: путь атаки виден целиком, а не отдельными срабатываниями.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3584448"/>
            <a:ext cx="402336" cy="402336"/>
          </a:xfrm>
          <a:prstGeom prst="ellipse">
            <a:avLst/>
          </a:prstGeom>
          <a:solidFill>
            <a:srgbClr val="E3273A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51560" y="354787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Вердикт, выводы и варианты реагирования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51560" y="38679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Аналитик получает обоснование и выбор действий с последствиями, а не единственное предписание.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4636008"/>
            <a:ext cx="402336" cy="402336"/>
          </a:xfrm>
          <a:prstGeom prst="ellipse">
            <a:avLst/>
          </a:prstGeom>
          <a:solidFill>
            <a:srgbClr val="E3273A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6360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51560" y="45994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разбора как метрика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51560" y="491947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Отсчёт идёт с приёма инцидента; сокращение времени измеряется, а не декларируется.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5669280"/>
            <a:ext cx="11201400" cy="685800"/>
          </a:xfrm>
          <a:prstGeom prst="roundRect">
            <a:avLst>
              <a:gd name="adj" fmla="val 16000"/>
            </a:avLst>
          </a:prstGeom>
          <a:solidFill>
            <a:srgbClr val="1E242E"/>
          </a:solidFill>
          <a:ln/>
        </p:spPr>
      </p:sp>
      <p:pic>
        <p:nvPicPr>
          <p:cNvPr id="21" name="Image 0" descr="C:\Temp\claude\D--TAKT-takt-industrial-risk-layer\76bd38bc-cd27-4937-a7e8-fe9e7fab95d0\scratchpad\pptx\icons\award_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852160"/>
            <a:ext cx="310896" cy="310896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188720" y="566928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ТАКТ Industrial Risk Layer · одобрено экспертами Фонда «Сколково» · демонстрация воспроизводима на предоставленном датасете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57200" y="65105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ТАКТ · разбор инцидента после автоматики · Техлаб 2026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11338560" y="6510528"/>
            <a:ext cx="393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ТАКТ — разбор инцидента после автоматики</dc:title>
  <dc:subject>Positive Technologies · Техлаб 2026</dc:subject>
  <dc:creator>ТАКТ</dc:creator>
  <cp:lastModifiedBy>ТАКТ</cp:lastModifiedBy>
  <cp:revision>1</cp:revision>
  <dcterms:created xsi:type="dcterms:W3CDTF">2026-08-18T10:25:07Z</dcterms:created>
  <dcterms:modified xsi:type="dcterms:W3CDTF">2026-08-18T10:25:07Z</dcterms:modified>
</cp:coreProperties>
</file>