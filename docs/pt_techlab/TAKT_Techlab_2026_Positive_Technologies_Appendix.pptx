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66dcd428634509" Type="http://schemas.openxmlformats.org/package/2006/relationships/metadata/core-properties" Target="docProps/core.xml"/><Relationship Id="Rd45129ec7af24f57" Type="http://schemas.openxmlformats.org/officeDocument/2006/relationships/extended-properties" Target="docProps/app.xml"/><Relationship Id="Rdbd8b39f1d554f2b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739b2289cb4f23"/>
  </p:sldMasterIdLst>
  <p:notesMasterIdLst>
    <p:notesMasterId xmlns:r="http://schemas.openxmlformats.org/officeDocument/2006/relationships" r:id="Rb453587fa9fb4519"/>
  </p:notesMasterIdLst>
  <p:sldIdLst>
    <p:sldId xmlns:r="http://schemas.openxmlformats.org/officeDocument/2006/relationships" id="256" r:id="R15ab4b3fdfb5449a"/>
    <p:sldId xmlns:r="http://schemas.openxmlformats.org/officeDocument/2006/relationships" id="257" r:id="Rc7512174ff9a4393"/>
    <p:sldId xmlns:r="http://schemas.openxmlformats.org/officeDocument/2006/relationships" id="258" r:id="Rfdb0f26a723c4d84"/>
    <p:sldId xmlns:r="http://schemas.openxmlformats.org/officeDocument/2006/relationships" id="259" r:id="Rdfbbe5a7f3db4c24"/>
    <p:sldId xmlns:r="http://schemas.openxmlformats.org/officeDocument/2006/relationships" id="270" r:id="rId3"/>
    <p:sldId xmlns:r="http://schemas.openxmlformats.org/officeDocument/2006/relationships" id="260" r:id="R9b79093b2f644884"/>
    <p:sldId xmlns:r="http://schemas.openxmlformats.org/officeDocument/2006/relationships" id="261" r:id="R4263de29c84e4215"/>
    <p:sldId xmlns:r="http://schemas.openxmlformats.org/officeDocument/2006/relationships" id="269" r:id="rId2"/>
    <p:sldId xmlns:r="http://schemas.openxmlformats.org/officeDocument/2006/relationships" id="268" r:id="rId1"/>
    <p:sldId xmlns:r="http://schemas.openxmlformats.org/officeDocument/2006/relationships" id="271" r:id="rId4"/>
    <p:sldId xmlns:r="http://schemas.openxmlformats.org/officeDocument/2006/relationships" id="262" r:id="R3400ad318d674c29"/>
    <p:sldId xmlns:r="http://schemas.openxmlformats.org/officeDocument/2006/relationships" id="263" r:id="R9d143d432a0344e4"/>
    <p:sldId xmlns:r="http://schemas.openxmlformats.org/officeDocument/2006/relationships" id="264" r:id="Rd82a7658dc464d0b"/>
    <p:sldId xmlns:r="http://schemas.openxmlformats.org/officeDocument/2006/relationships" id="265" r:id="R41d2568b4df04e4d"/>
    <p:sldId xmlns:r="http://schemas.openxmlformats.org/officeDocument/2006/relationships" id="266" r:id="R0428fa6172124519"/>
    <p:sldId xmlns:r="http://schemas.openxmlformats.org/officeDocument/2006/relationships" id="267" r:id="R62ef33c1bb1846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428fa6172124519" Type="http://schemas.openxmlformats.org/officeDocument/2006/relationships/slide" Target="slides/slide15.xml"/><Relationship Id="R0fbf68016426467b" Type="http://schemas.openxmlformats.org/officeDocument/2006/relationships/presProps" Target="presProps.xml"/><Relationship Id="R15ab4b3fdfb5449a" Type="http://schemas.openxmlformats.org/officeDocument/2006/relationships/slide" Target="slides/slide1.xml"/><Relationship Id="R31739b2289cb4f23" Type="http://schemas.openxmlformats.org/officeDocument/2006/relationships/slideMaster" Target="slideMasters/slideMaster1.xml"/><Relationship Id="R3400ad318d674c29" Type="http://schemas.openxmlformats.org/officeDocument/2006/relationships/slide" Target="slides/slide11.xml"/><Relationship Id="R41d2568b4df04e4d" Type="http://schemas.openxmlformats.org/officeDocument/2006/relationships/slide" Target="slides/slide14.xml"/><Relationship Id="R4263de29c84e4215" Type="http://schemas.openxmlformats.org/officeDocument/2006/relationships/slide" Target="slides/slide7.xml"/><Relationship Id="R62ef33c1bb184617" Type="http://schemas.openxmlformats.org/officeDocument/2006/relationships/slide" Target="slides/slide16.xml"/><Relationship Id="R8eff2d4df5e04593" Type="http://schemas.openxmlformats.org/officeDocument/2006/relationships/viewProps" Target="viewProps.xml"/><Relationship Id="R981cb2e27e394937" Type="http://schemas.openxmlformats.org/officeDocument/2006/relationships/tableStyles" Target="tableStyles.xml"/><Relationship Id="R9b79093b2f644884" Type="http://schemas.openxmlformats.org/officeDocument/2006/relationships/slide" Target="slides/slide6.xml"/><Relationship Id="R9d143d432a0344e4" Type="http://schemas.openxmlformats.org/officeDocument/2006/relationships/slide" Target="slides/slide12.xml"/><Relationship Id="Rb453587fa9fb4519" Type="http://schemas.openxmlformats.org/officeDocument/2006/relationships/notesMaster" Target="notesMasters/notesMaster1.xml"/><Relationship Id="Rc7512174ff9a4393" Type="http://schemas.openxmlformats.org/officeDocument/2006/relationships/slide" Target="slides/slide2.xml"/><Relationship Id="Rd82a7658dc464d0b" Type="http://schemas.openxmlformats.org/officeDocument/2006/relationships/slide" Target="slides/slide13.xml"/><Relationship Id="Rdfbbe5a7f3db4c24" Type="http://schemas.openxmlformats.org/officeDocument/2006/relationships/slide" Target="slides/slide4.xml"/><Relationship Id="Rf13700ae5872455d" Type="http://schemas.openxmlformats.org/officeDocument/2006/relationships/theme" Target="theme/theme1.xml"/><Relationship Id="Rfdb0f26a723c4d84" Type="http://schemas.openxmlformats.org/officeDocument/2006/relationships/slide" Target="slides/slide3.xml"/><Relationship Id="rId1" Type="http://schemas.openxmlformats.org/officeDocument/2006/relationships/slide" Target="slides/slide9.xml"/><Relationship Id="rId2" Type="http://schemas.openxmlformats.org/officeDocument/2006/relationships/slide" Target="slides/slide8.xml"/><Relationship Id="rId3" Type="http://schemas.openxmlformats.org/officeDocument/2006/relationships/slide" Target="slides/slide5.xml"/><Relationship Id="rId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64241bf5a65244d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Техлаб Москва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EE9456"/>
      </a:accent1>
      <a:accent2>
        <a:srgbClr val="F4BC65"/>
      </a:accent2>
      <a:accent3>
        <a:srgbClr val="89BEE0"/>
      </a:accent3>
      <a:accent4>
        <a:srgbClr val="0A1215"/>
      </a:accent4>
      <a:accent5>
        <a:srgbClr val="D9D9D9"/>
      </a:accent5>
      <a:accent6>
        <a:srgbClr val="70AD47"/>
      </a:accent6>
      <a:hlink>
        <a:srgbClr val="89BEE0"/>
      </a:hlink>
      <a:folHlink>
        <a:srgbClr val="F4BC65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хлаб Москв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f37b5ab983847cd" Type="http://schemas.openxmlformats.org/officeDocument/2006/relationships/slide" Target="../slides/slide1.xml"/><Relationship Id="R71e30269cf8e4b1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1fbea30b2344b43" Type="http://schemas.openxmlformats.org/officeDocument/2006/relationships/slide" Target="../slides/slide2.xml"/><Relationship Id="R87cc22542eba4b24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3c6bc55fa4c45ce" Type="http://schemas.openxmlformats.org/officeDocument/2006/relationships/slide" Target="../slides/slide3.xml"/><Relationship Id="R7c954e290b134aa4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7b80e8a36f745b2" Type="http://schemas.openxmlformats.org/officeDocument/2006/relationships/slide" Target="../slides/slide4.xml"/><Relationship Id="R501cbfa606924b9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d5280de759b4d0e" Type="http://schemas.openxmlformats.org/officeDocument/2006/relationships/notesMaster" Target="../notesMasters/notesMaster1.xml"/><Relationship Id="R6f60c05aa6684e28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d746d0c675634f86" Type="http://schemas.openxmlformats.org/officeDocument/2006/relationships/notesMaster" Target="../notesMasters/notesMaster1.xml"/><Relationship Id="Re5037d7373114b21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05b80eb4cede423e" Type="http://schemas.openxmlformats.org/officeDocument/2006/relationships/slide" Target="../slides/slide11.xml"/><Relationship Id="Rd343d9d08e684c6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841731413dd4cef" Type="http://schemas.openxmlformats.org/officeDocument/2006/relationships/notesMaster" Target="../notesMasters/notesMaster1.xml"/><Relationship Id="R9633ee82d2b14cc1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1450f0d9993b4f79" Type="http://schemas.openxmlformats.org/officeDocument/2006/relationships/notesMaster" Target="../notesMasters/notesMaster1.xml"/><Relationship Id="R1ff5b8617ff34481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06d93f2a5da3453e" Type="http://schemas.openxmlformats.org/officeDocument/2006/relationships/notesMaster" Target="../notesMasters/notesMaster1.xml"/><Relationship Id="Rdc734aacab2f4817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8e7f705a9f4a481a" Type="http://schemas.openxmlformats.org/officeDocument/2006/relationships/notesMaster" Target="../notesMasters/notesMaster1.xml"/><Relationship Id="Re492a124e26f42f4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151cf0d685784563" Type="http://schemas.openxmlformats.org/officeDocument/2006/relationships/slide" Target="../slides/slide16.xml"/><Relationship Id="R83c0dcd27f90447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Отдельное приложение к четырёхслайдовой презентации. Содержит доказательную базу и ограничения; не предназначено для последовательного показа в коротком питче.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Опыт А. Таймаскина в отделе телемеханики ПАО «Россети Московский регион» добавлен по указанию владельца проекта. Патентная заявка № 2026112859 — подана, патент не выдан: говорим «заявка», не «патент получен». Заключение экспертов Фонда «Сколково» — положительное решение по проекту. Публикация: Таймаскин А. Н. «Цифровая диспетчеризация переподключений в распределительных электрических сетях: методология на основе Clean Architecture»,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Риск: F(R, G, C, U, DQ) — ритм опроса 0,22 · граф связей 0,22 · организационный контекст 0,18 · пользователь 0,18 · качество данных 0,20. Пороги классов: 0,85 критический, 0,65 высокий, 0,40 средний; веса и пороги живут в конфигурации и правятся администратором с обязательной причиной. Шесть отключённых инвариантов названы поимённо в матрице инвариантов: им нужен контекст, которого в MVP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экране показан текущий демонстрационный кейс 438fd960: 59 событий, 14 сущностей и 19 связей. Сценарий INC-002 — отдельный нагрузочный тест: 1030 событий четырёх классов источников (EDR 531, SIEM 240, Netflow 227, OT 32), 27 из них входят в цепочку атаки. Снимок экрана — рабочий АРМ, не макет.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концептуальная, не схема развёртывания. Слои: домен → применение → адаптеры интерфейса (FastAPI) → инфраструктура (импортёры, хранилища, экспорт, безопасность). Контракты слоёв проверяет import-linter. ТАКТ не является СКЗИ: квалифицированную подпись по ГОСТ выполняет внешний сертифицированный сервис через адаптер. ИИ в контуре вердикта нет — осознанное решение, а не отставание.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замещаем SIEM: работаем поверх единого хранилища заказчика на чтение. Автоматической загрузки потока из источников сегодня нет — события приходят загрузкой выгрузок и приёмом по API; подключение к хранилищу заказчика — работа адаптера, она в плане. Разбор фактических схем PT NAD и PT SIEM уже сделан по реальным выгрузкам: 1786 полей индекса NAD и 331 поле таксономии SIEM.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Боевой стенд — виртуальная машина 2 vCPU / 985 МиБ, которую ТАКТ делит с четырьмя посторонними сайтами; 47,85 МиБ — память контейнера API в работе на 44 делах. Хранилище — SQLite с версионируемой схемой; адаптера серверной СУБД в MVP нет, и в описании решения это сказано прямо. Перевод на PostgreSQL — работа одного адаптера: домен обращается к хранилищу через порт и о нём не знает. Сверку описания с кодом держит тест. План роста: вертикально → вынос хранилища → горизонтально → разделение потоков.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Оговорки, которые называем первыми: протокол детектирования покрывает 11 инвариантов из 26; корпус корреляции синтетический и небольшой; базовая линия для оценки ускорения модельная — парного прогона с живыми аналитиками не было. Пакет реагирования — рекомендация, исполняет её внешняя система после подтверждения аналитика. Сертификации ФСТЭК нет, и мы её не заявляем: ведётся отдельный трек — модель угроз, матрица инвариантов, риск-реестр, инженерный пакет для gap-анализа.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Протокол парного замера: один и тот же размеченный инцидент разбирается дважды — «как сейчас» и в едином окне; учитывается время обеих процедур. Отдельно нужны start/GUID процесса для случаев повторного использования PID и согласованная норма типичности периода. Шесть величин, которые нужны от заказчика для расчёта мощности, перечислены в приложении «Мощности ТАКТ».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Матрица основана на ТЗ Positive Technologies «Техлаб 2026», §§5, 6, 12, 14, и на наблюдаемом синтетическом демо. Таблица не является актом соответствия. Реальные данные, единое хранилище, качество корреляции, роли и эффект ≥30% должны быть подтверждены совместным пилотом.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инвестиционная презентация ТАКТ v6. TAM/SAM/SOM, цены и распределение первого транша — оценки команды, не независимая рыночная оценка и не оферта. Доли первого транша: 42% команда + 16% сертификация + 22% маркетинг и продажи + 12% патенты, реестр, пилоты + 8% инфраструктура = 100%. Сертификация и реестр указаны как планируемые работы, а не полученные статусы.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Репозиторий: github.com/Shushkary/takt-industrial-risk-layer. Живой стенд — основной АРМ аналитика ralta.ru/takt_pt_arm/ (44 демонстрационных дела), вспомогательный React-интерфейс — ralta.ru/PT/. Если вопрос выходит за подготовленный материал, честный ответ «не измеряли, измерим и покажем» стоит дороже уверенного предположения.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Критичных действий в продукте нет по устройству, а не по настройке: в API и интерфейсе отсутствуют маршруты исполнения, и это проверяется тестами границ продукта. Роли: analyst_l1, analyst_l2, manager (только чтение), admin; старые имена поддерживаются для совместимости. Внешние обогащения по умолчанию выключены — передача данных наружу начинается только после согласования с заказчиком, как требует § 6.4 ТЗ.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ещё требует § 10 и где это в материалах. Текущий процесс и его проблемы — первый слайд продуктовой презентации. Целевой процесс в едином интерфейсе — демонстрационный ролик и слайд 4 приложения. Функциональная схема — конвейер из семи шагов, слайд 3. Архитектура — слайд 6. Демонстрационный сценарий на датасете — INC-002, 1030 событий четырёх классов источников. Измеримое ускорение — методика парного замера, слайд 12.</a:t>
            </a:r>
          </a:p>
          <a:p>
            <a:r>
              <a:t>Все пять экранов сняты на боевом стенде ralta.ru/takt_pt_arm/ с демонстрационным делом 438fd960: 59 событий четырёх классов источников, 14 сущностей, 19 связей.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b3880e42e0214dfc" Type="http://schemas.openxmlformats.org/officeDocument/2006/relationships/slideMaster" Target="../slideMasters/slideMaster1.xml"/><Relationship Id="Red40eba9ea964ed5" Type="http://schemas.openxmlformats.org/officeDocument/2006/relationships/image" Target="../media/image.png"/></Relationships>
</file>

<file path=ppt/slideLayouts/_rels/slideLayout2.xml.rels><?xml version='1.0' encoding='UTF-8' standalone='yes'?>
<Relationships xmlns="http://schemas.openxmlformats.org/package/2006/relationships"><Relationship Id="Rb1cf5376a388456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cc04b935834d41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5e447810d1ea4b4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440eeb48e4e447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97d3bf874e604f5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403356644962491a" Type="http://schemas.openxmlformats.org/officeDocument/2006/relationships/slideMaster" Target="../slideMasters/slideMaster1.xml"/><Relationship Id="R58c6f29ce6ca418f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f5e592a9d79747bd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01a62bd3fa544c3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d419adef90dd4a14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8eb57d6e2a1342e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58DE976-3598-4C75-ADB9-B7C362D45A3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F51D4D34-7569-4642-9B5E-06033423D2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Образец подзаголовка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C5D420DC-18DF-46F0-B261-5FDD7A3F55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8BDBAB3-AC5B-4D9F-935C-127D34948B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798D4FD-D59A-4D6D-8CF8-85D31A88F0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  <p:pic>
        <p:nvPicPr>
          <p:cNvPr id="13" name="Рисунок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0eba9ea964ed5"/>
          <a:srcRect xmlns:a="http://schemas.openxmlformats.org/drawingml/2006/main" l="0" t="0" r="5250" b="3561"/>
          <a:stretch xmlns:a="http://schemas.openxmlformats.org/drawingml/2006/main"/>
        </p:blipFill>
        <p:spPr>
          <a:xfrm xmlns:a="http://schemas.openxmlformats.org/drawingml/2006/main">
            <a:off x="-267502" y="-275303"/>
            <a:ext cx="12459502" cy="713330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037C8AE-E03F-4473-8834-7CB6DB2BB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024E400-C345-4737-8250-86BCDE326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8E2F0479-FCF1-4B58-90FD-D818347FD9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3D7D196-CCCA-4F9A-85AA-A633FAE21B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14200BE-3141-4EB1-8E3C-8DFC8FD4C4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2D67D8B-40FC-40B5-81CD-9A921AA1E6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15DF371F-103C-4151-B833-58892B6EF6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C59A9409-E845-40F8-AECB-D30E7BC93E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F831C12-1E27-42EB-B8FD-849231C90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161497C-252F-424F-B85B-20F3F38F2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318FC49-ECC4-4207-AE45-83509B718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E1C3D133-D9C1-4885-95BD-40D9BCF7F1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B94FC171-44F9-49EE-83B2-45F5E19EC4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2A5BA12F-5216-4236-9322-834634F2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BB308EBD-5EFB-4E98-A362-8B556B5200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D4074404-167F-462C-A02D-2800D69258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E2B1D53-1345-4816-AD1F-8ACCFC19A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D66F36E-ED07-4783-B09D-AB9741F675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639CAF29-C40C-4FFF-97CB-6D3A4C798BA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4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B26DA801-103D-4966-B3A0-95D478469D6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26C7F637-6AD0-4801-9F9B-2430E71DBAD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4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FF37041D-042F-4973-A07D-F7BFFAAA8C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3BE023A2-45F4-4A3B-9A75-00B5455C89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90A7A579-3674-4748-905D-42A9F005AD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1EB660E-C248-4C73-BDF8-4CDFBFFA3A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F0B137A7-BC98-4141-832C-DCE42B7984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24B1175C-221A-4035-819A-4D14B67606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10CCBAF4-5C31-40D9-83D3-4B6A25DF22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24C4CD5F-C69F-4F68-AE05-E37E7A6A1E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7398BE91-A265-4901-AF14-260B9D9BD8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CBEDF779-59FE-45A4-9AB4-28EA47E921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  <p:pic>
        <p:nvPicPr>
          <p:cNvPr id="9" name="Рисунок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6f29ce6ca418f"/>
          <a:stretch xmlns:a="http://schemas.openxmlformats.org/drawingml/2006/main"/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E7553DC-EDB0-46FF-8A04-E93610C61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888F44B0-139D-444B-A529-F1B3E5AE64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E1A8125F-72D3-4A99-9C42-378C78927D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89D27DA6-AD7D-44AC-BF36-58FACC2A9F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018C10F1-0C4C-4D60-91E4-D0939F101F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3D04B352-ADC9-4233-8855-ABEC4A30B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6D35948-AEE5-40B0-A2D6-3F173A67F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27B8DB67-16DF-4F0A-B55C-5EE6BA1481F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3F6847-AA2D-4D35-ACC1-1F44801234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C7BE996E-8FE9-4BC7-A891-AA1833DB31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96E49B96-AD19-4048-AD80-258853E261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325A0358-B45C-400C-BB63-D182406BCE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3D3762B-CE18-4216-B398-AE0B7BAD6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2628A786-048B-476D-9D91-FDC10358B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1C4E5BFD-41D6-4512-9C14-72B2D12C2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8CE276A-AADB-4C5C-900E-546B72C40A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1258EB-8F33-4772-B7DD-6C30C2914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BD872A6-5CD3-46B8-947E-6D9D2A350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491F49D3-659C-4DFD-B7C5-DD6A233540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2668314C-460C-402E-83DC-8E4564B30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C7D4839-1426-442F-93BD-B01658CE66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360ABA5-2C36-4E58-9272-3B9FFCFCD6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72ed00d7a254612" Type="http://schemas.openxmlformats.org/officeDocument/2006/relationships/slideLayout" Target="../slideLayouts/slideLayout6.xml"/><Relationship Id="R41bdd04aac45477b" Type="http://schemas.openxmlformats.org/officeDocument/2006/relationships/slideLayout" Target="../slideLayouts/slideLayout10.xml"/><Relationship Id="R541f851b8d70402a" Type="http://schemas.openxmlformats.org/officeDocument/2006/relationships/slideLayout" Target="../slideLayouts/slideLayout8.xml"/><Relationship Id="R54b936808b4a48a7" Type="http://schemas.openxmlformats.org/officeDocument/2006/relationships/slideLayout" Target="../slideLayouts/slideLayout5.xml"/><Relationship Id="R6e347748e0ac4f0c" Type="http://schemas.openxmlformats.org/officeDocument/2006/relationships/slideLayout" Target="../slideLayouts/slideLayout1.xml"/><Relationship Id="R79d4037588784049" Type="http://schemas.openxmlformats.org/officeDocument/2006/relationships/slideLayout" Target="../slideLayouts/slideLayout2.xml"/><Relationship Id="R7a1ef8fc7fc64817" Type="http://schemas.openxmlformats.org/officeDocument/2006/relationships/slideLayout" Target="../slideLayouts/slideLayout9.xml"/><Relationship Id="R9678cc007f4e45c8" Type="http://schemas.openxmlformats.org/officeDocument/2006/relationships/slideLayout" Target="../slideLayouts/slideLayout4.xml"/><Relationship Id="Ra91ac0f5794c4f43" Type="http://schemas.openxmlformats.org/officeDocument/2006/relationships/slideLayout" Target="../slideLayouts/slideLayout3.xml"/><Relationship Id="Raf181db81ff14059" Type="http://schemas.openxmlformats.org/officeDocument/2006/relationships/slideLayout" Target="../slideLayouts/slideLayout11.xml"/><Relationship Id="Re0d6c3eedd7547af" Type="http://schemas.openxmlformats.org/officeDocument/2006/relationships/theme" Target="theme/theme2.xml"/><Relationship Id="Rf892bd49986e4754" Type="http://schemas.openxmlformats.org/officeDocument/2006/relationships/slideLayout" Target="../slideLayouts/slideLayout7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B1EA4A4-2805-4597-AE0A-30676D1A3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7765810-A61A-47AF-9A36-51F677E0D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7F849EB6-035E-4F44-8C56-FDFD4A7F33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251EE91A-65D6-4CED-8A7E-F8B1CB48A802}" type="datetimeFigureOut">
              <a:t>02.09.2026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97DC2EF-F4B8-41F5-B81F-8CF0C6C851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0B5B31D-0E0C-47B8-93F5-34753C4EF3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FDA1BCA3-A6CB-40E7-9170-9286FABDBE2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347748e0ac4f0c"/>
    <p:sldLayoutId xmlns:r="http://schemas.openxmlformats.org/officeDocument/2006/relationships" id="2147483650" r:id="R79d4037588784049"/>
    <p:sldLayoutId xmlns:r="http://schemas.openxmlformats.org/officeDocument/2006/relationships" id="2147483651" r:id="Ra91ac0f5794c4f43"/>
    <p:sldLayoutId xmlns:r="http://schemas.openxmlformats.org/officeDocument/2006/relationships" id="2147483652" r:id="R9678cc007f4e45c8"/>
    <p:sldLayoutId xmlns:r="http://schemas.openxmlformats.org/officeDocument/2006/relationships" id="2147483653" r:id="R54b936808b4a48a7"/>
    <p:sldLayoutId xmlns:r="http://schemas.openxmlformats.org/officeDocument/2006/relationships" id="2147483654" r:id="R372ed00d7a254612"/>
    <p:sldLayoutId xmlns:r="http://schemas.openxmlformats.org/officeDocument/2006/relationships" id="2147483655" r:id="Rf892bd49986e4754"/>
    <p:sldLayoutId xmlns:r="http://schemas.openxmlformats.org/officeDocument/2006/relationships" id="2147483656" r:id="R541f851b8d70402a"/>
    <p:sldLayoutId xmlns:r="http://schemas.openxmlformats.org/officeDocument/2006/relationships" id="2147483657" r:id="R7a1ef8fc7fc64817"/>
    <p:sldLayoutId xmlns:r="http://schemas.openxmlformats.org/officeDocument/2006/relationships" id="2147483658" r:id="R41bdd04aac45477b"/>
    <p:sldLayoutId xmlns:r="http://schemas.openxmlformats.org/officeDocument/2006/relationships" id="2147483659" r:id="Raf181db81ff14059"/>
  </p:sldLayoutIdLst>
  <p:txStyles>
    <p:titleStyle>
      <a:lvl1pPr xmlns:a="http://schemas.openxmlformats.org/drawingml/2006/main"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Техлаб Москва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EE9456"/>
      </a:accent1>
      <a:accent2>
        <a:srgbClr val="F4BC65"/>
      </a:accent2>
      <a:accent3>
        <a:srgbClr val="89BEE0"/>
      </a:accent3>
      <a:accent4>
        <a:srgbClr val="0A1215"/>
      </a:accent4>
      <a:accent5>
        <a:srgbClr val="D9D9D9"/>
      </a:accent5>
      <a:accent6>
        <a:srgbClr val="70AD47"/>
      </a:accent6>
      <a:hlink>
        <a:srgbClr val="89BEE0"/>
      </a:hlink>
      <a:folHlink>
        <a:srgbClr val="F4BC65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хлаб Москв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55ebdceb1df4036" Type="http://schemas.openxmlformats.org/officeDocument/2006/relationships/notesSlide" Target="../notesSlides/notesSlide1.xml"/><Relationship Id="R95c9a371998d4a2e" Type="http://schemas.openxmlformats.org/officeDocument/2006/relationships/slideLayout" Target="../slideLayouts/slideLayout1.xml"/><Relationship Id="Ref329c2545674e30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1685e27dfbdd4e75" Type="http://schemas.openxmlformats.org/officeDocument/2006/relationships/slideLayout" Target="../slideLayouts/slideLayout7.xml"/><Relationship Id="R1e55907d967b4fa4" Type="http://schemas.openxmlformats.org/officeDocument/2006/relationships/notesSlide" Target="../notesSlides/notesSlide2.xml"/><Relationship Id="R5a1725e9c33b4407" Type="http://schemas.openxmlformats.org/officeDocument/2006/relationships/image" Target="../media/image5.png"/><Relationship Id="R98f67a8dd01e42e7" Type="http://schemas.openxmlformats.org/officeDocument/2006/relationships/image" Target="../media/image4.png"/><Relationship Id="Rf7ca099122b74fb9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573428b115764faf" Type="http://schemas.openxmlformats.org/officeDocument/2006/relationships/image" Target="../media/image4.png"/><Relationship Id="R88cede24883b45a4" Type="http://schemas.openxmlformats.org/officeDocument/2006/relationships/slideLayout" Target="../slideLayouts/slideLayout7.xml"/><Relationship Id="Rf55c0cf041b340fc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c12874f5bab4a83" Type="http://schemas.openxmlformats.org/officeDocument/2006/relationships/slideLayout" Target="../slideLayouts/slideLayout7.xml"/><Relationship Id="R9d8cdc822df14616" Type="http://schemas.openxmlformats.org/officeDocument/2006/relationships/image" Target="../media/image4.png"/><Relationship Id="Rb06f2ad6d7ab483d" Type="http://schemas.openxmlformats.org/officeDocument/2006/relationships/notesSlide" Target="../notesSlides/notesSlide4.xml"/><Relationship Id="Rc930f34e02b04979" Type="http://schemas.openxmlformats.org/officeDocument/2006/relationships/image" Target="../media/image.jpeg"/></Relationships>
</file>

<file path=ppt/slides/_rels/slide5.xml.rels><?xml version='1.0' encoding='UTF-8' standalone='yes'?>
<Relationships xmlns="http://schemas.openxmlformats.org/package/2006/relationships"><Relationship Id="R2c12874f5bab4a83" Type="http://schemas.openxmlformats.org/officeDocument/2006/relationships/slideLayout" Target="../slideLayouts/slideLayout7.xml"/><Relationship Id="R9d8cdc822df14616" Type="http://schemas.openxmlformats.org/officeDocument/2006/relationships/image" Target="../media/image4.png"/><Relationship Id="Rc930f34e02b04979" Type="http://schemas.openxmlformats.org/officeDocument/2006/relationships/image" Target="../media/image.jpe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559fb9ca471145fb" Type="http://schemas.openxmlformats.org/officeDocument/2006/relationships/slideLayout" Target="../slideLayouts/slideLayout7.xml"/><Relationship Id="R57d862a2221e48dc" Type="http://schemas.openxmlformats.org/officeDocument/2006/relationships/notesSlide" Target="../notesSlides/notesSlide5.xml"/><Relationship Id="R96ea79a9dd5a47a9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72332891885a441b" Type="http://schemas.openxmlformats.org/officeDocument/2006/relationships/slideLayout" Target="../slideLayouts/slideLayout7.xml"/><Relationship Id="Ra32b77228cf54db9" Type="http://schemas.openxmlformats.org/officeDocument/2006/relationships/image" Target="../media/image4.png"/><Relationship Id="Rd7caa15e323c4a6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2c27a667c35141a8" Type="http://schemas.openxmlformats.org/officeDocument/2006/relationships/slideLayout" Target="../slideLayouts/slideLayout7.xml"/><Relationship Id="R70962708245043e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2c27a667c35141a8" Type="http://schemas.openxmlformats.org/officeDocument/2006/relationships/slideLayout" Target="../slideLayouts/slideLayout7.xml"/><Relationship Id="R70962708245043e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2c27a667c35141a8" Type="http://schemas.openxmlformats.org/officeDocument/2006/relationships/slideLayout" Target="../slideLayouts/slideLayout7.xml"/><Relationship Id="R70962708245043e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772c3dfd316f434c" Type="http://schemas.openxmlformats.org/officeDocument/2006/relationships/slideLayout" Target="../slideLayouts/slideLayout7.xml"/><Relationship Id="Rf74d293f387342d4" Type="http://schemas.openxmlformats.org/officeDocument/2006/relationships/image" Target="../media/image4.png"/><Relationship Id="Rfe0fd5a918974414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5deb0f9e842d4149" Type="http://schemas.openxmlformats.org/officeDocument/2006/relationships/image" Target="../media/image4.png"/><Relationship Id="R6bfab754f87e4670" Type="http://schemas.openxmlformats.org/officeDocument/2006/relationships/slideLayout" Target="../slideLayouts/slideLayout7.xml"/><Relationship Id="Rdd0da719383e4008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4d0bd3cbb45748d7" Type="http://schemas.openxmlformats.org/officeDocument/2006/relationships/image" Target="../media/image4.png"/><Relationship Id="R5175cb90318e4aca" Type="http://schemas.openxmlformats.org/officeDocument/2006/relationships/notesSlide" Target="../notesSlides/notesSlide9.xml"/><Relationship Id="R571851c7fb1642f6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2c27a667c35141a8" Type="http://schemas.openxmlformats.org/officeDocument/2006/relationships/slideLayout" Target="../slideLayouts/slideLayout7.xml"/><Relationship Id="R70962708245043e2" Type="http://schemas.openxmlformats.org/officeDocument/2006/relationships/image" Target="../media/image4.png"/><Relationship Id="R72083fc8a43f49cf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15e4bd1c695d4786" Type="http://schemas.openxmlformats.org/officeDocument/2006/relationships/slideLayout" Target="../slideLayouts/slideLayout7.xml"/><Relationship Id="R848b9a5bd527419a" Type="http://schemas.openxmlformats.org/officeDocument/2006/relationships/notesSlide" Target="../notesSlides/notesSlide11.xml"/><Relationship Id="Rd419abae90634ec0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7fbaa1a14ad643f6" Type="http://schemas.openxmlformats.org/officeDocument/2006/relationships/notesSlide" Target="../notesSlides/notesSlide12.xml"/><Relationship Id="Ra36d5376322e4047" Type="http://schemas.openxmlformats.org/officeDocument/2006/relationships/image" Target="../media/image3.png"/><Relationship Id="Rbcdaeb4e95554c00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29c2545674e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" y="594360"/>
            <a:ext cx="1965960" cy="397098"/>
          </a:xfrm>
          <a:prstGeom xmlns:a="http://schemas.openxmlformats.org/drawingml/2006/main" prst="rect">
            <a:avLst/>
          </a:prstGeom>
        </p:spPr>
      </p:pic>
      <p:sp>
        <p:nvSpPr>
          <p:cNvPr id="9" name="text_ТАКТ">
            <a:extLst xmlns:a="http://schemas.openxmlformats.org/drawingml/2006/main">
              <a:ext uri="{FF2B5EF4-FFF2-40B4-BE49-F238E27FC236}">
                <a16:creationId xmlns:a16="http://schemas.microsoft.com/office/drawing/2014/main" id="{964E8981-7EFA-4208-A8A9-1F04CD88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638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600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ТАКТ</a:t>
            </a:r>
          </a:p>
        </p:txBody>
      </p:sp>
      <p:sp>
        <p:nvSpPr>
          <p:cNvPr id="10" name="text_Приложение к продуктовой презентации">
            <a:extLst xmlns:a="http://schemas.openxmlformats.org/drawingml/2006/main">
              <a:ext uri="{FF2B5EF4-FFF2-40B4-BE49-F238E27FC236}">
                <a16:creationId xmlns:a16="http://schemas.microsoft.com/office/drawing/2014/main" id="{D46CB82B-8EBC-4DC8-AFC5-2CEF1D88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43250"/>
            <a:ext cx="7429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30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Приложение к продуктовой презентации</a:t>
            </a:r>
          </a:p>
        </p:txBody>
      </p:sp>
      <p:sp>
        <p:nvSpPr>
          <p:cNvPr id="11" name="text_Технические доказательства · методика пило">
            <a:extLst xmlns:a="http://schemas.openxmlformats.org/drawingml/2006/main">
              <a:ext uri="{FF2B5EF4-FFF2-40B4-BE49-F238E27FC236}">
                <a16:creationId xmlns:a16="http://schemas.microsoft.com/office/drawing/2014/main" id="{AC53594A-53C3-484A-BBA1-37A51DBF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76750"/>
            <a:ext cx="8096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875" b="0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Технические доказательства · методика пилота · соответствие ТЗ</a:t>
            </a:r>
          </a:p>
        </p:txBody>
      </p:sp>
      <p:sp>
        <p:nvSpPr>
          <p:cNvPr id="12" name="text_Техлаб Москва · Задача № 1 · Positive Tech">
            <a:extLst xmlns:a="http://schemas.openxmlformats.org/drawingml/2006/main">
              <a:ext uri="{FF2B5EF4-FFF2-40B4-BE49-F238E27FC236}">
                <a16:creationId xmlns:a16="http://schemas.microsoft.com/office/drawing/2014/main" id="{6715F204-4168-4952-9111-E372906C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810250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Техлаб Москва · Задача № 1 · Positive Technologies</a:t>
            </a:r>
          </a:p>
        </p:txBody>
      </p:sp>
    </p:spTree>
    <p:extLst>
      <p:ext uri="{BB962C8B-B14F-4D97-AF65-F5344CB8AC3E}">
        <p14:creationId xmlns:p14="http://schemas.microsoft.com/office/powerpoint/2010/main" val="18183499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B72E303-207A-49D4-8502-19547921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56032"/>
            <a:ext cx="9966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Команда и научная база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56458A-6DF1-42EF-B72C-387DEA28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7824"/>
            <a:ext cx="112014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67a8dd01e42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02179C-8526-411C-BFBA-4DD0539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 spc="60">
                <a:solidFill>
                  <a:srgbClr val="7C8D96"/>
                </a:solidFill>
                <a:latin typeface="Arial"/>
                <a:ea typeface="Arial"/>
                <a:cs typeface="Arial"/>
              </a:rPr>
              <a:t>ТАКТ · ТЕХЛАБ МОСКВА · ЗАДАЧА №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C6A5C22-457F-4D66-9224-BD55F515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Трое: инженер-практик энергетики, профессор по защите информационных систем и ведущий аналитик. Общая область — защищённые цифровые системы управления критической инфраструктурой.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77021E7-5570-4C55-8F07-64B12BF1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3657600" cy="30175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3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725e9c33b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1901952"/>
            <a:ext cx="822960" cy="822960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82E940A-0799-4C47-9F4F-051357B0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1901952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Александр Таймаскин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1FD7FB2-00D0-4D8C-A225-FDE0099F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2322576"/>
            <a:ext cx="2286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EE9456"/>
                </a:solidFill>
                <a:latin typeface="Arial"/>
                <a:ea typeface="Arial"/>
                <a:cs typeface="Arial"/>
              </a:rPr>
              <a:t>Основатель и руководитель проекта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E221D95-C8EE-436B-8619-F47878E3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17520"/>
            <a:ext cx="3072384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Специалист отдела телемеханики ПАО «Россети Московский регион». Цифровая диспетчеризация и архитектура программных систем, НИУ «МЭИ». Публикация 2025 года: методология диспетчеризации на основе Clean Architecture. Ведёт разработку ядра и интерфейса.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12A7624-26E5-43C6-A641-CA0B8E09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572768"/>
            <a:ext cx="3657600" cy="30175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44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a099122b74f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3712" y="1901952"/>
            <a:ext cx="822960" cy="822960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DD67A8-9E21-421B-99B4-51CABFB7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01952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Павел Хорев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48EB4B3-A84B-4015-A02C-12D8AAE2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22576"/>
            <a:ext cx="2286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EE9456"/>
                </a:solidFill>
                <a:latin typeface="Arial"/>
                <a:ea typeface="Arial"/>
                <a:cs typeface="Arial"/>
              </a:rPr>
              <a:t>Научный консультант · профессор НИУ «МЭИ»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BBC4FB6-60D8-4A93-8C62-CA481023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017520"/>
            <a:ext cx="3072384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Защита информационных систем и оценка защищённости. Более 160 научных и учебно-методических публикаций, программно-аппаратная защита. Методология проверяемости аналитических подходов — научное консультирование по отдельному договору.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6E1BF4A-0DF2-4558-8CE4-03CED68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8032"/>
            <a:ext cx="11265408" cy="1207008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6252C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908130C-5522-4FE7-AEF4-885AB9AD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47488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 spc="12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ПОДТВЕРЖДЕНИЯ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B49DD04F-5A6D-4652-A1B1-D753061A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3153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592199B-3A66-4F7D-A2D3-6541C67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358384"/>
            <a:ext cx="30632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Патентная заявка № 2026112859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B47D5CB-AFCC-40AB-A3FF-49AA3A49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614416"/>
            <a:ext cx="30632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Алгоритмическое ядро: формирование кейса, контур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целостности пакета, метка пригодности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6FF36667-42DE-462E-B4A5-D7DB3874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3153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492EA31-C968-49E2-A2A1-8F1D044E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5358384"/>
            <a:ext cx="3246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Фонд «Сколково»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B48FFA3-138C-4F36-AD11-AD93B954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5614416"/>
            <a:ext cx="3246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Положительное заключение экспертов фонда: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решение одобрено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7B08687E-11C0-46F9-A2FD-3CB6B85A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5431536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5C999B6-1CF6-4FA4-A285-CD26D089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358384"/>
            <a:ext cx="3200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НИУ «МЭИ» · Positive Technologies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2D83379-0ED6-4CC1-96F2-3D400330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614416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Научное консультирование; работа на стенде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95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по схемам PT SIEM и PT NAD</a:t>
            </a:r>
          </a:p>
        </p:txBody>
      </p:sp>
      <p:sp>
        <p:nvSpPr>
          <p:cNvPr id="32" name="text_02">
            <a:extLst xmlns:a="http://schemas.openxmlformats.org/drawingml/2006/main">
              <a:ext uri="{FF2B5EF4-FFF2-40B4-BE49-F238E27FC236}">
                <a16:creationId xmlns:a16="http://schemas.microsoft.com/office/drawing/2014/main" id="{19D1ED47-4756-4899-8D8E-6F42AE92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02</a:t>
            </a:r>
          </a:p>
        </p:txBody>
      </p:sp>
      <p:sp>
        <p:nvSpPr>
          <p:cNvPr id="101" name="Card3 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572768"/>
            <a:ext cx="3657600" cy="30175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2" name="Card3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901952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Ксения Цапаева</a:t>
            </a:r>
          </a:p>
        </p:txBody>
      </p:sp>
      <p:sp>
        <p:nvSpPr>
          <p:cNvPr id="103" name="Card3 ro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322576"/>
            <a:ext cx="2286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EE9456"/>
                </a:solidFill>
                <a:latin typeface="Arial"/>
                <a:ea typeface="Arial"/>
                <a:cs typeface="Arial"/>
              </a:rPr>
              <a:t>Ведущий аналитик</a:t>
            </a:r>
          </a:p>
        </p:txBody>
      </p:sp>
      <p:sp>
        <p:nvSpPr>
          <p:cNvPr id="104" name="Card3 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017520"/>
            <a:ext cx="3072384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Аналитическая методика продукта: каталог инвариантов поведения, правила риска, разметка демонстрационных дел и контроль качества детектирования на регрессионном наборе. Ведёт сценарии приёмки по ТЗ и методику парного замера трудозатрат аналитика на пилоте.</a:t>
            </a:r>
          </a:p>
        </p:txBody>
      </p:sp>
      <p:pic xmlns:a="http://schemas.openxmlformats.org/drawingml/2006/main" xmlns:r="http://schemas.openxmlformats.org/officeDocument/2006/relationships">
        <p:nvPicPr>
          <p:cNvPr id="105" name="Picture Ksenia" descr="ksen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190195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936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81324C7-4445-45A4-B3A5-C03E1A15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56032"/>
            <a:ext cx="9966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Как работает: конвейер из семи шагов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51A3F1F-0912-449D-99C0-8070EF61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7824"/>
            <a:ext cx="112014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428b115764f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8D50B0-6C2D-4AC0-BEF3-56533D3C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 spc="60">
                <a:solidFill>
                  <a:srgbClr val="7C8D96"/>
                </a:solidFill>
                <a:latin typeface="Arial"/>
                <a:ea typeface="Arial"/>
                <a:cs typeface="Arial"/>
              </a:rPr>
              <a:t>ТАКТ · ТЕХЛАБ МОСКВА · ЗАДАЧА №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9CAE812-F35B-4D70-BC99-875D5922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11247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Первые четыре шага и седьмой выполняются сами. </a:t>
            </a:r>
            <a:r>
              <a:rPr sz="1200" b="0" i="0">
                <a:solidFill>
                  <a:srgbClr val="F4BC65"/>
                </a:solidFill>
                <a:latin typeface="Arial"/>
                <a:ea typeface="Arial"/>
                <a:cs typeface="Arial"/>
              </a:rPr>
              <a:t>Пятый и шестой — работа человека: это граница продукта, а не пробел реализации.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934AE44-0F9E-4C7B-80E6-2489EFAA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1517904" cy="2331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1FBA071-2D93-4E9D-821D-4527C073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700784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E39616B-58F3-4D5A-BB72-CFB8303A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66543"/>
            <a:ext cx="1243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Приём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74CDFA9-4A58-48B6-AAD5-EA855F52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706624"/>
            <a:ext cx="12618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Единичный и пакетный,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из выгрузок и по API.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Коэффициент доверия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по классу источника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3F22E1A-AD80-47D4-8DCA-75A9263B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" y="1554480"/>
            <a:ext cx="1517904" cy="2331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2705868-1735-4D17-8C1A-5DCD5A40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564" y="1700784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7C213A5-10CF-429C-81DC-E7554F06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564" y="2066543"/>
            <a:ext cx="1243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Нормализация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4F39B28-FC9D-49A6-B17F-39C5F6D6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564" y="2706624"/>
            <a:ext cx="12618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Разные схемы 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 одному событию.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Пароли из трафика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маскируются до записи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2BF82A7-91A0-4F08-AE5E-CA18E073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554480"/>
            <a:ext cx="1517904" cy="2331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8233DDD-297F-4ABC-B482-F11CAFC9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1700784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A8F6A64-A9DE-4344-BB4F-6395E2A8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2066543"/>
            <a:ext cx="1243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Инварианты и риск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CCCDC99-CC1C-4239-AA4D-A1D59700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2706624"/>
            <a:ext cx="12618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26 правил поведения,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оценка качества данных,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риск по пяти факторам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C008A7B-E3B8-4001-9934-78812057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379" y="1554480"/>
            <a:ext cx="1517904" cy="2331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56517E-F663-4346-A78C-868903C6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683" y="1700784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635F00-CF1D-41B3-BF8F-47746284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683" y="2066543"/>
            <a:ext cx="1243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Сборка инцидента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0EFFB14-8C0B-44C6-9F2A-7B3B1075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683" y="2706624"/>
            <a:ext cx="12618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События связываются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по сущностям: узел,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учётная запись, процесс,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адрес, артефакт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AD94902-93F8-4144-BD57-3EE67C5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1517904" cy="2331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6252C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4BCCBE2-86B1-4B56-88F1-F9F2A977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1700784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 i="0">
                <a:solidFill>
                  <a:srgbClr val="F4BC65"/>
                </a:solidFill>
                <a:latin typeface="TT Firs Neue DemiBold"/>
                <a:ea typeface="TT Firs Neue DemiBold"/>
                <a:cs typeface="TT Firs Neue DemiBold"/>
              </a:rPr>
              <a:t>05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7A04C53-CDFB-4E0E-BBF2-28D4B47E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2066543"/>
            <a:ext cx="1243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Расследование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0AEF902-1D7D-480C-B019-34A4AC60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2706624"/>
            <a:ext cx="12618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Аналитик: находки,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цепочка атаки, карточки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сущностей, ручная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корреляция с основанием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27492C5-AFE8-451D-9D70-FEB7B45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3602736"/>
            <a:ext cx="124358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 i="0" spc="90">
                <a:solidFill>
                  <a:srgbClr val="F4BC65"/>
                </a:solidFill>
                <a:latin typeface="TT Firs Neue DemiBold"/>
                <a:ea typeface="TT Firs Neue DemiBold"/>
                <a:cs typeface="TT Firs Neue DemiBold"/>
              </a:rPr>
              <a:t>РЕШАЕТ ЧЕЛОВЕК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D373DCEF-7ADD-4513-861A-9172FDA4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54480"/>
            <a:ext cx="1517904" cy="2331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6252C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355C64D-1CE8-4E27-A60F-3C84C054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804" y="1700784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 i="0">
                <a:solidFill>
                  <a:srgbClr val="F4BC65"/>
                </a:solidFill>
                <a:latin typeface="TT Firs Neue DemiBold"/>
                <a:ea typeface="TT Firs Neue DemiBold"/>
                <a:cs typeface="TT Firs Neue DemiBold"/>
              </a:rPr>
              <a:t>06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7D35D8C-8335-43D6-98DE-E1060393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804" y="2066543"/>
            <a:ext cx="1243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Решение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A49D9E2-3F6A-4E45-BF1F-B5780A87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804" y="2706624"/>
            <a:ext cx="12618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Вердикт и статус ставит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человек, с причиной.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Продукт не закрывает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дело сам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5570CE5-D9AD-45A4-97A5-5010FD0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804" y="3602736"/>
            <a:ext cx="124358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0" i="0" spc="90">
                <a:solidFill>
                  <a:srgbClr val="F4BC65"/>
                </a:solidFill>
                <a:latin typeface="TT Firs Neue DemiBold"/>
                <a:ea typeface="TT Firs Neue DemiBold"/>
                <a:cs typeface="TT Firs Neue DemiBold"/>
              </a:rPr>
              <a:t>РЕШАЕТ ЧЕЛОВЕК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582E627D-0A37-4FDA-9ED4-CBE3D475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59" y="1554480"/>
            <a:ext cx="1517904" cy="23317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02B231E-DA8A-4997-B008-0B21A351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63" y="1700784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07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3E461C7A-E5E8-4685-8C71-F1D008FC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63" y="2066543"/>
            <a:ext cx="1243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0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Доказательный пакет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C84F8C7-9032-4AB6-A808-74A09B5D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63" y="2706624"/>
            <a:ext cx="12618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Манифест, контрольные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значения, корневой хэш,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статус подписи,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8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независимая проверка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9927B28-75A3-4D84-A87A-BCC4C66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4528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 spc="12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ЧТО ПРОДУКТ СЧИТАЕТ САМ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102F3D75-AC7E-4158-AA00-1D2683D1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3694176" cy="14173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00137D3-D3B7-4CC8-8B31-5480CE27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73168"/>
            <a:ext cx="32369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Триадный вердикт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C2A1C40-472E-4C74-ADE1-393565F2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120640"/>
            <a:ext cx="323697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LEG · ILLEG · UNDET. Третье значение 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продаваемая функция, а не дефект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30DFC6D3-0DA9-45A7-B2A2-69772E25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4572000"/>
            <a:ext cx="3694176" cy="14173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8385D9B9-8A2E-405B-871E-81133FED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773168"/>
            <a:ext cx="32369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Риск по пяти факторам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22DAA6A5-9869-4789-9EEA-7809A2BD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120640"/>
            <a:ext cx="323697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Ритм опроса, граф связей, оргконтекст,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пользователь, качество данных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0088A93F-3211-48B3-A889-7D0EF837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4572000"/>
            <a:ext cx="3694176" cy="14173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CD5A3FE2-096A-47D0-9123-EACBEC2D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3" y="4773168"/>
            <a:ext cx="32369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26 инвариантов в шести блоках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C07140D4-3C1E-4F41-90CC-F06FD5EC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3" y="5120640"/>
            <a:ext cx="323697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20 исполняются в проде; шесть ждут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контекста и объявлены отключёнными</a:t>
            </a:r>
          </a:p>
        </p:txBody>
      </p:sp>
      <p:sp>
        <p:nvSpPr>
          <p:cNvPr id="49" name="text_03">
            <a:extLst xmlns:a="http://schemas.openxmlformats.org/drawingml/2006/main">
              <a:ext uri="{FF2B5EF4-FFF2-40B4-BE49-F238E27FC236}">
                <a16:creationId xmlns:a16="http://schemas.microsoft.com/office/drawing/2014/main" id="{3E6E8874-86DB-4886-8608-1F88E5CF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5330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8EEAE7F-C674-4F63-8CE4-F1724506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56032"/>
            <a:ext cx="9966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Демонстрация: одно дело от входа до вывода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A7AF277-D491-4EE2-AB8C-6E27C37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7824"/>
            <a:ext cx="112014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cdc822df14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7740C07-A2BF-41F1-BEA0-1E10D468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 spc="60">
                <a:solidFill>
                  <a:srgbClr val="7C8D96"/>
                </a:solidFill>
                <a:latin typeface="Arial"/>
                <a:ea typeface="Arial"/>
                <a:cs typeface="Arial"/>
              </a:rPr>
              <a:t>ТАКТ · ТЕХЛАБ МОСКВА · ЗАДАЧА №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AE8553-84FE-480E-94CC-A5E99E47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11247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ТАКТ автоматически связывает события четырёх классов источников в одно дело, сверяет их с организационным контекстом </a:t>
            </a: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выдаёт вердикт с доказательным пакетом.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BC372CF-20CB-4486-94B1-6681089E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7187184" cy="4279392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44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0f34e02b049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248" y="1700784"/>
            <a:ext cx="6419088" cy="4024507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E299924-5CA4-4C93-AAE5-68C7143D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7223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Основной АРМ аналитика, живой стенд: ralta.ru/takt_pt_arm/ · </a:t>
            </a:r>
            <a:r>
              <a:rPr sz="90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44 демонстрационных дела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C7E010D-F117-41C3-A5AE-E2904085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1664208"/>
            <a:ext cx="658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0:00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F2D71E7-8F57-475A-8EBB-0741EDE3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64592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Очередь инцидентов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F571AB9-AA85-4CEE-814C-0D37F662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92024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Дела собраны без участия аналитика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781617E-AEAC-4958-96E3-D065CE6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231136"/>
            <a:ext cx="3803904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061A9CC-A587-4995-A012-12E142EB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395728"/>
            <a:ext cx="658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1:30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16E207C-C057-41C2-8E01-C1B30647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37744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Риск и объяснение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BE5DCCA-9AD2-4B1B-90BD-19829D30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65176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Балл, пять факторов, контрфактика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DBB325D-8E6D-431B-9038-1EEF344E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962656"/>
            <a:ext cx="3803904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B5E0406-5412-4CA3-8C52-69CAD9EF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127248"/>
            <a:ext cx="658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3:00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E84857C-3865-4244-B503-6AF3B5B1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10896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Неопределённость вслух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5A72CFC-696F-40E4-A97C-C3A6824D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38328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Какого документа не хватает и где взять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43C9F84-2693-4277-9360-EFB853AB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694176"/>
            <a:ext cx="3803904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7C8E91-0E8E-4895-9474-7EFC566D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858768"/>
            <a:ext cx="658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4:30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5B9E271-BCAF-48EF-9E7A-30EF10DC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84048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Цепочка атаки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CFC60CE-744B-4DE2-9DCB-378546D9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11480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59 событий, 14 сущностей, 19 связей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8216FC1-428B-4402-B3F4-E8DDA301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4425696"/>
            <a:ext cx="3803904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A660A69-6F70-4076-B4EE-6772AA9B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4590288"/>
            <a:ext cx="658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6:30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8D6C349-694F-43F5-917E-47DF8CA7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57200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Итоговое описание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82F9AA9-183A-4D0D-AC18-22DD64D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84632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8 разделов; рассуждение помечено черновиком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D315D1D-AB7B-48E2-8EED-2B4E70F8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5157216"/>
            <a:ext cx="3803904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CC786EA-4EE7-4AF4-A173-D3422D9E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5321808"/>
            <a:ext cx="65836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8:00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6245D1A-4884-4180-84AB-ECA41ABF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30352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Доказательный пакет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FBC9707-FBD7-47E1-B0FA-856AD3AA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577840"/>
            <a:ext cx="3127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Выгрузить дважды — корневой хэш совпал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D434178-0646-46EB-959E-B6F7F662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594360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7C8D96"/>
                </a:solidFill>
                <a:latin typeface="Arial"/>
                <a:ea typeface="Arial"/>
                <a:cs typeface="Arial"/>
              </a:rPr>
              <a:t>Отдельный тест INC-002: 1030 событий, 27 в цепочке</a:t>
            </a:r>
          </a:p>
        </p:txBody>
      </p:sp>
      <p:sp>
        <p:nvSpPr>
          <p:cNvPr id="37" name="text_04">
            <a:extLst xmlns:a="http://schemas.openxmlformats.org/drawingml/2006/main">
              <a:ext uri="{FF2B5EF4-FFF2-40B4-BE49-F238E27FC236}">
                <a16:creationId xmlns:a16="http://schemas.microsoft.com/office/drawing/2014/main" id="{BB6B8E1C-2CDE-4FDD-8B94-20570E6C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27606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8EEAE7F-C674-4F63-8CE4-F1724506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56032"/>
            <a:ext cx="9966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75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Пять экранов, которые называет ТЗ</a:t>
            </a:r>
          </a:p>
        </p:txBody>
      </p:sp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cdc822df14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7740C07-A2BF-41F1-BEA0-1E10D468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 spc="60">
                <a:solidFill>
                  <a:srgbClr val="7C8D96"/>
                </a:solidFill>
                <a:latin typeface="Arial"/>
                <a:ea typeface="Arial"/>
                <a:cs typeface="Arial"/>
              </a:rPr>
              <a:t>ТАКТ · ТЕХЛАБ МОСКВА · ЗАДАЧА №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AE8553-84FE-480E-94CC-A5E99E47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11247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 i="0">
                <a:solidFill>
                  <a:srgbClr val="CEDBE1"/>
                </a:solidFill>
                <a:latin typeface="Arial"/>
                <a:ea typeface="Arial"/>
                <a:cs typeface="Arial"/>
              </a:rPr>
              <a:t>Требование § 10: показаны примеры экранов рабочего места. Ниже — живой стенд, не макет; подписи повторяют формулировки ТЗ.</a:t>
            </a:r>
          </a:p>
        </p:txBody>
      </p:sp>
      <p:sp>
        <p:nvSpPr>
          <p:cNvPr id="37" name="text_04">
            <a:extLst xmlns:a="http://schemas.openxmlformats.org/drawingml/2006/main">
              <a:ext uri="{FF2B5EF4-FFF2-40B4-BE49-F238E27FC236}">
                <a16:creationId xmlns:a16="http://schemas.microsoft.com/office/drawing/2014/main" id="{BB6B8E1C-2CDE-4FDD-8B94-20570E6C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05</a:t>
            </a:r>
          </a:p>
        </p:txBody>
      </p:sp>
      <p:pic xmlns:a="http://schemas.openxmlformats.org/drawingml/2006/main" xmlns:r="http://schemas.openxmlformats.org/officeDocument/2006/relationships">
        <p:nvPicPr>
          <p:cNvPr id="41" name="Picture 40" descr="til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83080"/>
            <a:ext cx="2084831" cy="1563624"/>
          </a:xfrm>
          <a:prstGeom prst="rect">
            <a:avLst/>
          </a:prstGeom>
        </p:spPr>
      </p:pic>
      <p:sp xmlns:a="http://schemas.openxmlformats.org/drawingml/2006/main">
        <p:nvSpPr>
          <p:cNvPr id="42" name="TextBox 41"/>
          <p:cNvSpPr txBox="1"/>
          <p:nvPr/>
        </p:nvSpPr>
        <p:spPr>
          <a:xfrm>
            <a:off x="457200" y="4356432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TT Firs Neue DemiBold"/>
              </a:rPr>
              <a:t>Рабочий стол инцидента</a:t>
            </a:r>
          </a:p>
        </p:txBody>
      </p:sp>
      <p:sp xmlns:a="http://schemas.openxmlformats.org/drawingml/2006/main">
        <p:nvSpPr>
          <p:cNvPr id="43" name="TextBox 42"/>
          <p:cNvSpPr txBox="1"/>
          <p:nvPr/>
        </p:nvSpPr>
        <p:spPr>
          <a:xfrm>
            <a:off x="457200" y="4630752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FB3BF"/>
                </a:solidFill>
                <a:latin typeface="TT Firs Neue DemiBold"/>
              </a:rPr>
              <a:t>очередь и карточка дела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2724912" y="4356432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TT Firs Neue DemiBold"/>
              </a:rPr>
              <a:t>Граф и таймлайн</a:t>
            </a:r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2724912" y="4630752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FB3BF"/>
                </a:solidFill>
                <a:latin typeface="TT Firs Neue DemiBold"/>
              </a:rPr>
              <a:t>связи и порядок событий</a:t>
            </a:r>
          </a:p>
        </p:txBody>
      </p:sp>
      <p:pic xmlns:a="http://schemas.openxmlformats.org/drawingml/2006/main" xmlns:r="http://schemas.openxmlformats.org/officeDocument/2006/relationships">
        <p:nvPicPr>
          <p:cNvPr id="47" name="Picture 46" descr="til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2683080"/>
            <a:ext cx="2084831" cy="1563624"/>
          </a:xfrm>
          <a:prstGeom prst="rect">
            <a:avLst/>
          </a:prstGeom>
        </p:spPr>
      </p:pic>
      <p:sp xmlns:a="http://schemas.openxmlformats.org/drawingml/2006/main">
        <p:nvSpPr>
          <p:cNvPr id="48" name="TextBox 47"/>
          <p:cNvSpPr txBox="1"/>
          <p:nvPr/>
        </p:nvSpPr>
        <p:spPr>
          <a:xfrm>
            <a:off x="4992624" y="4356432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TT Firs Neue DemiBold"/>
              </a:rPr>
              <a:t>Карточка сущности</a:t>
            </a:r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4992624" y="4630752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FB3BF"/>
                </a:solidFill>
                <a:latin typeface="TT Firs Neue DemiBold"/>
              </a:rPr>
              <a:t>историчность и окружение</a:t>
            </a:r>
          </a:p>
        </p:txBody>
      </p:sp>
      <p:pic xmlns:a="http://schemas.openxmlformats.org/drawingml/2006/main" xmlns:r="http://schemas.openxmlformats.org/officeDocument/2006/relationships">
        <p:nvPicPr>
          <p:cNvPr id="50" name="Picture 49" descr="til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0336" y="2683080"/>
            <a:ext cx="2084831" cy="1563624"/>
          </a:xfrm>
          <a:prstGeom prst="rect">
            <a:avLst/>
          </a:prstGeom>
        </p:spPr>
      </p:pic>
      <p:sp xmlns:a="http://schemas.openxmlformats.org/drawingml/2006/main">
        <p:nvSpPr>
          <p:cNvPr id="51" name="TextBox 50"/>
          <p:cNvSpPr txBox="1"/>
          <p:nvPr/>
        </p:nvSpPr>
        <p:spPr>
          <a:xfrm>
            <a:off x="7260336" y="4356432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TT Firs Neue DemiBold"/>
              </a:rPr>
              <a:t>Журнал находок</a:t>
            </a:r>
          </a:p>
        </p:txBody>
      </p:sp>
      <p:sp xmlns:a="http://schemas.openxmlformats.org/drawingml/2006/main">
        <p:nvSpPr>
          <p:cNvPr id="52" name="TextBox 51"/>
          <p:cNvSpPr txBox="1"/>
          <p:nvPr/>
        </p:nvSpPr>
        <p:spPr>
          <a:xfrm>
            <a:off x="7260336" y="4630752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FB3BF"/>
                </a:solidFill>
                <a:latin typeface="TT Firs Neue DemiBold"/>
              </a:rPr>
              <a:t>находка привязана к делу</a:t>
            </a:r>
          </a:p>
        </p:txBody>
      </p:sp>
      <p:sp xmlns:a="http://schemas.openxmlformats.org/drawingml/2006/main">
        <p:nvSpPr>
          <p:cNvPr id="54" name="TextBox 53"/>
          <p:cNvSpPr txBox="1"/>
          <p:nvPr/>
        </p:nvSpPr>
        <p:spPr>
          <a:xfrm>
            <a:off x="9528048" y="4356432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TT Firs Neue DemiBold"/>
              </a:rPr>
              <a:t>Пакет реагирования</a:t>
            </a:r>
          </a:p>
        </p:txBody>
      </p:sp>
      <p:sp xmlns:a="http://schemas.openxmlformats.org/drawingml/2006/main">
        <p:nvSpPr>
          <p:cNvPr id="55" name="TextBox 54"/>
          <p:cNvSpPr txBox="1"/>
          <p:nvPr/>
        </p:nvSpPr>
        <p:spPr>
          <a:xfrm>
            <a:off x="9528048" y="4630752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FB3BF"/>
                </a:solidFill>
                <a:latin typeface="TT Firs Neue DemiBold"/>
              </a:rPr>
              <a:t>готовится для подтверждения</a:t>
            </a:r>
          </a:p>
        </p:txBody>
      </p:sp>
      <p:pic xmlns:a="http://schemas.openxmlformats.org/drawingml/2006/main" xmlns:r="http://schemas.openxmlformats.org/officeDocument/2006/relationships">
        <p:nvPicPr>
          <p:cNvPr id="59" name="Picture 58" descr="tile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4912" y="2683080"/>
            <a:ext cx="2084831" cy="1563624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60" name="Picture 59" descr="tile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8048" y="2683080"/>
            <a:ext cx="2084831" cy="15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606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A029102-0095-4BB6-8E1C-CC128F89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56032"/>
            <a:ext cx="9966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Архитектура: прослеживаемый путь решения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580D3A-ADA0-4DE2-BB0D-68DB4B3E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7824"/>
            <a:ext cx="112014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a79a9dd5a47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854ABB-E203-46B9-81E3-0497353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 spc="60">
                <a:solidFill>
                  <a:srgbClr val="7C8D96"/>
                </a:solidFill>
                <a:latin typeface="Arial"/>
                <a:ea typeface="Arial"/>
                <a:cs typeface="Arial"/>
              </a:rPr>
              <a:t>ТАКТ · ТЕХЛАБ МОСКВА · ЗАДАЧА №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E92795-F953-4AC7-AA5A-03761294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11247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Четыре слоя — домен, применение, адаптеры интерфейса, инфраструктура — с зависимостями в одну сторону. Обратных импортов нет ни на одном шаге: 3 контракта из 3.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CCD1706-E8DA-4318-BFFD-AE0D02CD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2615184" cy="192024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E34CEBC-4FEF-4128-8BB0-5E597154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755648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Источники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60BCB66-D194-41F5-8369-AB7584F1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212848"/>
            <a:ext cx="215798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EDR · SIEM · NDR/NTA ·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промышленная телеметрия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Наряды, заявки, окна работ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8A3AFC6-6DF5-4D4B-BE7C-FD009AA8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2331720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 i="0">
                <a:solidFill>
                  <a:srgbClr val="7C8D96"/>
                </a:solidFill>
                <a:latin typeface="TT Firs Neue DemiBold"/>
                <a:ea typeface="TT Firs Neue DemiBold"/>
                <a:cs typeface="TT Firs Neue DemiBold"/>
              </a:rPr>
              <a:t>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E0CC7A2-BE24-4B70-99B1-D6991E9D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3" y="1554480"/>
            <a:ext cx="2615184" cy="192024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6E9EA0E-EF6A-4BBE-B84D-7DA7391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755648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Приём и нормализация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6F18B22-8514-47ED-B06D-4B5CD5B8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212848"/>
            <a:ext cx="215798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Адаптеры-импортёры,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коэффициент доверия по классу,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маскирование паролей до записи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521555-73BD-4B1D-A1F9-3234F8F6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31720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 i="0">
                <a:solidFill>
                  <a:srgbClr val="7C8D96"/>
                </a:solidFill>
                <a:latin typeface="TT Firs Neue DemiBold"/>
                <a:ea typeface="TT Firs Neue DemiBold"/>
                <a:cs typeface="TT Firs Neue DemiBold"/>
              </a:rPr>
              <a:t>→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262BD21-C8E3-4656-BD76-A223E2D7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1554480"/>
            <a:ext cx="2615184" cy="192024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A746032-5F69-4765-BAC3-77044E2C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1" y="1755648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Ядро оценки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53929BB-10D8-40C5-89FF-CDEC66C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1" y="2212848"/>
            <a:ext cx="215798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26 инвариантов, риск по пяти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факторам, триадный вердикт,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контрфактическое объяснение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2B459D8-8442-4FD3-ADA7-D9A0A6FD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2331720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 i="0">
                <a:solidFill>
                  <a:srgbClr val="7C8D96"/>
                </a:solidFill>
                <a:latin typeface="TT Firs Neue DemiBold"/>
                <a:ea typeface="TT Firs Neue DemiBold"/>
                <a:cs typeface="TT Firs Neue DemiBold"/>
              </a:rPr>
              <a:t>→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1208A94-9BCB-421A-8639-2991F1A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1" y="1554480"/>
            <a:ext cx="2615184" cy="192024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2C1AFAB-C404-4089-AFBB-DBA24A82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5" y="1755648"/>
            <a:ext cx="21579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Результат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CACEE4F-E765-4A25-BA75-875D8A0B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5" y="2212848"/>
            <a:ext cx="215798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АРМ аналитика, итоговое описание,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пакет реагирования,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доказательный пакет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2D7516D-92F1-42C3-A193-8047F04C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3694176" cy="1517904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C918A9-869D-475D-850D-748275A8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41648"/>
            <a:ext cx="3236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Детерминизм контура вердикта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5E222E-3119-4F38-BE03-FECD2DF1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07408"/>
            <a:ext cx="323697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В домене и слое применения запрещены сеть,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случайность и вызовы языковых моделей.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Запрет держат тесты-сторожа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92A857D7-0C17-4A7F-8770-B4D04F32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3840480"/>
            <a:ext cx="3694176" cy="1517904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DD6AC28-DF47-4E9B-A83E-B1576BC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041648"/>
            <a:ext cx="3236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Целостность доказательного пакета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A43FBD3-D3AD-4495-AFAF-30BDF363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07408"/>
            <a:ext cx="323697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Контрольное значение каждого элемента,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цепочка хэшей, корневой хэш, статус подписи,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независимая проверка запросом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1DA39EFF-293A-49CD-AAFD-5E532D7C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3840480"/>
            <a:ext cx="3694176" cy="1517904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B71C088-B1EE-4201-86B9-7006B02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3" y="4041648"/>
            <a:ext cx="3236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Эксплуатация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28B648D-1249-4D0E-8FB0-CD172944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3" y="4407408"/>
            <a:ext cx="323697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Два процесса, Docker и systemd, пробы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liveness/readiness, метрики Prometheus,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SBOM, CI на Python 3.11–3.14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3F3C7D81-CF77-49E1-840D-77BB7D0C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1264"/>
            <a:ext cx="11265408" cy="658368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6252C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525188-8193-4CB9-ACF8-032866EE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705856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Повторный прогон на тех же данных обязан дать тот же вердикт, то же объяснение и то же контрольное значение манифеста. </a:t>
            </a: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Это условие юридической значимости, а не инженерная придирка.</a:t>
            </a:r>
          </a:p>
        </p:txBody>
      </p:sp>
      <p:sp>
        <p:nvSpPr>
          <p:cNvPr id="35" name="text_05">
            <a:extLst xmlns:a="http://schemas.openxmlformats.org/drawingml/2006/main">
              <a:ext uri="{FF2B5EF4-FFF2-40B4-BE49-F238E27FC236}">
                <a16:creationId xmlns:a16="http://schemas.microsoft.com/office/drawing/2014/main" id="{59031B73-FDC7-4140-AAF5-2A105A6D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15637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8EA98C1-7C72-4F5E-8AEA-3038FDC8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56032"/>
            <a:ext cx="9966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Чем отличается от типового SOC-стека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9525CD-DCAE-4F72-8BF4-26B5FCC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7824"/>
            <a:ext cx="112014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b77228cf54d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D7B461-B0FB-4420-92CC-7D174EAD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 spc="60">
                <a:solidFill>
                  <a:srgbClr val="7C8D96"/>
                </a:solidFill>
                <a:latin typeface="Arial"/>
                <a:ea typeface="Arial"/>
                <a:cs typeface="Arial"/>
              </a:rPr>
              <a:t>ТАКТ · ТЕХЛАБ МОСКВА · ЗАДАЧА №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F0ACF6F-13E8-4667-BA87-D2CAD829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11247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Сравнение со свойствами стека, а не с названиями продуктов. Каждое отличие проверяемо в репозитории.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9D037A6-8229-4B5E-A51F-24270544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 spc="120">
                <a:solidFill>
                  <a:srgbClr val="7C8D96"/>
                </a:solidFill>
                <a:latin typeface="TT Firs Neue DemiBold"/>
                <a:ea typeface="TT Firs Neue DemiBold"/>
                <a:cs typeface="TT Firs Neue DemiBold"/>
              </a:rPr>
              <a:t>ОТЛИЧИЕ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E76CEC-122F-41C9-A473-790B8ED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517904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 spc="120">
                <a:solidFill>
                  <a:srgbClr val="7C8D96"/>
                </a:solidFill>
                <a:latin typeface="TT Firs Neue DemiBold"/>
                <a:ea typeface="TT Firs Neue DemiBold"/>
                <a:cs typeface="TT Firs Neue DemiBold"/>
              </a:rPr>
              <a:t>ЧТО ЭТО ДАЁТ ПОКУПАТЕЛЮ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EA87873-6A26-4D80-91ED-F74D42C1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517904"/>
            <a:ext cx="3200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 spc="120">
                <a:solidFill>
                  <a:srgbClr val="7C8D96"/>
                </a:solidFill>
                <a:latin typeface="TT Firs Neue DemiBold"/>
                <a:ea typeface="TT Firs Neue DemiBold"/>
                <a:cs typeface="TT Firs Neue DemiBold"/>
              </a:rPr>
              <a:t>ЧЕМ ПРОВЕРЯЕТСЯ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9D23F67-B975-487B-8651-BBC49CB5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2224"/>
            <a:ext cx="1126540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412A672-2E9F-4FBD-BE66-2A160582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Организационный контекст —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полноправная сущность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4B2DB19-81C9-4770-97C5-5FA211D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011680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Ответ не «сработало правило», а «это плановые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работы» либо «санкции на это не было»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877F51-C0E4-4576-A001-00A74D88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01168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Документ контекста в деле,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статус «не определено» с маршрутом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0889A1A-1EE8-497E-9F66-6B3A3703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6624"/>
            <a:ext cx="11265408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2A88C0-2ACE-467D-85D2-BAFB7620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34640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Неопределённость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называется вслух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CD4C75D-9FB2-4C16-8417-EFF7E518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852928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Третье значение вердикта вместо натянутого «да».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Честная неопределённость дешевле ложной уверенности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2C88393-12BB-459A-83AB-288440C7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852928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Триадный вердикт, показатель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обоснованности вывода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035A9CD-ED62-4265-B8A9-5B58638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7872"/>
            <a:ext cx="11265408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D96EC9E-F393-4D81-8568-AFAC4CBA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75887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Детерминизм вердикта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как архитектурный запрет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E7253C4-68FD-49F1-9273-DCCFF69A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694176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Повторный прогон даёт тот же вывод 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экспертиза может его воспроизвести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92D5798-9B1A-4339-8506-972FB88C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694176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Тесты-сторожа, 3 из 3 контрактов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слоёв соблюдены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EFA16DD-E4C4-4EB5-B7EA-542793D8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9120"/>
            <a:ext cx="11265408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200961D-CDEF-447B-B0B9-DBB68185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7136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Доказательный пакет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 независимой проверкой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9D8B609-82EC-40F6-BF45-E5CCDA86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535424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Получатель проверяет целостность сам,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не доверяя поставщику на слово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6EB631B-2616-40D1-BFAE-E424B08C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535424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Манифест, корневой хэш,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запрос верификации пакета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5AA4E8A-CB29-4AC6-939E-3454AC2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0368"/>
            <a:ext cx="11265408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3846FD4-2A96-4954-B3DD-971CD2C7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58383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Промышленная компетенция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в том же окне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827941E-086C-4AFE-8501-6F6AA5C1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376672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Одно рабочее место закрывает корпоративный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и технологический сегмент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76BA13F-46CB-4B5F-9C6C-E4DEB220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376672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26 инвариантов поведения АСУ ТП,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89BEE0"/>
                </a:solidFill>
                <a:latin typeface="Arial"/>
                <a:ea typeface="Arial"/>
                <a:cs typeface="Arial"/>
              </a:rPr>
              <a:t>нормализация промышленных протоколов</a:t>
            </a:r>
          </a:p>
        </p:txBody>
      </p:sp>
      <p:sp>
        <p:nvSpPr>
          <p:cNvPr id="32" name="text_06">
            <a:extLst xmlns:a="http://schemas.openxmlformats.org/drawingml/2006/main">
              <a:ext uri="{FF2B5EF4-FFF2-40B4-BE49-F238E27FC236}">
                <a16:creationId xmlns:a16="http://schemas.microsoft.com/office/drawing/2014/main" id="{5BBCCC9E-812F-4D71-95D0-B54C8CAC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19839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627082450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23" name="text_Соответствие ТЗ: статус и приёмка">
            <a:extLst xmlns:a="http://schemas.openxmlformats.org/drawingml/2006/main">
              <a:ext uri="{FF2B5EF4-FFF2-40B4-BE49-F238E27FC236}">
                <a16:creationId xmlns:a16="http://schemas.microsoft.com/office/drawing/2014/main" id="{18DF8327-E825-49A6-88BC-E24C17DC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6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Функции ТЗ, которые уже работают</a:t>
            </a:r>
          </a:p>
        </p:txBody>
      </p:sp>
      <p:sp>
        <p:nvSpPr>
          <p:cNvPr id="24" name="text_ТАКТ  / 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DC259457-18DD-47FE-A0C5-9DFE417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ПРИЛОЖЕНИЕ</a:t>
            </a:r>
          </a:p>
        </p:txBody>
      </p:sp>
      <p:sp>
        <p:nvSpPr>
          <p:cNvPr id="25" name="text_Работающее синтетическое демо отделено от ">
            <a:extLst xmlns:a="http://schemas.openxmlformats.org/drawingml/2006/main">
              <a:ext uri="{FF2B5EF4-FFF2-40B4-BE49-F238E27FC236}">
                <a16:creationId xmlns:a16="http://schemas.microsoft.com/office/drawing/2014/main" id="{B7A1D523-E402-4536-8D6F-F75B511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Перечень функций ТЗ и то, что из него закрыто сегодня. Ни одна строка не обещает того, чего нет в коде: рядом с каждой — чем её проверить.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466725" y="1562100"/>
          <a:ext xmlns:a="http://schemas.openxmlformats.org/drawingml/2006/main" cx="11049000" cy="4267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24150"/>
                <a:gridCol w="3810000"/>
                <a:gridCol w="4514850"/>
              </a:tblGrid>
              <a:tr h="50292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Функция ТЗ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Что работает сегодня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Чем проверяется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5.8 Единый поиск и фильтрация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Поиск по событиям всех подключённых источников; очередь с фильтрами по классу, статусу, узлу и правилу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Запрос /events/search, протокол точности поиска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5.7 Обогащение артефактов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Декодирование base64 и URL внутри интерфейса; репутация и песочница — внешние интеграции по согласованию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Запрос /enrichment/decode, allowlist исходящих вызовов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4.7 Оценка распространения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Расширение инцидента до уровня узла: перечень затронутых узлов с доказательствами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Блок «Расширение до узла», пакет реагирования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12.2 Качество корреляции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23 события цепочки из 27 собираются автоматически, без единого фонового; оставшиеся 4 добираются расширением до узла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scripts/eval_correlation.py; precision и recall 1,000 — отдельный корпус, 7 событий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5.13 Роли и права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Четыре роли; недоступное роли действие не рисуется, а не отвечает отказом после нажатия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Матрица ролей, запрос /session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5.14 Журнал действий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Неизменяемый журнал с хэш-цепочкой; целостность проверяется независимо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Запрос проверки журнала, отдельный верификатор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</a:tbl>
          </a:graphicData>
        </a:graphic>
      </p:graphicFrame>
      <p:sp>
        <p:nvSpPr>
          <p:cNvPr id="27" name="text_Вывод: техническая основа показана; полное">
            <a:extLst xmlns:a="http://schemas.openxmlformats.org/drawingml/2006/main">
              <a:ext uri="{FF2B5EF4-FFF2-40B4-BE49-F238E27FC236}">
                <a16:creationId xmlns:a16="http://schemas.microsoft.com/office/drawing/2014/main" id="{0D45A592-F314-4088-827B-4086D9E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531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Единственный пункт перечня, которого нет: § 5.9 подсказки следующих шагов — опция ТЗ вне обязательного объёма MVP.</a:t>
            </a:r>
          </a:p>
        </p:txBody>
      </p:sp>
      <p:sp>
        <p:nvSpPr>
          <p:cNvPr id="28" name="text_10">
            <a:extLst xmlns:a="http://schemas.openxmlformats.org/drawingml/2006/main">
              <a:ext uri="{FF2B5EF4-FFF2-40B4-BE49-F238E27FC236}">
                <a16:creationId xmlns:a16="http://schemas.microsoft.com/office/drawing/2014/main" id="{CCF3BF50-A466-4BD9-89C9-E921CD6E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90552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627082450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23" name="text_Соответствие ТЗ: статус и приёмка">
            <a:extLst xmlns:a="http://schemas.openxmlformats.org/drawingml/2006/main">
              <a:ext uri="{FF2B5EF4-FFF2-40B4-BE49-F238E27FC236}">
                <a16:creationId xmlns:a16="http://schemas.microsoft.com/office/drawing/2014/main" id="{18DF8327-E825-49A6-88BC-E24C17DC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6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Удобство: что изменил аудит рабочего места</a:t>
            </a:r>
          </a:p>
        </p:txBody>
      </p:sp>
      <p:sp>
        <p:nvSpPr>
          <p:cNvPr id="24" name="text_ТАКТ  / 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DC259457-18DD-47FE-A0C5-9DFE417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ПРИЛОЖЕНИЕ</a:t>
            </a:r>
          </a:p>
        </p:txBody>
      </p:sp>
      <p:sp>
        <p:nvSpPr>
          <p:cNvPr id="25" name="text_Работающее синтетическое демо отделено от ">
            <a:extLst xmlns:a="http://schemas.openxmlformats.org/drawingml/2006/main">
              <a:ext uri="{FF2B5EF4-FFF2-40B4-BE49-F238E27FC236}">
                <a16:creationId xmlns:a16="http://schemas.microsoft.com/office/drawing/2014/main" id="{B7A1D523-E402-4536-8D6F-F75B511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Критерий § 12.5 оценивается отдельно. Каждая находка воспроизведена пробой, исправлена и заново измерена на тех же данных.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466725" y="1562100"/>
          <a:ext xmlns:a="http://schemas.openxmlformats.org/drawingml/2006/main" cx="11049000" cy="4267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24150"/>
                <a:gridCol w="3810000"/>
                <a:gridCol w="4514850"/>
              </a:tblGrid>
              <a:tr h="50292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Находка аудита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Было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Стало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Очередь удерживала клавиатуру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100 нажатий Tab, чтобы выйти из списка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1 нажатие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История узла обрывалась молча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10 событий из 18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18 из 18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Узкая раскладка растягивала страницу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1663 px по горизонтали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753 px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Событие разбиралось второй раз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2 записи на одно событие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Метка покрытия и переход в собранный инцидент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Основание решения не показывалось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0 причин в журнале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Причина видна рядом с решением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</a:tbl>
          </a:graphicData>
        </a:graphic>
      </p:graphicFrame>
      <p:sp>
        <p:nvSpPr>
          <p:cNvPr id="27" name="text_Вывод: техническая основа показана; полное">
            <a:extLst xmlns:a="http://schemas.openxmlformats.org/drawingml/2006/main">
              <a:ext uri="{FF2B5EF4-FFF2-40B4-BE49-F238E27FC236}">
                <a16:creationId xmlns:a16="http://schemas.microsoft.com/office/drawing/2014/main" id="{0D45A592-F314-4088-827B-4086D9E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531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Аудит внутренний, а не независимый. Шесть находок первого аудита и семь из восьми разрывов второго закрыты и проверены на живом стенде.</a:t>
            </a:r>
          </a:p>
        </p:txBody>
      </p:sp>
      <p:sp>
        <p:nvSpPr>
          <p:cNvPr id="28" name="text_10">
            <a:extLst xmlns:a="http://schemas.openxmlformats.org/drawingml/2006/main">
              <a:ext uri="{FF2B5EF4-FFF2-40B4-BE49-F238E27FC236}">
                <a16:creationId xmlns:a16="http://schemas.microsoft.com/office/drawing/2014/main" id="{CCF3BF50-A466-4BD9-89C9-E921CD6E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790552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627082450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23" name="text_Соответствие ТЗ: статус и приёмка">
            <a:extLst xmlns:a="http://schemas.openxmlformats.org/drawingml/2006/main">
              <a:ext uri="{FF2B5EF4-FFF2-40B4-BE49-F238E27FC236}">
                <a16:creationId xmlns:a16="http://schemas.microsoft.com/office/drawing/2014/main" id="{18DF8327-E825-49A6-88BC-E24C17DC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6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Безопасность и управляемость</a:t>
            </a:r>
          </a:p>
        </p:txBody>
      </p:sp>
      <p:sp>
        <p:nvSpPr>
          <p:cNvPr id="24" name="text_ТАКТ  / 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DC259457-18DD-47FE-A0C5-9DFE417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ПРИЛОЖЕНИЕ</a:t>
            </a:r>
          </a:p>
        </p:txBody>
      </p:sp>
      <p:sp>
        <p:nvSpPr>
          <p:cNvPr id="25" name="text_Работающее синтетическое демо отделено от ">
            <a:extLst xmlns:a="http://schemas.openxmlformats.org/drawingml/2006/main">
              <a:ext uri="{FF2B5EF4-FFF2-40B4-BE49-F238E27FC236}">
                <a16:creationId xmlns:a16="http://schemas.microsoft.com/office/drawing/2014/main" id="{B7A1D523-E402-4536-8D6F-F75B511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Критерий § 12.7 перечисляет четыре вещи. Здесь они собраны вместе — и рядом с каждой то, чем её можно проверить, а не поверить на слово.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466725" y="1562100"/>
          <a:ext xmlns:a="http://schemas.openxmlformats.org/drawingml/2006/main" cx="11049000" cy="4267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24150"/>
                <a:gridCol w="3810000"/>
                <a:gridCol w="4514850"/>
              </a:tblGrid>
              <a:tr h="50292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Требование ТЗ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Как сделано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Чем проверяется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12.7 Разграничение прав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Четыре роли: первая и вторая линия, руководитель на чтение, администратор. Недоступное роли действие не рисуется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Матрица ролей, запрос /session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12.7 Журналирование действий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Каждое действие человека и продукта — в неизменяемом журнале с хэш-цепочкой; решение фиксируется с причиной и автором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Запрос проверки журнала, отдельный верификатор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12.7 Контроль передачи наружу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Исходящие вызовы только по allowlist; внешние обогащения выключены по умолчанию и включаются по согласованию; каждая передача попадает в аудит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Конфигурация allowlist, журнал операций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12.7 Нет автоматических критичных действий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Пакет реагирования — рекомендация: исполняет внешняя система после подтверждения аналитика. В API и интерфейсе нет операций исполнения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Тесты границ продукта, отсутствие таких маршрутов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6.4 Конфиденциальность данных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Пароли, восстановленные из трафика, маскируются по имени поля до записи в событие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Правило маскирования, разбор схемы стенда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§ 8.2 и § 8.7 Секреты и доступ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Секреты только в переменных окружения — не в коде, логах и промптах. Аутентификация строгая по умолчанию: без ключа приложение не поднимается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Проверка при старте (fail-closed), сторож на секреты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</a:tbl>
          </a:graphicData>
        </a:graphic>
      </p:graphicFrame>
      <p:sp>
        <p:nvSpPr>
          <p:cNvPr id="27" name="text_Вывод: техническая основа показана; полное">
            <a:extLst xmlns:a="http://schemas.openxmlformats.org/drawingml/2006/main">
              <a:ext uri="{FF2B5EF4-FFF2-40B4-BE49-F238E27FC236}">
                <a16:creationId xmlns:a16="http://schemas.microsoft.com/office/drawing/2014/main" id="{0D45A592-F314-4088-827B-4086D9E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531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Продукт не является СКЗИ и сертификата ФСТЭК не имеет — квалифицированную подпись выполняет внешний сервис.</a:t>
            </a:r>
          </a:p>
        </p:txBody>
      </p:sp>
      <p:sp>
        <p:nvSpPr>
          <p:cNvPr id="28" name="text_10">
            <a:extLst xmlns:a="http://schemas.openxmlformats.org/drawingml/2006/main">
              <a:ext uri="{FF2B5EF4-FFF2-40B4-BE49-F238E27FC236}">
                <a16:creationId xmlns:a16="http://schemas.microsoft.com/office/drawing/2014/main" id="{CCF3BF50-A466-4BD9-89C9-E921CD6E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90552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7E40734-4210-4436-853B-3D5ADC16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56032"/>
            <a:ext cx="9966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Мощности: что измерено и при каких условиях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4FF1D8-AC0B-4CDB-9307-B1B6587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7824"/>
            <a:ext cx="112014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d293f387342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67AAB8D-11B8-45C4-855D-3E275BDD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 spc="60">
                <a:solidFill>
                  <a:srgbClr val="7C8D96"/>
                </a:solidFill>
                <a:latin typeface="Arial"/>
                <a:ea typeface="Arial"/>
                <a:cs typeface="Arial"/>
              </a:rPr>
              <a:t>ТАКТ · ТЕХЛАБ МОСКВА · ЗАДАЧА №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1717528-9829-4BDE-82AB-E156A3B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11247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Правило проекта: </a:t>
            </a: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любое число называется только со ссылкой на конкретный замер и его условия — иначе снимается.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49A0107-46A4-4EBA-A8A3-A8BE3652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2706624" cy="2139696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693458D-F155-4510-897A-0E02D50B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55648"/>
            <a:ext cx="234086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48 МиБ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0A6DFCD-29CB-48A5-884A-1F9AAE70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432304"/>
            <a:ext cx="23408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памяти на стенде, 44 дела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F7E3777-A28A-4FAA-81EA-5662BDA2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98064"/>
            <a:ext cx="232257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Контейнер API — приём, разбор,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выгрузка пакетов; docker stats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82815F6-9B38-473D-A2A6-6CCEB91D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412" y="1554480"/>
            <a:ext cx="2706624" cy="2139696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AE5058A-4120-48FB-850F-3E459F80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868" y="1755648"/>
            <a:ext cx="234086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100 000+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D18B21C-17B8-4DB3-88A6-83DDE1B2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868" y="2432304"/>
            <a:ext cx="23408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событий потокового бэктеста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BC20B4-0D7F-4D22-BC28-9BABE8C4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868" y="2798064"/>
            <a:ext cx="232257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Без роста памяти от размера файла: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набор не материализуется целиком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CECBFB5-1052-43F2-A0C5-33B39463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554480"/>
            <a:ext cx="2706624" cy="2139696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0D9092F-2ED6-4644-8B4E-11E2CE1D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55648"/>
            <a:ext cx="234086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≈ 33 соб./с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92B86FC-A7E1-4EBB-BE13-3E25EE1B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32304"/>
            <a:ext cx="23408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загрузка корпуса INC-002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C5A4F04-97BD-47DC-BE7C-35223759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98064"/>
            <a:ext cx="232257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Машина разработчика, путь загрузчика.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Это не пропускная способность API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C6CB7FB-5533-4AC3-B26F-F8E1AAB1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836" y="1554480"/>
            <a:ext cx="2706624" cy="2139696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4EEA46F-193B-4C77-B0F2-C554AF52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292" y="1755648"/>
            <a:ext cx="234086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1,84 с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ED2857F-E8BB-4E49-ABA1-3EC4A906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292" y="2432304"/>
            <a:ext cx="23408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сборка при 8000 делах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F3DDF57-0080-4459-A1A0-B43B711C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292" y="2798064"/>
            <a:ext cx="232257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Поэтому сборка вынесена в отдельный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процесс с очередью в базе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145A455D-0AFB-4422-A92F-1516D4D7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2192"/>
            <a:ext cx="5541264" cy="2084831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6252C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F3D74CD-E7D1-4D02-89A6-6DFBE212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68496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 spc="12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ЧТО УПРЁТСЯ ПЕРВЫМ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8CE15EA-4D06-4DE6-8AA0-F02CCABA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34256"/>
            <a:ext cx="4937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Хранилище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20F4CF1-9A1C-4190-A0A6-A32CC8A9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62856"/>
            <a:ext cx="5029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Только SQLite. Серверная СУБД — работа одного адаптера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944F7BA-4C38-4123-9178-DDA006C8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18888"/>
            <a:ext cx="4937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Один экземпляр API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2495DB6-EF83-443F-97D2-9B042D31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47488"/>
            <a:ext cx="5029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Состояние в файле; горизонтальное развёртывание не проверялось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E1236F4-A614-45C1-961C-D650B41D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303520"/>
            <a:ext cx="4937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Сборка инцидентов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D995358-7191-4FCF-8CF0-2D4EE589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5029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Единственный путь, растущий с числом накопленных дел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DCC0C550-A652-4700-BBF7-8E9FC05E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822192"/>
            <a:ext cx="5522976" cy="2084831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6252C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06ED52C-222B-4BDE-A1FE-7A847396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68496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 spc="120">
                <a:solidFill>
                  <a:srgbClr val="F4BC65"/>
                </a:solidFill>
                <a:latin typeface="TT Firs Neue DemiBold"/>
                <a:ea typeface="TT Firs Neue DemiBold"/>
                <a:cs typeface="TT Firs Neue DemiBold"/>
              </a:rPr>
              <a:t>ЧЕГО МЫ НЕ МЕРИЛИ — ГОВОРИМ ПРЯМО</a:t>
            </a:r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EC961220-BFDA-4E84-BED3-74001F83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38454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3099CE3-1D74-4873-A925-9940202B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334256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Нагрузочного прогона на целевом объёме заказчика не было ни разу</a:t>
            </a: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63ED518D-BE0E-4146-A355-E893CF43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801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E54F33A-17EB-48E2-B2BE-7F193FA6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6177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Пропускная способность приёма по API отдельно не измерялась</a:t>
            </a: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D05E711A-F2DE-4D67-B39C-36C5A897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51475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67179A8-6BAB-4D4D-962F-44B2CFB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901183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Несколько экземпляров API за балансировщиком не проверялись</a:t>
            </a:r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9F85AB6F-2768-44CF-A7F5-CA427124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234939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45E52DD2-F492-4DA2-977C-60C1791A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184647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Поведение при непрерывной нагрузке сутки и более не измерялось</a:t>
            </a:r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029C9082-0729-4DCA-9147-D92AC856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18403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556040C-F3C9-47E0-BFA0-0F0DB39E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468111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Размер пакета на реальном деле большого объёма не оценивался</a:t>
            </a:r>
          </a:p>
        </p:txBody>
      </p:sp>
      <p:sp>
        <p:nvSpPr>
          <p:cNvPr id="45" name="text_07">
            <a:extLst xmlns:a="http://schemas.openxmlformats.org/drawingml/2006/main">
              <a:ext uri="{FF2B5EF4-FFF2-40B4-BE49-F238E27FC236}">
                <a16:creationId xmlns:a16="http://schemas.microsoft.com/office/drawing/2014/main" id="{67AD9656-D375-4F0C-AFCB-279033E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04608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9ED683D-196F-4157-9652-6E7E5C2C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56032"/>
            <a:ext cx="9966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Чем подтверждено — и где проходят границы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5059D6-54DA-4663-8411-F2CEEF20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7824"/>
            <a:ext cx="112014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b0f9e842d4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76B6FD0-86EB-4F86-AB3F-F2A4A112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 spc="60">
                <a:solidFill>
                  <a:srgbClr val="7C8D96"/>
                </a:solidFill>
                <a:latin typeface="Arial"/>
                <a:ea typeface="Arial"/>
                <a:cs typeface="Arial"/>
              </a:rPr>
              <a:t>ТАКТ · ТЕХЛАБ МОСКВА · ЗАДАЧА №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52C8B7-5D52-4988-ACC6-4D51C029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11247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Границы записаны в репозитории и проверяются тестами. Это инженерное решение, на которое можно ссылаться, а не список недоделок.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D8F1027-76D5-4CB0-809C-48A26DEF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5541264" cy="4169663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F6F3EF4-E651-402C-8544-1A5F610B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55648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 spc="12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ПРОДУКТ ДЕЛАЕТ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075AC76-CE0E-4126-9CAD-25505261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899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007CB16-10E0-4457-B36D-D082AD24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139696"/>
            <a:ext cx="48280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показывает риск и объясняет его причину;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C13845DC-C1C3-4E61-B9EC-D74D070B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471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1C22D3-D920-4ABE-AF29-A8C3FF58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596896"/>
            <a:ext cx="48280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называет недостающий организационный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контекст и маршрут его добора;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E7A765B8-56B0-4694-8006-2CDFF91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36042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17515A3-D637-498E-820A-2019CEF3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310128"/>
            <a:ext cx="48280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собирает доказательный пакет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 проверяемой целостностью;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1B28AAAE-D1BC-47F4-819D-5C60780D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365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7F89C66-9702-4575-AE81-07962FCA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023360"/>
            <a:ext cx="48280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передаёт карточку в корпоративный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процесс и в ГосСОПКА;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B48CF0C-9E58-45BF-A824-74071A5E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78688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779C5D0-E324-449E-8109-3F3EE104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736592"/>
            <a:ext cx="48280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фиксирует решение оператора с причиной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неизменяемым следом.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666230D-ABC7-4EBA-987F-5037E6D6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554480"/>
            <a:ext cx="5522976" cy="4169663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6252C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BE1E786-D645-4632-9545-B88703FD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55648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 spc="120">
                <a:solidFill>
                  <a:srgbClr val="F4BC65"/>
                </a:solidFill>
                <a:latin typeface="TT Firs Neue DemiBold"/>
                <a:ea typeface="TT Firs Neue DemiBold"/>
                <a:cs typeface="TT Firs Neue DemiBold"/>
              </a:rPr>
              <a:t>ПРОДУКТ НЕ ДЕЛАЕТ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F417001F-FD39-412A-BB40-879AF2DC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1899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1112A30-289B-4A1A-8FF2-E8B3DC9C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139696"/>
            <a:ext cx="480974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блокирует узлы и учётные записи,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останавливает ПЛК, не меняет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конфигурацию оборудования;</a:t>
            </a: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8488DF25-8C15-4F15-AD30-35D8F7EB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15925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37EC6B6-BBD3-4C53-A573-45C6FC10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108960"/>
            <a:ext cx="480974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закрывает инцидент без оператора;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B0EA1111-E0B5-4A1C-B9B1-07F3E976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61645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9E0F2BE-565C-4968-AF1F-4C70D152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566160"/>
            <a:ext cx="480974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является СКЗИ и не имеет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сертификата ФСТЭК;</a:t>
            </a: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CED11399-31FD-4A78-9C6F-ECEAFD5C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329683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139A0DE-05FB-4FA1-A1E9-3D7B3AA6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279392"/>
            <a:ext cx="480974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прогнозирует аварии и отказы 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выявляет отклонения от эталонного профиля;</a:t>
            </a: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684BB898-31F9-48B3-BC66-9A704F0B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04291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C6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BB485E3-EF35-4680-8FB2-432EE586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992624"/>
            <a:ext cx="480974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называет чисел производительности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 ссылки на конкретный замер.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705EFBB-0E4C-43B5-8667-0530AFC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7296"/>
            <a:ext cx="11265408" cy="4572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6252C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F4BF5E0-B74A-4EB4-A324-07F0520A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07024"/>
            <a:ext cx="106984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Синтетический корпус даёт TPR 1,0 и FPR 0,0 — мы пишем это сами: </a:t>
            </a: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цифры завышены относительно реального трафика.</a:t>
            </a:r>
          </a:p>
        </p:txBody>
      </p:sp>
      <p:sp>
        <p:nvSpPr>
          <p:cNvPr id="35" name="text_08">
            <a:extLst xmlns:a="http://schemas.openxmlformats.org/drawingml/2006/main">
              <a:ext uri="{FF2B5EF4-FFF2-40B4-BE49-F238E27FC236}">
                <a16:creationId xmlns:a16="http://schemas.microsoft.com/office/drawing/2014/main" id="{86C2708C-F8A3-48BB-A1EB-84FCA6E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19055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977ED7E-2645-4F99-B17C-99B122BB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56032"/>
            <a:ext cx="99669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Пилот: как мы докажем эффект на ваших данных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6E4FA8-294B-4DF3-A20B-97E4FF41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7824"/>
            <a:ext cx="112014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bd3cbb45748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087CE21-7785-42FA-9851-50327F8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 spc="60">
                <a:solidFill>
                  <a:srgbClr val="7C8D96"/>
                </a:solidFill>
                <a:latin typeface="Arial"/>
                <a:ea typeface="Arial"/>
                <a:cs typeface="Arial"/>
              </a:rPr>
              <a:t>ТАКТ · ТЕХЛАБ МОСКВА · ЗАДАЧА №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AE4A2BF-449F-4DA0-8A6A-DE03C0C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11247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Методикой, а не цифрой. Единица измерения — ручное действие аналитика; инструмент — журнал с хэш-цепочкой, который нельзя подогнать задним числом.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F1AA378-6E12-4B1D-8192-CDEA4F31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5358384" cy="370332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21E24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ED3BA-1E10-4500-8B05-52396348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55648"/>
            <a:ext cx="47548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2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≥ 30 %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A8BD11B-38EC-4359-98EE-4B5EAEE7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761488"/>
            <a:ext cx="4754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цель сокращения трудозатрат аналитика —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300" b="0" i="0">
                <a:solidFill>
                  <a:srgbClr val="F4BC65"/>
                </a:solidFill>
                <a:latin typeface="TT Firs Neue DemiBold"/>
                <a:ea typeface="TT Firs Neue DemiBold"/>
                <a:cs typeface="TT Firs Neue DemiBold"/>
              </a:rPr>
              <a:t>ещё не результат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CDC93B-D6D6-4F2C-9959-D7F836F5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401568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Парный замер одного набора дел: «как сейчас»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и в едином окне. Базовая линия фиксируется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с заказчиком до замера, а не после.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0DA5A9F-F079-4270-AC45-8E3D7C3C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041648"/>
            <a:ext cx="470001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6CDA90-8582-401A-B51B-75466476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169663"/>
            <a:ext cx="4754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 spc="11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ЧЕМ МЕРИМ — ЭТО УЖЕ РАБОТАЕТ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0DD17315-70DF-4E7F-8C26-BE2922F7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512564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D96EA65-412B-40C1-B482-94067C56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46227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Журнал действий с хэш-цепочкой: подсчёт «до» и «после»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D0F11175-9E2D-4ADD-BD96-BF3E2890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7774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7EE5219-3968-4433-B9CB-30834987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727448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Время от создания дела до первого решения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88CFCED-206C-4E1B-8955-77805CF5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04291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A37A76C-2441-40D4-B91A-07567C1F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992624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Отчёт по правилам: доля подтверждений и ложных срабатываний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4881D5-F1CE-43B9-B7D1-AAAF3382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609344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 spc="12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ЧТО НЕОБХОДИМО СОГЛАСОВАТЬ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CF22D54-3730-4F4A-A527-4410756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011680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7B0DC68-7E7A-40A0-95F2-C6026CFE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201168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Выгрузки по четырём классам источников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9C144BB-C20A-46E9-9234-C8E8C2A8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2304288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Обезличенные, за типичный период; критерий типичности — тоже предмет согласования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1AC6F48-33CB-4CE8-BBD9-F8C5E5C9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834640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3EAF6B6-40E6-474C-9AAA-91F34844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283464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Базовую линию и метрики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3A03347-049B-4A53-ABE9-36541FD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127248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Время до первого решения, качество вывода, число ручных действий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12BC198-7503-44E3-90CB-870BEEC7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657600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03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52D77C1-E808-4FEA-8F47-3441A448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65760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Участников и критерии приёмки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526BFC2-AED2-4266-BCE8-BC662E28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950208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0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Кто из аналитиков участвует, протокол замера, что считаем успехом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A5CC4D2-F3D5-46F8-A8BC-35A84BFB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462272"/>
            <a:ext cx="552297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9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5C3B377-7FDC-4150-B723-B2DFEA3B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608576"/>
            <a:ext cx="552297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Пилот — 600 тыс. ₽ / 6–8 недель</a:t>
            </a:r>
            <a:r>
              <a:rPr sz="10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   стоимость засчитывается в лицензию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3A169B76-9660-4776-BB09-ACD1FD11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3248"/>
            <a:ext cx="11265408" cy="841248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16252C"/>
          </a:solidFill>
          <a:ln xmlns:a="http://schemas.openxmlformats.org/drawingml/2006/main" w="9525">
            <a:solidFill>
              <a:srgbClr val="25394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1ACF288-B525-4FFF-A81B-1A1A7E7C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22392"/>
            <a:ext cx="10698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150" b="0" i="0">
                <a:solidFill>
                  <a:srgbClr val="F4BC65"/>
                </a:solidFill>
                <a:latin typeface="Arial"/>
                <a:ea typeface="Arial"/>
                <a:cs typeface="Arial"/>
              </a:rPr>
              <a:t>Открытые позиции: </a:t>
            </a:r>
            <a:r>
              <a:rPr sz="115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реальных выгрузок заказчика и базовой линии сегодня нет — 30 % не подтверждены. Приёмочный прогон на согласованном обезличенном наборе закрывает сразу две вещи:</a:t>
            </a:r>
            <a:r>
              <a:rPr sz="11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
базовую линию для замера ускорения и независимую проверку детектирования.</a:t>
            </a:r>
          </a:p>
        </p:txBody>
      </p:sp>
      <p:sp>
        <p:nvSpPr>
          <p:cNvPr id="35" name="text_09">
            <a:extLst xmlns:a="http://schemas.openxmlformats.org/drawingml/2006/main">
              <a:ext uri="{FF2B5EF4-FFF2-40B4-BE49-F238E27FC236}">
                <a16:creationId xmlns:a16="http://schemas.microsoft.com/office/drawing/2014/main" id="{0E05D240-95A4-4084-961D-7F7067A2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656247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627082450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23" name="text_Соответствие ТЗ: статус и приёмка">
            <a:extLst xmlns:a="http://schemas.openxmlformats.org/drawingml/2006/main">
              <a:ext uri="{FF2B5EF4-FFF2-40B4-BE49-F238E27FC236}">
                <a16:creationId xmlns:a16="http://schemas.microsoft.com/office/drawing/2014/main" id="{18DF8327-E825-49A6-88BC-E24C17DC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6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Соответствие ТЗ: статус и приёмка</a:t>
            </a:r>
          </a:p>
        </p:txBody>
      </p:sp>
      <p:sp>
        <p:nvSpPr>
          <p:cNvPr id="24" name="text_ТАКТ  / 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DC259457-18DD-47FE-A0C5-9DFE417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ПРИЛОЖЕНИЕ</a:t>
            </a:r>
          </a:p>
        </p:txBody>
      </p:sp>
      <p:sp>
        <p:nvSpPr>
          <p:cNvPr id="25" name="text_Работающее синтетическое демо отделено от ">
            <a:extLst xmlns:a="http://schemas.openxmlformats.org/drawingml/2006/main">
              <a:ext uri="{FF2B5EF4-FFF2-40B4-BE49-F238E27FC236}">
                <a16:creationId xmlns:a16="http://schemas.microsoft.com/office/drawing/2014/main" id="{B7A1D523-E402-4536-8D6F-F75B511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525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Восемь критериев оценивания ТЗ по порядку: что уже показано на синтетическом демо и что подтверждает совместный пилот.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466725" y="1562100"/>
          <a:ext xmlns:a="http://schemas.openxmlformats.org/drawingml/2006/main" cx="11049000" cy="4267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24150"/>
                <a:gridCol w="3810000"/>
                <a:gridCol w="4514850"/>
              </a:tblGrid>
              <a:tr h="50292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Критерий оценивания · ТЗ §12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Что показано сейчас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E9456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Что подтвердить на пилоте</a:t>
                      </a:r>
                    </a:p>
                  </a:txBody>
                  <a:tcPr marL="95250" marR="95250" marT="76200" marB="76200" anchor="ctr">
                    <a:solidFill>
                      <a:srgbClr val="15394D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1. Единое окно, ≥ 4 источников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EDR, NDR, SIEM, OT в одном деле; единый поиск по всем источникам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Состав классов и маппинги PT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2. Качество корреляции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23 события цепочки из 27 — одно дело, без фоновых; precision и recall 1,000 на отдельном корпусе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Полнота связей на контрольной разметке заказчика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3. Полнота контекста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Граф, карточки сущностей, типичность активности, журнал находок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История и окружение на реальном объёме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4. Измеримое ускорение ≥ 30 %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Методика парного замера; журнал действий с хэш-цепочкой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Время, все действия и качество на одинаковых делах</a:t>
                      </a:r>
                    </a:p>
                  </a:txBody>
                  <a:tcPr marL="95250" marR="95250" marT="76200" marB="76200" anchor="ctr">
                    <a:solidFill>
                      <a:srgbClr val="123347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5. Удобство пользователя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Два аудита удобства: 13 находок из 14 закрыты с замерами до и после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Наблюдение за работой аналитиков заказчика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6. Работа на датасете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Живой стенд; INC-002 — 1030 событий четырёх классов источников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Прогон на датасете заказчика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7. Безопасность и управляемость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Четыре роли, журнал действий, allowlist, критичные действия не выполняются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Роли, аудит и права в контуре PT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8. ИИ-ассистент (опция ТЗ)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Вне контура вердикта — осознанно; подсказок следующих шагов нет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TT Firs Neue DemiBold"/>
                          <a:ea typeface="TT Firs Neue DemiBold"/>
                          <a:cs typeface="TT Firs Neue DemiBold"/>
                        </a:rPr>
                        <a:t>Допустимость LLM-контура и его границы</a:t>
                      </a:r>
                    </a:p>
                  </a:txBody>
                  <a:tcPr marL="95250" marR="95250" marT="76200" marB="76200" anchor="ctr">
                    <a:solidFill>
                      <a:srgbClr val="102F42"/>
                    </a:solidFill>
                  </a:tcPr>
                </a:tc>
              </a:tr>
            </a:tbl>
          </a:graphicData>
        </a:graphic>
      </p:graphicFrame>
      <p:sp>
        <p:nvSpPr>
          <p:cNvPr id="27" name="text_Вывод: техническая основа показана; полное">
            <a:extLst xmlns:a="http://schemas.openxmlformats.org/drawingml/2006/main">
              <a:ext uri="{FF2B5EF4-FFF2-40B4-BE49-F238E27FC236}">
                <a16:creationId xmlns:a16="http://schemas.microsoft.com/office/drawing/2014/main" id="{0D45A592-F314-4088-827B-4086D9E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5312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Вывод: техническая основа показана; полное соответствие и целевой эффект требуют согласованной приёмки.</a:t>
            </a:r>
          </a:p>
        </p:txBody>
      </p:sp>
      <p:sp>
        <p:nvSpPr>
          <p:cNvPr id="28" name="text_10">
            <a:extLst xmlns:a="http://schemas.openxmlformats.org/drawingml/2006/main">
              <a:ext uri="{FF2B5EF4-FFF2-40B4-BE49-F238E27FC236}">
                <a16:creationId xmlns:a16="http://schemas.microsoft.com/office/drawing/2014/main" id="{CCF3BF50-A466-4BD9-89C9-E921CD6E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790552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9abae90634e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9376" y="393192"/>
            <a:ext cx="676656" cy="394580"/>
          </a:xfrm>
          <a:prstGeom xmlns:a="http://schemas.openxmlformats.org/drawingml/2006/main" prst="rect">
            <a:avLst/>
          </a:prstGeom>
        </p:spPr>
      </p:pic>
      <p:sp>
        <p:nvSpPr>
          <p:cNvPr id="23" name="text_Экономика и ресурсный запрос: допущения">
            <a:extLst xmlns:a="http://schemas.openxmlformats.org/drawingml/2006/main">
              <a:ext uri="{FF2B5EF4-FFF2-40B4-BE49-F238E27FC236}">
                <a16:creationId xmlns:a16="http://schemas.microsoft.com/office/drawing/2014/main" id="{1DEFBF18-9543-4BE2-A68A-3F5C2897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6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77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Экономика и ресурсный запрос: допущения</a:t>
            </a:r>
          </a:p>
        </p:txBody>
      </p:sp>
      <p:sp>
        <p:nvSpPr>
          <p:cNvPr id="24" name="text_ТАКТ  / 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E416A14F-D0BA-44CF-AC37-291CF35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97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ТАКТ  /  ПРИЛОЖЕНИЕ</a:t>
            </a:r>
          </a:p>
        </p:txBody>
      </p:sp>
      <p:sp>
        <p:nvSpPr>
          <p:cNvPr id="25" name="text_Рынок">
            <a:extLst xmlns:a="http://schemas.openxmlformats.org/drawingml/2006/main">
              <a:ext uri="{FF2B5EF4-FFF2-40B4-BE49-F238E27FC236}">
                <a16:creationId xmlns:a16="http://schemas.microsoft.com/office/drawing/2014/main" id="{A75C44EF-B6E6-46A7-A8F7-AA137587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1049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Рынок</a:t>
            </a:r>
          </a:p>
        </p:txBody>
      </p:sp>
      <p:sp>
        <p:nvSpPr>
          <p:cNvPr id="26" name="text_TAM">
            <a:extLst xmlns:a="http://schemas.openxmlformats.org/drawingml/2006/main">
              <a:ext uri="{FF2B5EF4-FFF2-40B4-BE49-F238E27FC236}">
                <a16:creationId xmlns:a16="http://schemas.microsoft.com/office/drawing/2014/main" id="{3CE69A30-AC80-4B0E-AA32-A77D6B06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097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TAM</a:t>
            </a:r>
          </a:p>
        </p:txBody>
      </p:sp>
      <p:sp>
        <p:nvSpPr>
          <p:cNvPr id="27" name="text_4,8 млрд ₽">
            <a:extLst xmlns:a="http://schemas.openxmlformats.org/drawingml/2006/main">
              <a:ext uri="{FF2B5EF4-FFF2-40B4-BE49-F238E27FC236}">
                <a16:creationId xmlns:a16="http://schemas.microsoft.com/office/drawing/2014/main" id="{17E635CC-82A8-485C-BBB9-4340C0E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9716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4,8 млрд ₽</a:t>
            </a:r>
          </a:p>
        </p:txBody>
      </p:sp>
      <p:sp>
        <p:nvSpPr>
          <p:cNvPr id="28" name="text_4 800 организаций">
            <a:extLst xmlns:a="http://schemas.openxmlformats.org/drawingml/2006/main">
              <a:ext uri="{FF2B5EF4-FFF2-40B4-BE49-F238E27FC236}">
                <a16:creationId xmlns:a16="http://schemas.microsoft.com/office/drawing/2014/main" id="{EADFE740-0117-4F60-BB31-A87E3B3C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4 800 организаций</a:t>
            </a:r>
          </a:p>
        </p:txBody>
      </p:sp>
      <p:sp>
        <p:nvSpPr>
          <p:cNvPr id="29" name="text_SAM">
            <a:extLst xmlns:a="http://schemas.openxmlformats.org/drawingml/2006/main">
              <a:ext uri="{FF2B5EF4-FFF2-40B4-BE49-F238E27FC236}">
                <a16:creationId xmlns:a16="http://schemas.microsoft.com/office/drawing/2014/main" id="{46056DDD-4C3F-45CD-A1B6-0E09305A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097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SAM</a:t>
            </a:r>
          </a:p>
        </p:txBody>
      </p:sp>
      <p:sp>
        <p:nvSpPr>
          <p:cNvPr id="30" name="text_1,46 млрд ₽">
            <a:extLst xmlns:a="http://schemas.openxmlformats.org/drawingml/2006/main">
              <a:ext uri="{FF2B5EF4-FFF2-40B4-BE49-F238E27FC236}">
                <a16:creationId xmlns:a16="http://schemas.microsoft.com/office/drawing/2014/main" id="{CE374223-62BF-469F-B8E0-2B19CD9D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716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1,46 млрд ₽</a:t>
            </a:r>
          </a:p>
        </p:txBody>
      </p:sp>
      <p:sp>
        <p:nvSpPr>
          <p:cNvPr id="31" name="text_1 460 организаций">
            <a:extLst xmlns:a="http://schemas.openxmlformats.org/drawingml/2006/main">
              <a:ext uri="{FF2B5EF4-FFF2-40B4-BE49-F238E27FC236}">
                <a16:creationId xmlns:a16="http://schemas.microsoft.com/office/drawing/2014/main" id="{E237BD84-36F8-4C80-A1E9-B4AFE742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1 460 организаций</a:t>
            </a:r>
          </a:p>
        </p:txBody>
      </p:sp>
      <p:sp>
        <p:nvSpPr>
          <p:cNvPr id="32" name="text_SOM">
            <a:extLst xmlns:a="http://schemas.openxmlformats.org/drawingml/2006/main">
              <a:ext uri="{FF2B5EF4-FFF2-40B4-BE49-F238E27FC236}">
                <a16:creationId xmlns:a16="http://schemas.microsoft.com/office/drawing/2014/main" id="{077567CE-139F-43AD-896B-B15F9B42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097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SOM</a:t>
            </a:r>
          </a:p>
        </p:txBody>
      </p:sp>
      <p:sp>
        <p:nvSpPr>
          <p:cNvPr id="33" name="text_138 млн ₽">
            <a:extLst xmlns:a="http://schemas.openxmlformats.org/drawingml/2006/main">
              <a:ext uri="{FF2B5EF4-FFF2-40B4-BE49-F238E27FC236}">
                <a16:creationId xmlns:a16="http://schemas.microsoft.com/office/drawing/2014/main" id="{E54DE57D-2CA6-4C4A-97A0-9FF36901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9716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23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138 млн ₽</a:t>
            </a:r>
          </a:p>
        </p:txBody>
      </p:sp>
      <p:sp>
        <p:nvSpPr>
          <p:cNvPr id="34" name="text_122 клиента">
            <a:extLst xmlns:a="http://schemas.openxmlformats.org/drawingml/2006/main">
              <a:ext uri="{FF2B5EF4-FFF2-40B4-BE49-F238E27FC236}">
                <a16:creationId xmlns:a16="http://schemas.microsoft.com/office/drawing/2014/main" id="{031FF15D-AFCB-402D-AE80-3B6B298C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122 клиента</a:t>
            </a:r>
          </a:p>
        </p:txBody>
      </p:sp>
      <p:sp>
        <p:nvSpPr>
          <p:cNvPr id="35" name="text_Прогнозная модель команды к 2031 году; не ">
            <a:extLst xmlns:a="http://schemas.openxmlformats.org/drawingml/2006/main">
              <a:ext uri="{FF2B5EF4-FFF2-40B4-BE49-F238E27FC236}">
                <a16:creationId xmlns:a16="http://schemas.microsoft.com/office/drawing/2014/main" id="{D5327464-EC75-4FD9-80CE-59C31470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95600"/>
            <a:ext cx="752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3B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9FB3BF"/>
                </a:solidFill>
                <a:latin typeface="TT Firs Neue DemiBold"/>
                <a:ea typeface="TT Firs Neue DemiBold"/>
                <a:cs typeface="TT Firs Neue DemiBold"/>
              </a:rPr>
              <a:t>Прогнозная модель команды к 2031 году; не текущая выручка и не независимая рыночная оценка.</a:t>
            </a:r>
          </a:p>
        </p:txBody>
      </p:sp>
      <p:sp>
        <p:nvSpPr>
          <p:cNvPr id="36" name="Коммерческие условия">
            <a:extLst xmlns:a="http://schemas.openxmlformats.org/drawingml/2006/main">
              <a:ext uri="{FF2B5EF4-FFF2-40B4-BE49-F238E27FC236}">
                <a16:creationId xmlns:a16="http://schemas.microsoft.com/office/drawing/2014/main" id="{C9DFE77F-89D3-46E7-BF29-D74F84F6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562350"/>
            <a:ext cx="7477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2"/>
          </a:solidFill>
          <a:ln xmlns:a="http://schemas.openxmlformats.org/drawingml/2006/main" w="9525">
            <a:solidFill>
              <a:srgbClr val="89BEE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text_Коммерческие условия из исходной модели">
            <a:extLst xmlns:a="http://schemas.openxmlformats.org/drawingml/2006/main">
              <a:ext uri="{FF2B5EF4-FFF2-40B4-BE49-F238E27FC236}">
                <a16:creationId xmlns:a16="http://schemas.microsoft.com/office/drawing/2014/main" id="{DA686325-C2C9-49A4-86C1-7FF91460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7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Коммерческие условия из исходной модели</a:t>
            </a:r>
          </a:p>
        </p:txBody>
      </p:sp>
      <p:sp>
        <p:nvSpPr>
          <p:cNvPr id="38" name="text_Пилот">
            <a:extLst xmlns:a="http://schemas.openxmlformats.org/drawingml/2006/main">
              <a:ext uri="{FF2B5EF4-FFF2-40B4-BE49-F238E27FC236}">
                <a16:creationId xmlns:a16="http://schemas.microsoft.com/office/drawing/2014/main" id="{FA2A605B-25C6-4554-A14E-90F71E0A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Пилот</a:t>
            </a:r>
          </a:p>
        </p:txBody>
      </p:sp>
      <p:sp>
        <p:nvSpPr>
          <p:cNvPr id="39" name="text_600 тыс. ₽ · 6–8 недель">
            <a:extLst xmlns:a="http://schemas.openxmlformats.org/drawingml/2006/main">
              <a:ext uri="{FF2B5EF4-FFF2-40B4-BE49-F238E27FC236}">
                <a16:creationId xmlns:a16="http://schemas.microsoft.com/office/drawing/2014/main" id="{3BEEDFE4-DD17-44A1-9340-D7F2069F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600 тыс. ₽ · 6–8 недель</a:t>
            </a:r>
          </a:p>
        </p:txBody>
      </p:sp>
      <p:sp>
        <p:nvSpPr>
          <p:cNvPr id="40" name="text_Лицензия">
            <a:extLst xmlns:a="http://schemas.openxmlformats.org/drawingml/2006/main">
              <a:ext uri="{FF2B5EF4-FFF2-40B4-BE49-F238E27FC236}">
                <a16:creationId xmlns:a16="http://schemas.microsoft.com/office/drawing/2014/main" id="{9A62DD29-DCCF-407A-A0B7-26E42739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95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Лицензия</a:t>
            </a:r>
          </a:p>
        </p:txBody>
      </p:sp>
      <p:sp>
        <p:nvSpPr>
          <p:cNvPr id="41" name="text_1,2 млн ₽ разово">
            <a:extLst xmlns:a="http://schemas.openxmlformats.org/drawingml/2006/main">
              <a:ext uri="{FF2B5EF4-FFF2-40B4-BE49-F238E27FC236}">
                <a16:creationId xmlns:a16="http://schemas.microsoft.com/office/drawing/2014/main" id="{F375BE13-2E8E-4DF8-BF6A-20B59251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482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1,2 млн ₽ разово</a:t>
            </a:r>
          </a:p>
        </p:txBody>
      </p:sp>
      <p:sp>
        <p:nvSpPr>
          <p:cNvPr id="42" name="text_Рабочее место">
            <a:extLst xmlns:a="http://schemas.openxmlformats.org/drawingml/2006/main">
              <a:ext uri="{FF2B5EF4-FFF2-40B4-BE49-F238E27FC236}">
                <a16:creationId xmlns:a16="http://schemas.microsoft.com/office/drawing/2014/main" id="{759AE56B-D52F-4665-9504-BF4C74B8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50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Рабочее место</a:t>
            </a:r>
          </a:p>
        </p:txBody>
      </p:sp>
      <p:sp>
        <p:nvSpPr>
          <p:cNvPr id="43" name="text_5 тыс. ₽ / месяц">
            <a:extLst xmlns:a="http://schemas.openxmlformats.org/drawingml/2006/main">
              <a:ext uri="{FF2B5EF4-FFF2-40B4-BE49-F238E27FC236}">
                <a16:creationId xmlns:a16="http://schemas.microsoft.com/office/drawing/2014/main" id="{F3664B45-E4D8-4890-BFDB-762EAA08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48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650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5 тыс. ₽ / месяц</a:t>
            </a:r>
          </a:p>
        </p:txBody>
      </p:sp>
      <p:sp>
        <p:nvSpPr>
          <p:cNvPr id="44" name="text_Объём, зачёт пилота и договорные условия т">
            <a:extLst xmlns:a="http://schemas.openxmlformats.org/drawingml/2006/main">
              <a:ext uri="{FF2B5EF4-FFF2-40B4-BE49-F238E27FC236}">
                <a16:creationId xmlns:a16="http://schemas.microsoft.com/office/drawing/2014/main" id="{198640B6-1AC4-484B-B715-3A9383B3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685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Объём, зачёт пилота и договорные условия требуют отдельного согласования.</a:t>
            </a:r>
          </a:p>
        </p:txBody>
      </p:sp>
      <p:sp>
        <p:nvSpPr>
          <p:cNvPr id="45" name="Инвестиционный запрос">
            <a:extLst xmlns:a="http://schemas.openxmlformats.org/drawingml/2006/main">
              <a:ext uri="{FF2B5EF4-FFF2-40B4-BE49-F238E27FC236}">
                <a16:creationId xmlns:a16="http://schemas.microsoft.com/office/drawing/2014/main" id="{9B42D67A-52CD-4AA5-9ADF-23169AB6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62100"/>
            <a:ext cx="317182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94D"/>
          </a:solidFill>
          <a:ln xmlns:a="http://schemas.openxmlformats.org/drawingml/2006/main" w="14288">
            <a:solidFill>
              <a:srgbClr val="EE9456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" name="text_15 млн ₽">
            <a:extLst xmlns:a="http://schemas.openxmlformats.org/drawingml/2006/main">
              <a:ext uri="{FF2B5EF4-FFF2-40B4-BE49-F238E27FC236}">
                <a16:creationId xmlns:a16="http://schemas.microsoft.com/office/drawing/2014/main" id="{744374FE-0DD3-440C-8CEA-2CC3B069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8097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3525" b="1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15 млн ₽</a:t>
            </a:r>
          </a:p>
        </p:txBody>
      </p:sp>
      <p:sp>
        <p:nvSpPr>
          <p:cNvPr id="47" name="text_первый транш по модели команды">
            <a:extLst xmlns:a="http://schemas.openxmlformats.org/drawingml/2006/main">
              <a:ext uri="{FF2B5EF4-FFF2-40B4-BE49-F238E27FC236}">
                <a16:creationId xmlns:a16="http://schemas.microsoft.com/office/drawing/2014/main" id="{41401737-2A62-439A-96FC-BC56D043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669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425" b="1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первый транш по модели команды</a:t>
            </a:r>
          </a:p>
        </p:txBody>
      </p:sp>
      <p:sp>
        <p:nvSpPr>
          <p:cNvPr id="48" name="text_42%">
            <a:extLst xmlns:a="http://schemas.openxmlformats.org/drawingml/2006/main">
              <a:ext uri="{FF2B5EF4-FFF2-40B4-BE49-F238E27FC236}">
                <a16:creationId xmlns:a16="http://schemas.microsoft.com/office/drawing/2014/main" id="{6352DC18-107B-438C-834C-A5D17AD6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143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42%</a:t>
            </a:r>
          </a:p>
        </p:txBody>
      </p:sp>
      <p:sp>
        <p:nvSpPr>
          <p:cNvPr id="49" name="text_команда">
            <a:extLst xmlns:a="http://schemas.openxmlformats.org/drawingml/2006/main">
              <a:ext uri="{FF2B5EF4-FFF2-40B4-BE49-F238E27FC236}">
                <a16:creationId xmlns:a16="http://schemas.microsoft.com/office/drawing/2014/main" id="{5A8A5BA5-5D96-46B0-BE6B-DCC6205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команда</a:t>
            </a:r>
          </a:p>
        </p:txBody>
      </p:sp>
      <p:sp>
        <p:nvSpPr>
          <p:cNvPr id="50" name="text_16%">
            <a:extLst xmlns:a="http://schemas.openxmlformats.org/drawingml/2006/main">
              <a:ext uri="{FF2B5EF4-FFF2-40B4-BE49-F238E27FC236}">
                <a16:creationId xmlns:a16="http://schemas.microsoft.com/office/drawing/2014/main" id="{67118686-B99C-4FEC-A15E-8C61C21F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81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16%</a:t>
            </a:r>
          </a:p>
        </p:txBody>
      </p:sp>
      <p:sp>
        <p:nvSpPr>
          <p:cNvPr id="51" name="text_сертификация">
            <a:extLst xmlns:a="http://schemas.openxmlformats.org/drawingml/2006/main">
              <a:ext uri="{FF2B5EF4-FFF2-40B4-BE49-F238E27FC236}">
                <a16:creationId xmlns:a16="http://schemas.microsoft.com/office/drawing/2014/main" id="{4D8F7925-4D01-428B-A2B6-FE316195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81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сертификация</a:t>
            </a:r>
          </a:p>
        </p:txBody>
      </p:sp>
      <p:sp>
        <p:nvSpPr>
          <p:cNvPr id="52" name="text_22%">
            <a:extLst xmlns:a="http://schemas.openxmlformats.org/drawingml/2006/main">
              <a:ext uri="{FF2B5EF4-FFF2-40B4-BE49-F238E27FC236}">
                <a16:creationId xmlns:a16="http://schemas.microsoft.com/office/drawing/2014/main" id="{16830452-F78D-422B-8BFE-0BF4C543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019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22%</a:t>
            </a:r>
          </a:p>
        </p:txBody>
      </p:sp>
      <p:sp>
        <p:nvSpPr>
          <p:cNvPr id="53" name="text_маркетинг и продажи">
            <a:extLst xmlns:a="http://schemas.openxmlformats.org/drawingml/2006/main">
              <a:ext uri="{FF2B5EF4-FFF2-40B4-BE49-F238E27FC236}">
                <a16:creationId xmlns:a16="http://schemas.microsoft.com/office/drawing/2014/main" id="{C1231B94-4B1D-4848-A3FF-9D44681C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019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маркетинг и продажи</a:t>
            </a:r>
          </a:p>
        </p:txBody>
      </p:sp>
      <p:sp>
        <p:nvSpPr>
          <p:cNvPr id="54" name="text_12%">
            <a:extLst xmlns:a="http://schemas.openxmlformats.org/drawingml/2006/main">
              <a:ext uri="{FF2B5EF4-FFF2-40B4-BE49-F238E27FC236}">
                <a16:creationId xmlns:a16="http://schemas.microsoft.com/office/drawing/2014/main" id="{FEF016C7-3933-4211-B98F-C5FE47A6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457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12%</a:t>
            </a:r>
          </a:p>
        </p:txBody>
      </p:sp>
      <p:sp>
        <p:nvSpPr>
          <p:cNvPr id="55" name="text_патенты, реестр, пилоты">
            <a:extLst xmlns:a="http://schemas.openxmlformats.org/drawingml/2006/main">
              <a:ext uri="{FF2B5EF4-FFF2-40B4-BE49-F238E27FC236}">
                <a16:creationId xmlns:a16="http://schemas.microsoft.com/office/drawing/2014/main" id="{04B8AA15-43FC-4A08-AE2F-51320A0A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57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патенты, реестр, пилоты</a:t>
            </a:r>
          </a:p>
        </p:txBody>
      </p:sp>
      <p:sp>
        <p:nvSpPr>
          <p:cNvPr id="56" name="text_8%">
            <a:extLst xmlns:a="http://schemas.openxmlformats.org/drawingml/2006/main">
              <a:ext uri="{FF2B5EF4-FFF2-40B4-BE49-F238E27FC236}">
                <a16:creationId xmlns:a16="http://schemas.microsoft.com/office/drawing/2014/main" id="{B657E31D-492D-424E-969E-5F935F9F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895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350" b="1">
                <a:solidFill>
                  <a:srgbClr val="89BEE0"/>
                </a:solidFill>
                <a:latin typeface="TT Firs Neue DemiBold"/>
                <a:ea typeface="TT Firs Neue DemiBold"/>
                <a:cs typeface="TT Firs Neue DemiBold"/>
              </a:rPr>
              <a:t>8%</a:t>
            </a:r>
          </a:p>
        </p:txBody>
      </p:sp>
      <p:sp>
        <p:nvSpPr>
          <p:cNvPr id="57" name="text_инфраструктура">
            <a:extLst xmlns:a="http://schemas.openxmlformats.org/drawingml/2006/main">
              <a:ext uri="{FF2B5EF4-FFF2-40B4-BE49-F238E27FC236}">
                <a16:creationId xmlns:a16="http://schemas.microsoft.com/office/drawing/2014/main" id="{7130FAA7-FB14-4AE2-957A-255A3C25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895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200" b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инфраструктура</a:t>
            </a:r>
          </a:p>
        </p:txBody>
      </p:sp>
      <p:sp>
        <p:nvSpPr>
          <p:cNvPr id="58" name="text_Статусы сертификации и реестра пока не пол">
            <a:extLst xmlns:a="http://schemas.openxmlformats.org/drawingml/2006/main">
              <a:ext uri="{FF2B5EF4-FFF2-40B4-BE49-F238E27FC236}">
                <a16:creationId xmlns:a16="http://schemas.microsoft.com/office/drawing/2014/main" id="{2B9D9E90-1DED-4F6A-9E02-6C40CA99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24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050" b="1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Статусы сертификации и реестра не получены.</a:t>
            </a:r>
          </a:p>
        </p:txBody>
      </p:sp>
      <p:sp>
        <p:nvSpPr>
          <p:cNvPr id="59" name="text_11">
            <a:extLst xmlns:a="http://schemas.openxmlformats.org/drawingml/2006/main">
              <a:ext uri="{FF2B5EF4-FFF2-40B4-BE49-F238E27FC236}">
                <a16:creationId xmlns:a16="http://schemas.microsoft.com/office/drawing/2014/main" id="{A0FE87AC-930B-42D5-86B6-CBEE6F3E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defRPr>
            </a:pPr>
            <a:r>
              <a:rPr sz="1125" b="0">
                <a:solidFill>
                  <a:srgbClr val="CEDBE1"/>
                </a:solidFill>
                <a:latin typeface="TT Firs Neue DemiBold"/>
                <a:ea typeface="TT Firs Neue DemiBold"/>
                <a:cs typeface="TT Firs Neue DemiBol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790552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2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d5376322e4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" y="594360"/>
            <a:ext cx="1965960" cy="397098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5BD63E-1E66-4E49-A5AA-449AFAC9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0"/>
            <a:ext cx="768096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</a:pPr>
            <a:r>
              <a:rPr sz="46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Проверим ТАКТ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</a:pPr>
            <a:r>
              <a:rPr sz="4600" b="0" i="0">
                <a:solidFill>
                  <a:srgbClr val="EE9456"/>
                </a:solidFill>
                <a:latin typeface="TT Firs Neue DemiBold"/>
                <a:ea typeface="TT Firs Neue DemiBold"/>
                <a:cs typeface="TT Firs Neue DemiBold"/>
              </a:rPr>
              <a:t>на ваших данных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65395CB-805E-4D4A-857D-AF725B5B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31920"/>
            <a:ext cx="201168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45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1F491DB-31F4-4A7F-9654-C1002A4C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224528"/>
            <a:ext cx="6766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20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Александр Таймаскин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Основатель и руководитель проекта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E7C5F78-3670-4B51-A1DA-ED955318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138928"/>
            <a:ext cx="6766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00" b="0" i="0">
                <a:solidFill>
                  <a:srgbClr val="FFFFFF"/>
                </a:solidFill>
                <a:latin typeface="TT Firs Neue DemiBold"/>
                <a:ea typeface="TT Firs Neue DemiBold"/>
                <a:cs typeface="TT Firs Neue DemiBold"/>
              </a:rPr>
              <a:t>+7 901 361-79-97      info@ralta.ru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200" b="0" i="0">
                <a:solidFill>
                  <a:srgbClr val="A6B6BE"/>
                </a:solidFill>
                <a:latin typeface="Arial"/>
                <a:ea typeface="Arial"/>
                <a:cs typeface="Arial"/>
              </a:rPr>
              <a:t>ralta.ru  ·  АРМ аналитика: ralta.ru/takt_pt_arm/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74A105C-8F0E-4FD5-869E-5241C144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19963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 spc="30">
                <a:solidFill>
                  <a:srgbClr val="A6B6BE"/>
                </a:solidFill>
                <a:latin typeface="Arial"/>
                <a:ea typeface="Arial"/>
                <a:cs typeface="Arial"/>
              </a:rPr>
              <a:t>Команда «ТАКТ» · Техлаб Москва · Задача № 1 · Positive Technologies</a:t>
            </a:r>
          </a:p>
        </p:txBody>
      </p:sp>
    </p:spTree>
    <p:extLst>
      <p:ext uri="{BB962C8B-B14F-4D97-AF65-F5344CB8AC3E}">
        <p14:creationId xmlns:p14="http://schemas.microsoft.com/office/powerpoint/2010/main" val="895401081"/>
      </p:ext>
    </p:extLst>
  </p:cSld>
</p:sld>
</file>

<file path=ppt/theme/theme1.xml><?xml version="1.0" encoding="utf-8"?>
<a:theme xmlns:a="http://schemas.openxmlformats.org/drawingml/2006/main" name="Тема Office">
  <a:themeElements>
    <a:clrScheme name="Техлаб Москва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EE9456"/>
      </a:accent1>
      <a:accent2>
        <a:srgbClr val="F4BC65"/>
      </a:accent2>
      <a:accent3>
        <a:srgbClr val="89BEE0"/>
      </a:accent3>
      <a:accent4>
        <a:srgbClr val="0A1215"/>
      </a:accent4>
      <a:accent5>
        <a:srgbClr val="D9D9D9"/>
      </a:accent5>
      <a:accent6>
        <a:srgbClr val="70AD47"/>
      </a:accent6>
      <a:hlink>
        <a:srgbClr val="89BEE0"/>
      </a:hlink>
      <a:folHlink>
        <a:srgbClr val="F4BC65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хлаб Москв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2026-09-11T11:33:39.0500000Z</dcterms:created>
  <dcterms:modified xsi:type="dcterms:W3CDTF">2026-09-11T11:33:39.0500000Z</dcterms:modified>
</coreProperties>
</file>